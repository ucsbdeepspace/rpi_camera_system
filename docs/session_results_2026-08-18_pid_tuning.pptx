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7" r:id="rId24"/>
    <p:sldId id="274" r:id="rId21"/>
    <p:sldId id="273" r:id="rId20"/>
    <p:sldId id="278" r:id="rId25"/>
    <p:sldId id="275" r:id="rId22"/>
    <p:sldId id="276" r:id="rId23"/>
    <p:sldId id="279" r:id="rId26"/>
    <p:sldId id="280" r:id="rId27"/>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20.xml"/><Relationship Id="rId21" Type="http://schemas.openxmlformats.org/officeDocument/2006/relationships/slide" Target="slides/slide19.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18.xml"/><Relationship Id="rId25" Type="http://schemas.openxmlformats.org/officeDocument/2006/relationships/slide" Target="slides/slide21.xml"/><Relationship Id="rId26" Type="http://schemas.openxmlformats.org/officeDocument/2006/relationships/slide" Target="slides/slide24.xml"/><Relationship Id="rId27"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ringdown_x1.png"/><Relationship Id="rId3" Type="http://schemas.openxmlformats.org/officeDocument/2006/relationships/image" Target="../media/image_ringdown_x2.png"/><Relationship Id="rId4" Type="http://schemas.openxmlformats.org/officeDocument/2006/relationships/image" Target="../media/image_ringdown_y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
        <p:nvSpPr>
          <p:cNvPr id="104" name="TextBox 103"/>
          <p:cNvSpPr txBox="1"/>
          <p:nvPr/>
        </p:nvSpPr>
        <p:spPr>
          <a:xfrm>
            <a:off x="457200" y="4900000"/>
            <a:ext cx="11246760" cy="500000"/>
          </a:xfrm>
          <a:prstGeom prst="rect">
            <a:avLst/>
          </a:prstGeom>
          <a:noFill/>
        </p:spPr>
        <p:txBody>
          <a:bodyPr wrap="square">
            <a:spAutoFit/>
          </a:bodyPr>
          <a:lstStyle/>
          <a:p>
            <a:r>
              <a:rPr sz="1200" b="1">
                <a:solidFill>
                  <a:srgbClr val="8A1F1F"/>
                </a:solidFill>
                <a:latin typeface="Calibri"/>
              </a:rPr>
              <a:t>⚠ CORRECTION (2026-08-27): the notch used here was mis-clocked (~16.8Hz, not 38.5Hz) due to a firmware sample-rate bug — see the following slide. Step-response Ki ceiling has been rechecked with the real notch; the 5-20Hz sine-tracking comparison above has not yet been rerun.</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300" b="1">
                <a:solidFill>
                  <a:srgbClr val="1A1A2E"/>
                </a:solidFill>
                <a:latin typeface="Calibri"/>
              </a:rPr>
              <a:t>Found a real notch bug: it was mis-clocked at ~16.8Hz, not 38.5Hz — fixed, and the real notch is WORSE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300">
                <a:solidFill>
                  <a:srgbClr val="333333"/>
                </a:solidFill>
                <a:latin typeface="Calibri"/>
              </a:rPr>
              <a:t>• </a:t>
            </a:r>
            <a:r>
              <a:rPr sz="1300">
                <a:solidFill>
                  <a:srgbClr val="333333"/>
                </a:solidFill>
                <a:latin typeface="Calibri"/>
              </a:rPr>
              <a:t>cmd_set_notch hardcoded the filter's assumed sample rate to 457.5Hz — at our throttled 200Hz operating point, a notch requested at 38.5Hz actually landed at ~16.8Hz, carving a hole in the 10-20Hz band instead of suppressing the resonance.</a:t>
            </a:r>
          </a:p>
          <a:p>
            <a:pPr>
              <a:spcAft>
                <a:spcPts val="900"/>
              </a:spcAft>
            </a:pPr>
            <a:r>
              <a:rPr sz="1300">
                <a:solidFill>
                  <a:srgbClr val="333333"/>
                </a:solidFill>
                <a:latin typeface="Calibri"/>
              </a:rPr>
              <a:t>• </a:t>
            </a:r>
            <a:r>
              <a:rPr sz="1300">
                <a:solidFill>
                  <a:srgbClr val="333333"/>
                </a:solidFill>
                <a:latin typeface="Calibri"/>
              </a:rPr>
              <a:t>Fixed to use the real current control rate (same pattern the lead compensator's set_lead already used correctly). Built clean, flashed, hardware-verified.</a:t>
            </a:r>
          </a:p>
          <a:p>
            <a:pPr>
              <a:spcAft>
                <a:spcPts val="900"/>
              </a:spcAft>
            </a:pPr>
            <a:r>
              <a:rPr sz="1300">
                <a:solidFill>
                  <a:srgbClr val="333333"/>
                </a:solidFill>
                <a:latin typeface="Calibri"/>
              </a:rPr>
              <a:t>• </a:t>
            </a:r>
            <a:r>
              <a:rPr sz="1300">
                <a:solidFill>
                  <a:srgbClr val="333333"/>
                </a:solidFill>
                <a:latin typeface="Calibri"/>
              </a:rPr>
              <a:t>Reran the Ki sweep with the REAL 38.5Hz notch: clean through Ki~350, rings by 400 — a LOWER ceiling than no notch at all (~500-550) and even lower than the buggy 16.8Hz version (~400). Not yet root-caused why.</a:t>
            </a:r>
          </a:p>
          <a:p>
            <a:pPr>
              <a:spcAft>
                <a:spcPts val="900"/>
              </a:spcAft>
            </a:pPr>
            <a:r>
              <a:rPr sz="1300">
                <a:solidFill>
                  <a:srgbClr val="333333"/>
                </a:solidFill>
                <a:latin typeface="Calibri"/>
              </a:rPr>
              <a:t>• </a:t>
            </a:r>
            <a:r>
              <a:rPr sz="1300">
                <a:solidFill>
                  <a:srgbClr val="333333"/>
                </a:solidFill>
                <a:latin typeface="Calibri"/>
              </a:rPr>
              <a:t>Does NOT explain the lead-compensator divergence: every lead+notch test ran at Ki=200, which is clean under both the buggy AND the real notch — that investigation is still open.</a:t>
            </a:r>
          </a:p>
          <a:p>
            <a:pPr>
              <a:spcAft>
                <a:spcPts val="900"/>
              </a:spcAft>
            </a:pPr>
            <a:r>
              <a:rPr sz="1300">
                <a:solidFill>
                  <a:srgbClr val="333333"/>
                </a:solidFill>
                <a:latin typeface="Calibri"/>
              </a:rPr>
              <a:t>• </a:t>
            </a:r>
            <a:r>
              <a:rPr sz="1300">
                <a:solidFill>
                  <a:srgbClr val="333333"/>
                </a:solidFill>
                <a:latin typeface="Calibri"/>
              </a:rPr>
              <a:t>Every notch number on record before this fix (including the previous slide's 5-20Hz sine comparison) should be treated as unverified until rerun.</a:t>
            </a:r>
          </a:p>
        </p:txBody>
      </p:sp>
      <p:pic>
        <p:nvPicPr>
          <p:cNvPr id="5" name="Picture 4" descr="fta_notch_ki_ceiling_comparison.png"/>
          <p:cNvPicPr>
            <a:picLocks noChangeAspect="1"/>
          </p:cNvPicPr>
          <p:nvPr/>
        </p:nvPicPr>
        <p:blipFill>
          <a:blip r:embed="rId2"/>
          <a:stretch>
            <a:fillRect/>
          </a:stretch>
        </p:blipFill>
        <p:spPr>
          <a:xfrm>
            <a:off x="6378030" y="1143000"/>
            <a:ext cx="5348700" cy="356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New ring-down measurements, both axes — the resonance behind the updated FEA comparison</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500000"/>
          </a:xfrm>
          <a:prstGeom prst="rect">
            <a:avLst/>
          </a:prstGeom>
          <a:noFill/>
        </p:spPr>
        <p:txBody>
          <a:bodyPr wrap="square">
            <a:spAutoFit/>
          </a:bodyPr>
          <a:lstStyle/>
          <a:p>
            <a:r>
              <a:rPr sz="1250">
                <a:solidFill>
                  <a:srgbClr val="333333"/>
                </a:solidFill>
                <a:latin typeface="Calibri"/>
              </a:rPr>
              <a:t>Model-free peak-spacing estimate (dashed curve_fit overlay is unreliable — see annotation on each plot); tick-timestamped, same method as the original 38.5Hz measurement.</a:t>
            </a:r>
          </a:p>
        </p:txBody>
      </p:sp>
      <p:pic>
        <p:nvPicPr>
          <p:cNvPr id="5" name="Picture 4" descr="fta_ringdown_xaxis_20260828T003210Z.png"/>
          <p:cNvPicPr>
            <a:picLocks noChangeAspect="1"/>
          </p:cNvPicPr>
          <p:nvPr/>
        </p:nvPicPr>
        <p:blipFill>
          <a:blip r:embed="rId2"/>
          <a:stretch>
            <a:fillRect/>
          </a:stretch>
        </p:blipFill>
        <p:spPr>
          <a:xfrm>
            <a:off x="457200" y="1650000"/>
            <a:ext cx="3595587" cy="1618000"/>
          </a:xfrm>
          <a:prstGeom prst="rect">
            <a:avLst/>
          </a:prstGeom>
        </p:spPr>
      </p:pic>
      <p:pic>
        <p:nvPicPr>
          <p:cNvPr id="6" name="Picture 5" descr="fta_ringdown_xaxis_20260828T003754Z.png"/>
          <p:cNvPicPr>
            <a:picLocks noChangeAspect="1"/>
          </p:cNvPicPr>
          <p:nvPr/>
        </p:nvPicPr>
        <p:blipFill>
          <a:blip r:embed="rId3"/>
          <a:stretch>
            <a:fillRect/>
          </a:stretch>
        </p:blipFill>
        <p:spPr>
          <a:xfrm>
            <a:off x="4282787" y="1650000"/>
            <a:ext cx="3595587" cy="1618000"/>
          </a:xfrm>
          <a:prstGeom prst="rect">
            <a:avLst/>
          </a:prstGeom>
        </p:spPr>
      </p:pic>
      <p:pic>
        <p:nvPicPr>
          <p:cNvPr id="7" name="Picture 6" descr="fta_ringdown_yaxis_20260828T003403Z_fixed.png"/>
          <p:cNvPicPr>
            <a:picLocks noChangeAspect="1"/>
          </p:cNvPicPr>
          <p:nvPr/>
        </p:nvPicPr>
        <p:blipFill>
          <a:blip r:embed="rId4"/>
          <a:stretch>
            <a:fillRect/>
          </a:stretch>
        </p:blipFill>
        <p:spPr>
          <a:xfrm>
            <a:off x="8108374" y="1650000"/>
            <a:ext cx="3595587" cy="1618000"/>
          </a:xfrm>
          <a:prstGeom prst="rect">
            <a:avLst/>
          </a:prstGeom>
        </p:spPr>
      </p:pic>
      <p:sp>
        <p:nvSpPr>
          <p:cNvPr id="8" name="Caption 1"/>
          <p:cNvSpPr txBox="1"/>
          <p:nvPr/>
        </p:nvSpPr>
        <p:spPr>
          <a:xfrm>
            <a:off x="457200" y="3330000"/>
            <a:ext cx="3595587" cy="700000"/>
          </a:xfrm>
          <a:prstGeom prst="rect">
            <a:avLst/>
          </a:prstGeom>
          <a:noFill/>
        </p:spPr>
        <p:txBody>
          <a:bodyPr wrap="square">
            <a:spAutoFit/>
          </a:bodyPr>
          <a:lstStyle/>
          <a:p>
            <a:r>
              <a:rPr sz="1150" b="1">
                <a:solidFill>
                  <a:srgbClr val="333333"/>
                </a:solidFill>
                <a:latin typeface="Calibri"/>
              </a:rPr>
              <a:t>X-axis, trial 1: 47.3Hz</a:t>
            </a:r>
          </a:p>
          <a:p>
            <a:r>
              <a:rPr sz="1050">
                <a:solidFill>
                  <a:srgbClr val="666666"/>
                </a:solidFill>
                <a:latin typeface="Calibri"/>
              </a:rPr>
              <a:t>dac_y→cx, primary axis</a:t>
            </a:r>
          </a:p>
        </p:txBody>
      </p:sp>
      <p:sp>
        <p:nvSpPr>
          <p:cNvPr id="9" name="Caption 2"/>
          <p:cNvSpPr txBox="1"/>
          <p:nvPr/>
        </p:nvSpPr>
        <p:spPr>
          <a:xfrm>
            <a:off x="4282787" y="3330000"/>
            <a:ext cx="3595587" cy="700000"/>
          </a:xfrm>
          <a:prstGeom prst="rect">
            <a:avLst/>
          </a:prstGeom>
          <a:noFill/>
        </p:spPr>
        <p:txBody>
          <a:bodyPr wrap="square">
            <a:spAutoFit/>
          </a:bodyPr>
          <a:lstStyle/>
          <a:p>
            <a:r>
              <a:rPr sz="1150" b="1">
                <a:solidFill>
                  <a:srgbClr val="333333"/>
                </a:solidFill>
                <a:latin typeface="Calibri"/>
              </a:rPr>
              <a:t>X-axis, trial 2 (immediate repeat): 47.0Hz</a:t>
            </a:r>
          </a:p>
          <a:p>
            <a:r>
              <a:rPr sz="1050">
                <a:solidFill>
                  <a:srgbClr val="666666"/>
                </a:solidFill>
                <a:latin typeface="Calibri"/>
              </a:rPr>
              <a:t>dac_y→cx — tight agreement with trial 1</a:t>
            </a:r>
          </a:p>
        </p:txBody>
      </p:sp>
      <p:sp>
        <p:nvSpPr>
          <p:cNvPr id="10" name="Caption 3"/>
          <p:cNvSpPr txBox="1"/>
          <p:nvPr/>
        </p:nvSpPr>
        <p:spPr>
          <a:xfrm>
            <a:off x="8108374" y="3330000"/>
            <a:ext cx="3595587" cy="700000"/>
          </a:xfrm>
          <a:prstGeom prst="rect">
            <a:avLst/>
          </a:prstGeom>
          <a:noFill/>
        </p:spPr>
        <p:txBody>
          <a:bodyPr wrap="square">
            <a:spAutoFit/>
          </a:bodyPr>
          <a:lstStyle/>
          <a:p>
            <a:r>
              <a:rPr sz="1150" b="1">
                <a:solidFill>
                  <a:srgbClr val="333333"/>
                </a:solidFill>
                <a:latin typeface="Calibri"/>
              </a:rPr>
              <a:t>Y-axis, first-ever trial: 50.1Hz</a:t>
            </a:r>
          </a:p>
          <a:p>
            <a:r>
              <a:rPr sz="1050">
                <a:solidFill>
                  <a:srgbClr val="666666"/>
                </a:solidFill>
                <a:latin typeface="Calibri"/>
              </a:rPr>
              <a:t>dac_x→cy — only one trial so far</a:t>
            </a:r>
          </a:p>
        </p:txBody>
      </p:sp>
      <p:sp>
        <p:nvSpPr>
          <p:cNvPr id="11" name="Note"/>
          <p:cNvSpPr txBox="1"/>
          <p:nvPr/>
        </p:nvSpPr>
        <p:spPr>
          <a:xfrm>
            <a:off x="457200" y="4200000"/>
            <a:ext cx="11246760" cy="700000"/>
          </a:xfrm>
          <a:prstGeom prst="rect">
            <a:avLst/>
          </a:prstGeom>
          <a:noFill/>
        </p:spPr>
        <p:txBody>
          <a:bodyPr wrap="square">
            <a:spAutoFit/>
          </a:bodyPr>
          <a:lstStyle/>
          <a:p>
            <a:r>
              <a:rPr sz="1150" i="1">
                <a:solidFill>
                  <a:srgbClr val="555555"/>
                </a:solidFill>
                <a:latin typeface="Calibri"/>
              </a:rPr>
              <a:t>Both axes land close to each other and notably not close to the previously-documented 38.5Hz. Same trustworthy tick-timestamped peak-spacing method as the original measurement, so this reads as a real, reproducible shift in the physical resonance since then — see next slide for the updated FEA comparison.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re-measured: 38.5Hz → ~47-50Hz — now close to FEA, not 20% below it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600"/>
              </a:spcAft>
            </a:pPr>
            <a:r>
              <a:rPr sz="1150" b="1">
                <a:solidFill>
                  <a:srgbClr val="333333"/>
                </a:solidFill>
                <a:latin typeface="Calibri"/>
              </a:rPr>
              <a:t>Superseded number, stated plainly: </a:t>
            </a:r>
            <a:r>
              <a:rPr sz="1150">
                <a:solidFill>
                  <a:srgbClr val="333333"/>
                </a:solidFill>
                <a:latin typeface="Calibri"/>
              </a:rPr>
              <a:t>38.5Hz (previous bode/ring-down) is superseded — after fixing ring-down timing bugs and testing both axes, the same peak-spacing method now reads 47.0-47.3Hz (x-axis, 2 trials) and 50.1Hz (y-axis, 1 trial). A real physical shift per CLAUDE.md, not a methodology fix; cause not yet identified.</a:t>
            </a:r>
          </a:p>
          <a:p>
            <a:pPr>
              <a:spcAft>
                <a:spcPts val="600"/>
              </a:spcAft>
            </a:pPr>
            <a:r>
              <a:rPr sz="1150">
                <a:solidFill>
                  <a:srgbClr val="333333"/>
                </a:solidFill>
                <a:latin typeface="Calibri"/>
              </a:rPr>
              <a:t>• </a:t>
            </a:r>
            <a:r>
              <a:rPr sz="1150">
                <a:solidFill>
                  <a:srgbClr val="333333"/>
                </a:solidFill>
                <a:latin typeface="Calibri"/>
              </a:rPr>
              <a:t>0.5mm FEA has two close bending modes (48.19Hz, 52.92Hz) — pairing x-axis↔mode 1, y-axis↔mode 2 gives measured/FEA = 0.978 and 0.947: within ~2-5% of FEA, not the ~20% gap previously reported.</a:t>
            </a:r>
          </a:p>
          <a:p>
            <a:pPr>
              <a:spcAft>
                <a:spcPts val="600"/>
              </a:spcAft>
            </a:pPr>
            <a:r>
              <a:rPr sz="1150">
                <a:solidFill>
                  <a:srgbClr val="333333"/>
                </a:solidFill>
                <a:latin typeface="Calibri"/>
              </a:rPr>
              <a:t>• </a:t>
            </a:r>
            <a:r>
              <a:rPr sz="1150">
                <a:solidFill>
                  <a:srgbClr val="333333"/>
                </a:solidFill>
                <a:latin typeface="Calibri"/>
              </a:rPr>
              <a:t>Applying that ~0.95-0.98 ratio (not the old 0.80) to the 0.75mm-arm FEA (81.35Hz, 90.55Hz, below) gives a revised estimate of ~79-86Hz — close to raw FEA, not the ~65/72Hz previously stated.</a:t>
            </a:r>
          </a:p>
          <a:p>
            <a:pPr>
              <a:spcAft>
                <a:spcPts val="600"/>
              </a:spcAft>
            </a:pPr>
            <a:r>
              <a:rPr sz="1150">
                <a:solidFill>
                  <a:srgbClr val="333333"/>
                </a:solidFill>
                <a:latin typeface="Calibri"/>
              </a:rPr>
              <a:t>• </a:t>
            </a:r>
            <a:r>
              <a:rPr sz="1150">
                <a:solidFill>
                  <a:srgbClr val="333333"/>
                </a:solidFill>
                <a:latin typeface="Calibri"/>
              </a:rPr>
              <a:t>Against the 20Hz PID target that's ~4x margin, not the more pessimistic 3.25x previously concluded here — close to what raw FEA always suggested.</a:t>
            </a:r>
          </a:p>
          <a:p>
            <a:pPr>
              <a:spcAft>
                <a:spcPts val="600"/>
              </a:spcAft>
            </a:pPr>
            <a:r>
              <a:rPr sz="1150">
                <a:solidFill>
                  <a:srgbClr val="333333"/>
                </a:solidFill>
                <a:latin typeface="Calibri"/>
              </a:rPr>
              <a:t>• </a:t>
            </a:r>
            <a:r>
              <a:rPr sz="1150" b="1">
                <a:solidFill>
                  <a:srgbClr val="333333"/>
                </a:solidFill>
                <a:latin typeface="Calibri"/>
              </a:rPr>
              <a:t>Open questions: </a:t>
            </a:r>
            <a:r>
              <a:rPr sz="1150">
                <a:solidFill>
                  <a:srgbClr val="333333"/>
                </a:solidFill>
                <a:latin typeface="Calibri"/>
              </a:rPr>
              <a:t>physical cause of the shift unidentified; y-axis has only 1 trial vs. x's 2. Action unchanged: rerun bode + ring-down on the actual 0.75mm part once installed.</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47.0-47.3Hz (x-axis) / 50.1Hz (y-axis), re-measured after fixing ring-down timing bugs (originally 38.5Hz) — see previous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I2C link + PID completion: essentially lossless end to end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80000"/>
            <a:ext cx="5450000" cy="440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Link completeness (Pi send → Nucleo I2C reception): the Pi's own capture-enumerated seq counter (increments once per camera frame, before detection/send outcome is known) unwrapped and compared against the Nucleo's ISR-level pkts+errs counters — real ground truth on both ends, immune to the separately-known ~4-8% VCP relay line loss (that only affects host-side observability, not the real link).</a:t>
            </a:r>
          </a:p>
          <a:p>
            <a:pPr>
              <a:spcAft>
                <a:spcPts val="900"/>
              </a:spcAft>
            </a:pPr>
            <a:r>
              <a:rPr sz="1250">
                <a:solidFill>
                  <a:srgbClr val="333333"/>
                </a:solidFill>
                <a:latin typeface="Calibri"/>
              </a:rPr>
              <a:t>• </a:t>
            </a:r>
            <a:r>
              <a:rPr sz="1250">
                <a:solidFill>
                  <a:srgbClr val="333333"/>
                </a:solidFill>
                <a:latin typeface="Calibri"/>
              </a:rPr>
              <a:t>Confident packet → completed PID loop: measured via two new firmware counters (confident_pkts=, cseq=). 99.97% (6423/6425) across 3 trials — the single-slot g_latest_beam "mailbox" can in principle drop a packet if two I2C receptions land in the same critical section; measured rate is ~1 in 3200, not a meaningful limiter.</a:t>
            </a:r>
          </a:p>
          <a:p>
            <a:pPr>
              <a:spcAft>
                <a:spcPts val="900"/>
              </a:spcAft>
            </a:pPr>
            <a:r>
              <a:rPr sz="1250">
                <a:solidFill>
                  <a:srgbClr val="333333"/>
                </a:solidFill>
                <a:latin typeface="Calibri"/>
              </a:rPr>
              <a:t>• </a:t>
            </a:r>
            <a:r>
              <a:rPr sz="1250">
                <a:solidFill>
                  <a:srgbClr val="333333"/>
                </a:solidFill>
                <a:latin typeface="Calibri"/>
              </a:rPr>
              <a:t>Not measured: whether the camera driver itself (Picamera2/libcamera) drops frames before Python's capture_array() call returns them — a different, deeper layer than anything checked here.</a:t>
            </a:r>
          </a:p>
        </p:txBody>
      </p:sp>
      <p:graphicFrame>
        <p:nvGraphicFramePr>
          <p:cNvPr id="5" name="Table 4"/>
          <p:cNvGraphicFramePr>
            <a:graphicFrameLocks noGrp="1"/>
          </p:cNvGraphicFramePr>
          <p:nvPr/>
        </p:nvGraphicFramePr>
        <p:xfrm>
          <a:off x="6350000" y="1550000"/>
          <a:ext cx="5250000" cy="2200000"/>
        </p:xfrm>
        <a:graphic>
          <a:graphicData uri="http://schemas.openxmlformats.org/drawingml/2006/table">
            <a:tbl>
              <a:tblPr firstRow="1" bandRow="1">
                <a:tableStyleId>{5C22544A-7EE6-4342-B048-85BDC9FD1C3A}</a:tableStyleId>
              </a:tblPr>
              <a:tblGrid>
                <a:gridCol w="1100000"/>
                <a:gridCol w="1500000"/>
                <a:gridCol w="1900000"/>
                <a:gridCol w="750000"/>
              </a:tblGrid>
              <a:tr h="440000">
                <a:tc>
                  <a:txBody>
                    <a:bodyPr/>
                    <a:lstStyle/>
                    <a:p>
                      <a:pPr algn="ctr"/>
                      <a:r>
                        <a:rPr sz="1250" b="1">
                          <a:solidFill>
                            <a:srgbClr val="FFFFFF"/>
                          </a:solidFill>
                          <a:latin typeface="Calibri"/>
                        </a:rPr>
                        <a:t>Trial</a:t>
                      </a:r>
                    </a:p>
                  </a:txBody>
                  <a:tcPr anchor="ctr">
                    <a:solidFill>
                      <a:srgbClr val="2E5C8A"/>
                    </a:solidFill>
                  </a:tcPr>
                </a:tc>
                <a:tc>
                  <a:txBody>
                    <a:bodyPr/>
                    <a:lstStyle/>
                    <a:p>
                      <a:pPr algn="ctr"/>
                      <a:r>
                        <a:rPr sz="1250" b="1">
                          <a:solidFill>
                            <a:srgbClr val="FFFFFF"/>
                          </a:solidFill>
                          <a:latin typeface="Calibri"/>
                        </a:rPr>
                        <a:t>Pi sends (seq)</a:t>
                      </a:r>
                    </a:p>
                  </a:txBody>
                  <a:tcPr anchor="ctr">
                    <a:solidFill>
                      <a:srgbClr val="2E5C8A"/>
                    </a:solidFill>
                  </a:tcPr>
                </a:tc>
                <a:tc>
                  <a:txBody>
                    <a:bodyPr/>
                    <a:lstStyle/>
                    <a:p>
                      <a:pPr algn="ctr"/>
                      <a:r>
                        <a:rPr sz="1250" b="1">
                          <a:solidFill>
                            <a:srgbClr val="FFFFFF"/>
                          </a:solidFill>
                          <a:latin typeface="Calibri"/>
                        </a:rPr>
                        <a:t>Nucleo registered</a:t>
                      </a:r>
                    </a:p>
                  </a:txBody>
                  <a:tcPr anchor="ctr">
                    <a:solidFill>
                      <a:srgbClr val="2E5C8A"/>
                    </a:solidFill>
                  </a:tcPr>
                </a:tc>
                <a:tc>
                  <a:txBody>
                    <a:bodyPr/>
                    <a:lstStyle/>
                    <a:p>
                      <a:pPr algn="ctr"/>
                      <a:r>
                        <a:rPr sz="1250" b="1">
                          <a:solidFill>
                            <a:srgbClr val="FFFFFF"/>
                          </a:solidFill>
                          <a:latin typeface="Calibri"/>
                        </a:rPr>
                        <a:t>Lost</a:t>
                      </a:r>
                    </a:p>
                  </a:txBody>
                  <a:tcPr anchor="ctr">
                    <a:solidFill>
                      <a:srgbClr val="2E5C8A"/>
                    </a:solidFill>
                  </a:tcPr>
                </a:tc>
              </a:tr>
              <a:tr h="440000">
                <a:tc>
                  <a:txBody>
                    <a:bodyPr/>
                    <a:lstStyle/>
                    <a:p>
                      <a:pPr algn="ctr"/>
                      <a:r>
                        <a:rPr sz="1250">
                          <a:solidFill>
                            <a:srgbClr val="333333"/>
                          </a:solidFill>
                          <a:latin typeface="Calibri"/>
                        </a:rPr>
                        <a:t>1</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r h="440000">
                <a:tc>
                  <a:txBody>
                    <a:bodyPr/>
                    <a:lstStyle/>
                    <a:p>
                      <a:pPr algn="ctr"/>
                      <a:r>
                        <a:rPr sz="1250">
                          <a:solidFill>
                            <a:srgbClr val="333333"/>
                          </a:solidFill>
                          <a:latin typeface="Calibri"/>
                        </a:rPr>
                        <a:t>3</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Total</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bl>
          </a:graphicData>
        </a:graphic>
      </p:graphicFrame>
      <p:sp>
        <p:nvSpPr>
          <p:cNvPr id="6" name="TextBox 5"/>
          <p:cNvSpPr txBox="1"/>
          <p:nvPr/>
        </p:nvSpPr>
        <p:spPr>
          <a:xfrm>
            <a:off x="6350000" y="3850000"/>
            <a:ext cx="5250000" cy="600000"/>
          </a:xfrm>
          <a:prstGeom prst="rect">
            <a:avLst/>
          </a:prstGeom>
          <a:noFill/>
        </p:spPr>
        <p:txBody>
          <a:bodyPr wrap="square">
            <a:spAutoFit/>
          </a:bodyPr>
          <a:lstStyle/>
          <a:p>
            <a:r>
              <a:rPr sz="1050" i="1">
                <a:solidFill>
                  <a:srgbClr val="898781"/>
                </a:solidFill>
                <a:latin typeface="Calibri"/>
              </a:rPr>
              <a:t>0 lost across all 3 trials, ~10,873 real sends -- 8s windows, open_loop/amp off, link-only check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Real control-step timing jitter (current config)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75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Measured via the g_ctrl_step_seq counter (cseq=) -- real per-firing intervals from consecutive firmware tick= deltas, NOT the earlier dac_y-value-change proxy (which silently undercounts near settled periods and produced unusable jitter numbers, see prior entry).</a:t>
            </a:r>
          </a:p>
          <a:p>
            <a:pPr>
              <a:spcAft>
                <a:spcPts val="900"/>
              </a:spcAft>
            </a:pPr>
            <a:r>
              <a:rPr sz="1250">
                <a:solidFill>
                  <a:srgbClr val="333333"/>
                </a:solidFill>
                <a:latin typeface="Calibri"/>
              </a:rPr>
              <a:t>• </a:t>
            </a:r>
            <a:r>
              <a:rPr sz="1250">
                <a:solidFill>
                  <a:srgbClr val="333333"/>
                </a:solidFill>
                <a:latin typeface="Calibri"/>
              </a:rPr>
              <a:t>Kp=1.75/Ki=15, axis2 on, unthrottled, 3 trials pooled: dominant cluster n=6250, mean=2.17ms, std=0.86ms, CV=39.6% — a real, honest consistency number, not the 88-127% chaos the old method gave.</a:t>
            </a:r>
          </a:p>
          <a:p>
            <a:pPr>
              <a:spcAft>
                <a:spcPts val="900"/>
              </a:spcAft>
            </a:pPr>
            <a:r>
              <a:rPr sz="1250">
                <a:solidFill>
                  <a:srgbClr val="333333"/>
                </a:solidFill>
                <a:latin typeface="Calibri"/>
              </a:rPr>
              <a:t>• </a:t>
            </a:r>
            <a:r>
              <a:rPr sz="1250">
                <a:solidFill>
                  <a:srgbClr val="333333"/>
                </a:solidFill>
                <a:latin typeface="Calibri"/>
              </a:rPr>
              <a:t>One 174ms outlier (1 of 6251, 0.016%) excluded from the CV above and shown separately — cseq only increments on a confident detection, so this most likely reflects a brief real detection dropout, not a comms/firmware stall.</a:t>
            </a:r>
          </a:p>
        </p:txBody>
      </p:sp>
      <p:pic>
        <p:nvPicPr>
          <p:cNvPr id="5" name="Picture 4" descr="fta_baseline_jitter_histogram.png"/>
          <p:cNvPicPr>
            <a:picLocks noChangeAspect="1"/>
          </p:cNvPicPr>
          <p:nvPr/>
        </p:nvPicPr>
        <p:blipFill>
          <a:blip r:embed="rId2"/>
          <a:stretch>
            <a:fillRect/>
          </a:stretch>
        </p:blipFill>
        <p:spPr>
          <a:xfrm>
            <a:off x="3081000" y="3050000"/>
            <a:ext cx="6030000" cy="335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