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7" r:id="rId24"/>
    <p:sldId id="274" r:id="rId21"/>
    <p:sldId id="273" r:id="rId20"/>
    <p:sldId id="278" r:id="rId25"/>
    <p:sldId id="275" r:id="rId22"/>
    <p:sldId id="276" r:id="rId23"/>
    <p:sldId id="279" r:id="rId26"/>
    <p:sldId id="280" r:id="rId27"/>
    <p:sldId id="281" r:id="rId28"/>
    <p:sldId id="282" r:id="rId29"/>
    <p:sldId id="283" r:id="rId30"/>
  </p:sldIdLst>
  <p:sldSz cx="12192000"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20.xml"/><Relationship Id="rId21" Type="http://schemas.openxmlformats.org/officeDocument/2006/relationships/slide" Target="slides/slide19.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18.xml"/><Relationship Id="rId25" Type="http://schemas.openxmlformats.org/officeDocument/2006/relationships/slide" Target="slides/slide21.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ringdown_x1.png"/><Relationship Id="rId3" Type="http://schemas.openxmlformats.org/officeDocument/2006/relationships/image" Target="../media/image_ringdown_x2.png"/><Relationship Id="rId4" Type="http://schemas.openxmlformats.org/officeDocument/2006/relationships/image" Target="../media/image_ringdown_y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31520" y="2377440"/>
            <a:ext cx="10697760" cy="69948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4000" spc="-1" strike="noStrike">
                <a:solidFill>
                  <a:srgbClr val="1a1a2e"/>
                </a:solidFill>
                <a:latin typeface="Calibri"/>
                <a:ea typeface="DejaVu Sans"/>
              </a:rPr>
              <a:t>FTA Closed-Loop PID Tuning</a:t>
            </a:r>
            <a:endParaRPr b="0" lang="en-US" sz="4000" spc="-1" strike="noStrike">
              <a:latin typeface="Arial"/>
            </a:endParaRPr>
          </a:p>
        </p:txBody>
      </p:sp>
      <p:sp>
        <p:nvSpPr>
          <p:cNvPr id="39" name="CustomShape 2"/>
          <p:cNvSpPr/>
          <p:nvPr/>
        </p:nvSpPr>
        <p:spPr>
          <a:xfrm>
            <a:off x="731520" y="3749040"/>
            <a:ext cx="10697760" cy="638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800" spc="-1" strike="noStrike">
                <a:solidFill>
                  <a:srgbClr val="333333"/>
                </a:solidFill>
                <a:latin typeface="Calibri"/>
                <a:ea typeface="DejaVu Sans"/>
              </a:rPr>
              <a:t>Session summary — gain search at the old control rate, a Pi-side throughput change that broke it, resonance remeasurement, and the notch-filter attempt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we started: best clean P+I result (~210-235Hz control rate)</a:t>
            </a:r>
            <a:endParaRPr b="0" lang="en-US" sz="2600" spc="-1" strike="noStrike">
              <a:latin typeface="Arial"/>
            </a:endParaRPr>
          </a:p>
        </p:txBody>
      </p:sp>
      <p:sp>
        <p:nvSpPr>
          <p:cNvPr id="4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2"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counts/px held fixed all session; Ki was the effective speed lever, not Kp.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Ki=200: 141ms rise, 1.1% overshoot, 141ms settling — a single clean transition, the best confirmed result.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Ki=400 went faster (63ms) but with real 15% overshoot — a genuine speed/overshoot tradeoff, not free.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Raising Kp alone never helped: same or worse settling, more overshoot, at every Ki tried.</a:t>
            </a:r>
            <a:endParaRPr b="0" lang="en-US" sz="1400" spc="-1" strike="noStrike">
              <a:latin typeface="Arial"/>
            </a:endParaRPr>
          </a:p>
        </p:txBody>
      </p:sp>
      <p:pic>
        <p:nvPicPr>
          <p:cNvPr id="43" name="Picture 4" descr=""/>
          <p:cNvPicPr/>
          <p:nvPr/>
        </p:nvPicPr>
        <p:blipFill>
          <a:blip r:embed="rId1"/>
          <a:stretch/>
        </p:blipFill>
        <p:spPr>
          <a:xfrm>
            <a:off x="6126480" y="1143000"/>
            <a:ext cx="5485680" cy="299808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real Kp instability boundary was found (~6-6.5 counts/px)</a:t>
            </a:r>
            <a:endParaRPr b="0" lang="en-US" sz="2600" spc="-1" strike="noStrike">
              <a:latin typeface="Arial"/>
            </a:endParaRPr>
          </a:p>
        </p:txBody>
      </p:sp>
      <p:sp>
        <p:nvSpPr>
          <p:cNvPr id="4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6"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Kp=5.5 stable, Kp=6.0 marginal (decaying ringing), Kp=6.5+ genuinely unstable — growing oscillation, never settles.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Far below the naive “matched-to-plant-gain” estimate (~11 counts/px) — phase lag erodes margin, static gain alone isn't a safe guide.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Pushing toward the boundary didn't buy speed either — the marginal Kp=6.0 case settled slower than the safely-stable Kp=5.5.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All excursions stayed physically bounded by the firmware's DAC clamp regardless of how bad the tuning was.</a:t>
            </a:r>
            <a:endParaRPr b="0" lang="en-US" sz="1400" spc="-1" strike="noStrike">
              <a:latin typeface="Arial"/>
            </a:endParaRPr>
          </a:p>
        </p:txBody>
      </p:sp>
      <p:pic>
        <p:nvPicPr>
          <p:cNvPr id="47" name="Picture 4" descr=""/>
          <p:cNvPicPr/>
          <p:nvPr/>
        </p:nvPicPr>
        <p:blipFill>
          <a:blip r:embed="rId1"/>
          <a:stretch/>
        </p:blipFill>
        <p:spPr>
          <a:xfrm>
            <a:off x="5943600" y="1143000"/>
            <a:ext cx="5485680" cy="305892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Pi-side ROI change raised telemetry ~210Hz → ~465Hz — the old gains broke</a:t>
            </a:r>
            <a:endParaRPr b="0" lang="en-US" sz="2600" spc="-1" strike="noStrike">
              <a:latin typeface="Arial"/>
            </a:endParaRPr>
          </a:p>
        </p:txBody>
      </p:sp>
      <p:sp>
        <p:nvSpPr>
          <p:cNvPr id="4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0" name="CustomShape 3"/>
          <p:cNvSpPr/>
          <p:nvPr/>
        </p:nvSpPr>
        <p:spPr>
          <a:xfrm>
            <a:off x="457200" y="1143000"/>
            <a:ext cx="5577120" cy="23126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throughput win on the Pi side (ROI + other changes) — telemetry now streams at ~440-475Hz, up from ~210-235Hz.</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Updated the PID's fixed sample-time constant to match (1/210s → 1/457.5s) and rebuilt.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 Ki=200 — the best result from the previous slide — is now genuinely UNSTABLE: growing oscillation, not settling.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jumped wildly in X when stepping Y — checked directly: the OTHER axis (cy) stays flat through the step, so this is the controlled axis itself misbehaving, not cross-axis coupling.</a:t>
            </a:r>
            <a:endParaRPr b="0" lang="en-US" sz="1400" spc="-1" strike="noStrike">
              <a:latin typeface="Arial"/>
            </a:endParaRPr>
          </a:p>
        </p:txBody>
      </p:sp>
      <p:pic>
        <p:nvPicPr>
          <p:cNvPr id="5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Ruled out sample rate itself as the cause</a:t>
            </a:r>
            <a:endParaRPr b="0" lang="en-US" sz="2600" spc="-1" strike="noStrike">
              <a:latin typeface="Arial"/>
            </a:endParaRPr>
          </a:p>
        </p:txBody>
      </p:sp>
      <p:sp>
        <p:nvSpPr>
          <p:cNvPr id="5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Hypothesis: more updates/second gives the integral term more chances to accumulate before the plant's ~41ms delay reflects earlier corrections back.</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Direct test: throttled the control loop back to ~200Hz while telemetry stayed at ~465Hz (decoupling the two).</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Same Kp=1.75/Ki=200 — still badly unstable (1180% overshoot) even at the OLD control rate.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This falsifies “rate caused it” cleanly — something else changed. Static DC gain was also checked and ruled out (0.094-0.095 vs ~0.09 px/count, unchanged).</a:t>
            </a:r>
            <a:endParaRPr b="0" lang="en-US" sz="1400" spc="-1" strike="noStrike">
              <a:latin typeface="Arial"/>
            </a:endParaRPr>
          </a:p>
        </p:txBody>
      </p:sp>
      <p:pic>
        <p:nvPicPr>
          <p:cNvPr id="5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Ring-down resonance test (amp-off / pulse / amp-off, free decay)</a:t>
            </a:r>
            <a:endParaRPr b="0" lang="en-US" sz="2600" spc="-1" strike="noStrike">
              <a:latin typeface="Arial"/>
            </a:endParaRPr>
          </a:p>
        </p:txBody>
      </p:sp>
      <p:sp>
        <p:nvSpPr>
          <p:cNvPr id="5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8" name="CustomShape 3"/>
          <p:cNvSpPr/>
          <p:nvPr/>
        </p:nvSpPr>
        <p:spPr>
          <a:xfrm>
            <a:off x="457200" y="1143000"/>
            <a:ext cx="5577120" cy="33782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User's own idea: preload a setpoint with the amp OFF (no physical effect), pulse the amp briefly, then cut it and watch the actuator ring down under pure mechanical dynamics — independent of the control loop or camera-rate phase fitting.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First two attempts used host arrival timestamps — turned out to be bucketed into ~15-16ms bursts by Windows thread scheduling, giving wrong answers (22Hz, then an 8.6Hz curve_fit that looked plausible but wasn't).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by timestamping from the firmware's own tick counter instead of the host clock, and abandoning curve_fit for a model-free peak/trough-spacing measurement.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result: 16 peaks + 17 troughs, mean spacing 26.0ms → 38.5Hz — well outside the 10-20Hz target band, and different from the original (now known-unreliable) 15.3Hz reading.</a:t>
            </a:r>
            <a:endParaRPr b="0" lang="en-US" sz="1400" spc="-1" strike="noStrike">
              <a:latin typeface="Arial"/>
            </a:endParaRPr>
          </a:p>
        </p:txBody>
      </p:sp>
      <p:pic>
        <p:nvPicPr>
          <p:cNvPr id="59" name="Picture 4" descr=""/>
          <p:cNvPicPr/>
          <p:nvPr/>
        </p:nvPicPr>
        <p:blipFill>
          <a:blip r:embed="rId1"/>
          <a:stretch/>
        </p:blipFill>
        <p:spPr>
          <a:xfrm>
            <a:off x="5943600" y="1143000"/>
            <a:ext cx="5485680" cy="2493000"/>
          </a:xfrm>
          <a:prstGeom prst="rect">
            <a:avLst/>
          </a:prstGeom>
          <a:ln>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Fresh Ki search — Ki=19 looked clean, but under a leftover throttle</a:t>
            </a:r>
            <a:endParaRPr b="0" lang="en-US" sz="2600" spc="-1" strike="noStrike">
              <a:latin typeface="Arial"/>
            </a:endParaRPr>
          </a:p>
        </p:txBody>
      </p:sp>
      <p:sp>
        <p:nvSpPr>
          <p:cNvPr id="6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2"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Bisected Ki with Kp fixed at 1.75: 15 → 2265ms, 18 → 1953ms, 19 → 1797ms — clean and monotonic, no instability anywhere in this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Kp=2.5 and Kp=3.5 both unstable, even just holding a fixed setpoint — the real Kp boundary sits below 2.5.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Caveat found LATER (see two slides ahead): this whole search — Ki=15/18/19, the Kp check, and the D-term retry that follows — was unknowingly run with the control loop still capped at ~200Hz by a diagnostic throttle from earlier rate-falsification testing that never got reverted.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So “Ki=19 is the new best result” did not hold up once that throttle was found and removed — treat this slide as the story of how the search unfolded, not the final answer.</a:t>
            </a:r>
            <a:endParaRPr b="0" lang="en-US" sz="1400" spc="-1" strike="noStrike">
              <a:latin typeface="Arial"/>
            </a:endParaRPr>
          </a:p>
        </p:txBody>
      </p:sp>
      <p:pic>
        <p:nvPicPr>
          <p:cNvPr id="63" name="Picture 4" descr=""/>
          <p:cNvPicPr/>
          <p:nvPr/>
        </p:nvPicPr>
        <p:blipFill>
          <a:blip r:embed="rId1"/>
          <a:stretch/>
        </p:blipFill>
        <p:spPr>
          <a:xfrm>
            <a:off x="6126480" y="1143000"/>
            <a:ext cx="5485680" cy="1096560"/>
          </a:xfrm>
          <a:prstGeom prst="rect">
            <a:avLst/>
          </a:prstGeom>
          <a:ln>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D-term retried with a resonance-informed cutoff — still doesn't help</a:t>
            </a:r>
            <a:endParaRPr b="0" lang="en-US" sz="2600" spc="-1" strike="noStrike">
              <a:latin typeface="Arial"/>
            </a:endParaRPr>
          </a:p>
        </p:txBody>
      </p:sp>
      <p:sp>
        <p:nvSpPr>
          <p:cNvPr id="6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6"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Retried on top of the (still-throttled) Ki=19 baseline with a 10Hz derivative filter cutoff, informed by the corrected 38.5Hz resonance.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Kd=0.005 → 3434% overshoot, wrong direction entirely. Kd=0.001 (smallest representable) → still 1392% overshoot.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Decisive result regardless of the throttle issue: tested across cutoffs 1-20Hz and Kd 0.001-0.05, combined with both Ki=19 and the old Ki=200 — every single combination made things worse than P+I alone.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Root cause: PIDController.hpp's derivative filter is a single-pole low-pass — any cutoff low enough to reject the resonance also removes the useful signal; any cutoff high enough to keep signal also passes the resonance straight through.</a:t>
            </a:r>
            <a:endParaRPr b="0" lang="en-US" sz="1400" spc="-1" strike="noStrike">
              <a:latin typeface="Arial"/>
            </a:endParaRPr>
          </a:p>
        </p:txBody>
      </p:sp>
      <p:pic>
        <p:nvPicPr>
          <p:cNvPr id="67"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Caught: the whole afternoon's tuning ran under a leftover ~200Hz throttle</a:t>
            </a:r>
            <a:endParaRPr b="0" lang="en-US" sz="2600" spc="-1" strike="noStrike">
              <a:latin typeface="Arial"/>
            </a:endParaRPr>
          </a:p>
        </p:txBody>
      </p:sp>
      <p:sp>
        <p:nvSpPr>
          <p:cNvPr id="6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0"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earlier rate-falsification test (checking whether sample rate itself caused instability) added a temporary throttle that gated the control loop to ~200Hz while telemetry stayed at the real ~465Hz — and it was never removed.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Every result since then — Ki=15/18/19, the Kp=2.5/3.5 check, both D-term retests, and the first notch-filter test — was run at that artificial ~200Hz, not the true rate this project has actually been streaming at.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removed the throttle, restored the PID's internal time-step to match the true ~457.5Hz rate, rebuilt, reflashed.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Retested the “best result,” Kp=1.75/Ki=19, at the TRUE rate: badly unstable — chaotic oscillation even while just holding the baseline, before the step is even applied.</a:t>
            </a:r>
            <a:endParaRPr b="0" lang="en-US" sz="1400" spc="-1" strike="noStrike">
              <a:latin typeface="Arial"/>
            </a:endParaRPr>
          </a:p>
        </p:txBody>
      </p:sp>
      <p:pic>
        <p:nvPicPr>
          <p:cNvPr id="7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Ki search at the true rate, notch active — Ki=15 is honestly the best point</a:t>
            </a:r>
            <a:endParaRPr b="0" lang="en-US" sz="2600" spc="-1" strike="noStrike">
              <a:latin typeface="Arial"/>
            </a:endParaRPr>
          </a:p>
        </p:txBody>
      </p:sp>
      <p:sp>
        <p:nvSpPr>
          <p:cNvPr id="7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Ki=15: clean, bounded convergence, no growth (this plot). Ki=20: bounded but a visible slow “beating” envelope. Ki=30: same beating, now visibly growing.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retried Kp=2.5/Ki=15 with the notch on, hoping it would buy Kp headroom — still badly unstable, same chaotic signature.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notch does not move the Ki or Kp stability boundary in any measurable way — the clean/marginal/unstable transition lands in essentially the same place with or without it.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best working point at the true rate, notch on or off: Kp=1.75, Ki=15 — well short of the pre-ROI-change 141ms/1.1% result.</a:t>
            </a:r>
            <a:endParaRPr b="0" lang="en-US" sz="1400" spc="-1" strike="noStrike">
              <a:latin typeface="Arial"/>
            </a:endParaRPr>
          </a:p>
        </p:txBody>
      </p:sp>
      <p:pic>
        <p:nvPicPr>
          <p:cNvPr id="7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properly-built control-rate throttle unexpectedly recovers the OLD fast behavior</a:t>
            </a:r>
            <a:endParaRPr b="0" lang="en-US" sz="2600" spc="-1" strike="noStrike">
              <a:latin typeface="Arial"/>
            </a:endParaRPr>
          </a:p>
        </p:txBody>
      </p:sp>
      <p:sp>
        <p:nvSpPr>
          <p:cNvPr id="7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8" name="CustomShape 3"/>
          <p:cNvSpPr/>
          <p:nvPr/>
        </p:nvSpPr>
        <p:spPr>
          <a:xfrm>
            <a:off x="457200" y="1143000"/>
            <a:ext cx="5577120" cy="26373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Tested directly: does throttling the control loop back to ~200Hz (this time atomically pairing the throttle with the PID's assumed sample time, so they can't drift apart) recover the pre-ROI-change Kp=1.75/Ki=200 behavior?</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yes — 163-168ms rise, ~2% overshoot, ~193-201ms settling, confirmed reproducible on an immediate repeat. Essentially matches the historical 141-297ms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Contradicts an EARLIER same-day attempt at nominally the same throttled config, which was catastrophically unstable (1180% overshoot) — could not identify a concrete mechanism for the discrepancy. Flagged honestly as an open mystery, not a solved one.</a:t>
            </a:r>
            <a:endParaRPr b="0" lang="en-US" sz="1400" spc="-1" strike="noStrike">
              <a:latin typeface="Arial"/>
            </a:endParaRPr>
          </a:p>
        </p:txBody>
      </p:sp>
      <p:pic>
        <p:nvPicPr>
          <p:cNvPr id="79"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 tracking at Ki=15 reveals a much bigger problem than slow settling</a:t>
            </a:r>
            <a:endParaRPr b="0" lang="en-US" sz="2600" spc="-1" strike="noStrike">
              <a:latin typeface="Arial"/>
            </a:endParaRPr>
          </a:p>
        </p:txBody>
      </p:sp>
      <p:sp>
        <p:nvSpPr>
          <p:cNvPr id="8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2"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Step response only tells you settling time for one jump — the real mission needs continuous rejection of a moving disturbance, so tested sine tracking at the “safe” Ki=15.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tracking gain (T) only 10-16% across 1-10Hz — the actuator barely follows a target moving that fast.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For a feedback loop, S = 1 − T (sensitivity = disturbance rejection). Low T at a frequency IS poor rejection at that frequency — not a separate concern.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T≈0.10-0.16 means S≈0.84-0.90: a real 5-10Hz beacon wobble would still show up as position error, 84-90% uncorrected. “Safe” Ki=15 is stable but not remotely fast enough for the actual mission.</a:t>
            </a:r>
            <a:endParaRPr b="0" lang="en-US" sz="1400" spc="-1" strike="noStrike">
              <a:latin typeface="Arial"/>
            </a:endParaRPr>
          </a:p>
        </p:txBody>
      </p:sp>
      <p:pic>
        <p:nvPicPr>
          <p:cNvPr id="83"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Sine-validated the recovered config — real improvement, still not enough</a:t>
            </a:r>
            <a:endParaRPr b="0" lang="en-US" sz="2600" spc="-1" strike="noStrike">
              <a:latin typeface="Arial"/>
            </a:endParaRPr>
          </a:p>
        </p:txBody>
      </p:sp>
      <p:sp>
        <p:nvSpPr>
          <p:cNvPr id="8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6" name="CustomShape 3"/>
          <p:cNvSpPr/>
          <p:nvPr/>
        </p:nvSpPr>
        <p:spPr>
          <a:xfrm>
            <a:off x="457200" y="1143000"/>
            <a:ext cx="5577120" cy="2211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Kp=1.75/Ki=200, throttled to 200Hz: tracking gain 20-34% across 5-20Hz (vs. 10-16% for Ki=15) — a real ~2-3x improvement, clean and stable at every tested frequency.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But S is still 66-80% across the band — most of a real disturbance would still get through. Fast step settling and good disturbance rejection at 10-20Hz are NOT the same property.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Consistent with the much earlier open-loop finding that the actuator/plant itself has real rolloff in this band — not something PID tuning alone fixes.</a:t>
            </a:r>
            <a:endParaRPr b="0" lang="en-US" sz="1400" spc="-1" strike="noStrike">
              <a:latin typeface="Arial"/>
            </a:endParaRPr>
          </a:p>
        </p:txBody>
      </p:sp>
      <p:pic>
        <p:nvPicPr>
          <p:cNvPr id="87"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closed-loop delay measured directly: ~11.5ms, not the assumed ~41ms</a:t>
            </a:r>
            <a:endParaRPr b="0" lang="en-US" sz="2600" spc="-1" strike="noStrike">
              <a:latin typeface="Arial"/>
            </a:endParaRPr>
          </a:p>
        </p:txBody>
      </p:sp>
      <p:sp>
        <p:nvSpPr>
          <p:cNvPr id="8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0" name="CustomShape 3"/>
          <p:cNvSpPr/>
          <p:nvPr/>
        </p:nvSpPr>
        <p:spPr>
          <a:xfrm>
            <a:off x="457200" y="1143000"/>
            <a:ext cx="5577120" cy="28504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Built a firmware primitive (pulse_step) that timestamps both the DAC step and the telemetry response on the SAME firmware clock — no host-clock timing anywhere in the measurement, avoiding every host-timing bug hit earlier this session.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11.5ms mean delay, tight (std 1.7ms), 6/6 consistent trials — much smaller than the ~41ms figure this project had been reasoning from (that number was from an older, slower VCP-relay test method, not the real I2C-direct control path).</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Changes the picture: 11.5ms of pure delay doesn't consume 90° of phase until ~22Hz, not ~6Hz — real headroom remains in the 10-20Hz band. The dominant constraint is more likely the plant's own ~38.5Hz resonance (visibly ringing in this data) than raw latency.</a:t>
            </a:r>
            <a:endParaRPr b="0" lang="en-US" sz="1400" spc="-1" strike="noStrike">
              <a:latin typeface="Arial"/>
            </a:endParaRPr>
          </a:p>
        </p:txBody>
      </p:sp>
      <p:pic>
        <p:nvPicPr>
          <p:cNvPr id="91" name="Picture 4" descr=""/>
          <p:cNvPicPr/>
          <p:nvPr/>
        </p:nvPicPr>
        <p:blipFill>
          <a:blip r:embed="rId1"/>
          <a:stretch/>
        </p:blipFill>
        <p:spPr>
          <a:xfrm>
            <a:off x="5760720" y="1143000"/>
            <a:ext cx="5485680" cy="2143800"/>
          </a:xfrm>
          <a:prstGeom prst="rect">
            <a:avLst/>
          </a:prstGeom>
          <a:ln>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Does throttling help because it's more REGULAR, not just less frequent?</a:t>
            </a:r>
            <a:endParaRPr b="0" lang="en-US" sz="2600" spc="-1" strike="noStrike">
              <a:latin typeface="Arial"/>
            </a:endParaRPr>
          </a:p>
        </p:txBody>
      </p:sp>
      <p:sp>
        <p:nvSpPr>
          <p:cNvPr id="9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4" name="CustomShape 3"/>
          <p:cNvSpPr/>
          <p:nvPr/>
        </p:nvSpPr>
        <p:spPr>
          <a:xfrm>
            <a:off x="457200" y="1143000"/>
            <a:ext cx="11246400" cy="1257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Open question: throttling to 200Hz recovered old Kp=1.75/Ki=200 behavior, but why is still unexplained — sample rate itself, or how UNIFORM the control-update timing is?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Measured directly via dac_y as a firing-detector (apply_dac only runs inside a real control step), firmware-clock timestamped throughout: full rate CV (relative jitter) ≈ 71% (long tail to 20+ms) vs. throttled-200Hz CV ≈ 44% (tighter, shorter tail) — genuinely more regular, not just slower, though n=21 for the throttled case is a small sample and 44% CV is still real jitter.</a:t>
            </a:r>
            <a:endParaRPr b="0" lang="en-US" sz="1400" spc="-1" strike="noStrike">
              <a:latin typeface="Arial"/>
            </a:endParaRPr>
          </a:p>
        </p:txBody>
      </p:sp>
      <p:pic>
        <p:nvPicPr>
          <p:cNvPr id="95" name="Picture 4" descr=""/>
          <p:cNvPicPr/>
          <p:nvPr/>
        </p:nvPicPr>
        <p:blipFill>
          <a:blip r:embed="rId1"/>
          <a:stretch/>
        </p:blipFill>
        <p:spPr>
          <a:xfrm>
            <a:off x="1737360" y="2331720"/>
            <a:ext cx="10504800" cy="4296960"/>
          </a:xfrm>
          <a:prstGeom prst="rect">
            <a:avLst/>
          </a:prstGeom>
          <a:ln>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Tested a boxcar smoothing pre-filter — first result was a false alarm, real test says no</a:t>
            </a:r>
            <a:endParaRPr b="0" lang="en-US" sz="2600" spc="-1" strike="noStrike">
              <a:latin typeface="Arial"/>
            </a:endParaRPr>
          </a:p>
        </p:txBody>
      </p:sp>
      <p:sp>
        <p:nvSpPr>
          <p:cNvPr id="9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8" name="CustomShape 3"/>
          <p:cNvSpPr/>
          <p:nvPr/>
        </p:nvSpPr>
        <p:spPr>
          <a:xfrm>
            <a:off x="457200" y="1143000"/>
            <a:ext cx="11246400" cy="1784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Full-rate + smoothing on Kp=1.75/Ki=200 looked like a clean win (161ms/3.5%/247ms) — until re-running full-rate WITHOUT smoothing on the exact same config also came back clean. The original instability had stopped reproducing for unrelated reasons — same mystery as the throttle recovery, not a smoothing effect (also makes sense mathematically: at full rate the averaging window is ~1 sample, a near no-op).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Found a config that's still genuinely unstable right now (Kp=2.5/Ki=15) to test properly: smoothing does NOT rescue it at full rate (still 195% overshoot). Throttling alone DOES stabilize it (slow, ~2.2s). Adding smoothing on top of throttling changes nothing measurable — visually identical traces.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conclusion: rate reduction (throttling) is the real lever; boxcar averaging adds no measurable benefit on top of it. The deeper mystery — why the original instability stopped reproducing at all — remains open and is arguably the more important unresolved question now.</a:t>
            </a:r>
            <a:endParaRPr b="0" lang="en-US" sz="1400" spc="-1" strike="noStrike">
              <a:latin typeface="Arial"/>
            </a:endParaRPr>
          </a:p>
        </p:txBody>
      </p:sp>
      <p:pic>
        <p:nvPicPr>
          <p:cNvPr id="99" name="Picture 4" descr=""/>
          <p:cNvPicPr/>
          <p:nvPr/>
        </p:nvPicPr>
        <p:blipFill>
          <a:blip r:embed="rId1"/>
          <a:stretch/>
        </p:blipFill>
        <p:spPr>
          <a:xfrm>
            <a:off x="1737360" y="2331720"/>
            <a:ext cx="6302520" cy="4296960"/>
          </a:xfrm>
          <a:prstGeom prst="rect">
            <a:avLst/>
          </a:prstGeom>
          <a:ln>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rPr>
              <a:t>Notch vs. no notch, each tuned to its OWN max-speed Ki — a real, mixed result</a:t>
            </a:r>
            <a:endParaRPr b="0" lang="en-US" sz="2600" spc="-1" strike="noStrike">
              <a:latin typeface="Arial"/>
            </a:endParaRPr>
          </a:p>
        </p:txBody>
      </p:sp>
      <p:sp>
        <p:nvSpPr>
          <p:cNvPr id="10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2" name="CustomShape 3"/>
          <p:cNvSpPr/>
          <p:nvPr/>
        </p:nvSpPr>
        <p:spPr>
          <a:xfrm>
            <a:off x="457200" y="1143000"/>
            <a:ext cx="5577120" cy="28724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Rebuilt the comparison properly: bisected each config's OWN max stable Ki (step-response, mode-engagement now explicitly verified, not just trusted) instead of comparing notch against a fixed low-Ki baseline.</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No-notch's real ceiling is HIGHER (Ki=500) than the notch's (Ki=400) — the notch never raised the Ki boundary. Confirms the earlier “doesn't move the boundary” finding, now with a fully mode-verified harness.</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At each config's own best: notch wins at 5-10Hz (T~0.92 vs. 0.78-0.90) but loses badly at 15-20Hz (T 0.45-0.56 vs. 0.74-0.88) — worse than no notch, not just less-improved.</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Likely cause: the notch's stopband skirt (Q=3 @ 38.5Hz) still attenuates real 15-20Hz signal, with no extra Ki headroom to compensate.</a:t>
            </a:r>
            <a:endParaRPr b="0" lang="en-US" sz="1300" spc="-1" strike="noStrike">
              <a:latin typeface="Arial"/>
            </a:endParaRPr>
          </a:p>
          <a:p>
            <a:pPr>
              <a:lnSpc>
                <a:spcPct val="100000"/>
              </a:lnSpc>
              <a:spcAft>
                <a:spcPts val="799"/>
              </a:spcAft>
            </a:pPr>
            <a:endParaRPr b="0" lang="en-US" sz="1300" spc="-1" strike="noStrike">
              <a:latin typeface="Arial"/>
            </a:endParaRPr>
          </a:p>
        </p:txBody>
      </p:sp>
      <p:pic>
        <p:nvPicPr>
          <p:cNvPr id="103" name="Picture 4" descr=""/>
          <p:cNvPicPr/>
          <p:nvPr/>
        </p:nvPicPr>
        <p:blipFill>
          <a:blip r:embed="rId1"/>
          <a:stretch/>
        </p:blipFill>
        <p:spPr>
          <a:xfrm>
            <a:off x="6459120" y="1143000"/>
            <a:ext cx="5186160" cy="3565440"/>
          </a:xfrm>
          <a:prstGeom prst="rect">
            <a:avLst/>
          </a:prstGeom>
          <a:ln>
            <a:noFill/>
          </a:ln>
        </p:spPr>
      </p:pic>
      <p:sp>
        <p:nvSpPr>
          <p:cNvPr id="104" name="TextBox 103"/>
          <p:cNvSpPr txBox="1"/>
          <p:nvPr/>
        </p:nvSpPr>
        <p:spPr>
          <a:xfrm>
            <a:off x="457200" y="4900000"/>
            <a:ext cx="11246760" cy="500000"/>
          </a:xfrm>
          <a:prstGeom prst="rect">
            <a:avLst/>
          </a:prstGeom>
          <a:noFill/>
        </p:spPr>
        <p:txBody>
          <a:bodyPr wrap="square">
            <a:spAutoFit/>
          </a:bodyPr>
          <a:lstStyle/>
          <a:p>
            <a:r>
              <a:rPr sz="1200" b="1">
                <a:solidFill>
                  <a:srgbClr val="8A1F1F"/>
                </a:solidFill>
                <a:latin typeface="Calibri"/>
              </a:rPr>
              <a:t>⚠ CORRECTION (2026-08-27): the notch used here was mis-clocked (~16.8Hz, not 38.5Hz) due to a firmware sample-rate bug — see the following slide. Step-response Ki ceiling has been rechecked with the real notch; the 5-20Hz sine-tracking comparison above has not yet been rerun.</a:t>
            </a: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300" b="1">
                <a:solidFill>
                  <a:srgbClr val="1A1A2E"/>
                </a:solidFill>
                <a:latin typeface="Calibri"/>
              </a:rPr>
              <a:t>Found a real notch bug: it was mis-clocked at ~16.8Hz, not 38.5Hz — fixed, and the real notch is WORSE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300">
                <a:solidFill>
                  <a:srgbClr val="333333"/>
                </a:solidFill>
                <a:latin typeface="Calibri"/>
              </a:rPr>
              <a:t>• </a:t>
            </a:r>
            <a:r>
              <a:rPr sz="1300">
                <a:solidFill>
                  <a:srgbClr val="333333"/>
                </a:solidFill>
                <a:latin typeface="Calibri"/>
              </a:rPr>
              <a:t>cmd_set_notch hardcoded the filter's assumed sample rate to 457.5Hz — at our throttled 200Hz operating point, a notch requested at 38.5Hz actually landed at ~16.8Hz, carving a hole in the 10-20Hz band instead of suppressing the resonance.</a:t>
            </a:r>
          </a:p>
          <a:p>
            <a:pPr>
              <a:spcAft>
                <a:spcPts val="900"/>
              </a:spcAft>
            </a:pPr>
            <a:r>
              <a:rPr sz="1300">
                <a:solidFill>
                  <a:srgbClr val="333333"/>
                </a:solidFill>
                <a:latin typeface="Calibri"/>
              </a:rPr>
              <a:t>• </a:t>
            </a:r>
            <a:r>
              <a:rPr sz="1300">
                <a:solidFill>
                  <a:srgbClr val="333333"/>
                </a:solidFill>
                <a:latin typeface="Calibri"/>
              </a:rPr>
              <a:t>Fixed to use the real current control rate (same pattern the lead compensator's set_lead already used correctly). Built clean, flashed, hardware-verified.</a:t>
            </a:r>
          </a:p>
          <a:p>
            <a:pPr>
              <a:spcAft>
                <a:spcPts val="900"/>
              </a:spcAft>
            </a:pPr>
            <a:r>
              <a:rPr sz="1300">
                <a:solidFill>
                  <a:srgbClr val="333333"/>
                </a:solidFill>
                <a:latin typeface="Calibri"/>
              </a:rPr>
              <a:t>• </a:t>
            </a:r>
            <a:r>
              <a:rPr sz="1300">
                <a:solidFill>
                  <a:srgbClr val="333333"/>
                </a:solidFill>
                <a:latin typeface="Calibri"/>
              </a:rPr>
              <a:t>Reran the Ki sweep with the REAL 38.5Hz notch: clean through Ki~350, rings by 400 — a LOWER ceiling than no notch at all (~500-550) and even lower than the buggy 16.8Hz version (~400). Not yet root-caused why.</a:t>
            </a:r>
          </a:p>
          <a:p>
            <a:pPr>
              <a:spcAft>
                <a:spcPts val="900"/>
              </a:spcAft>
            </a:pPr>
            <a:r>
              <a:rPr sz="1300">
                <a:solidFill>
                  <a:srgbClr val="333333"/>
                </a:solidFill>
                <a:latin typeface="Calibri"/>
              </a:rPr>
              <a:t>• </a:t>
            </a:r>
            <a:r>
              <a:rPr sz="1300">
                <a:solidFill>
                  <a:srgbClr val="333333"/>
                </a:solidFill>
                <a:latin typeface="Calibri"/>
              </a:rPr>
              <a:t>Does NOT explain the lead-compensator divergence: every lead+notch test ran at Ki=200, which is clean under both the buggy AND the real notch — that investigation is still open.</a:t>
            </a:r>
          </a:p>
          <a:p>
            <a:pPr>
              <a:spcAft>
                <a:spcPts val="900"/>
              </a:spcAft>
            </a:pPr>
            <a:r>
              <a:rPr sz="1300">
                <a:solidFill>
                  <a:srgbClr val="333333"/>
                </a:solidFill>
                <a:latin typeface="Calibri"/>
              </a:rPr>
              <a:t>• </a:t>
            </a:r>
            <a:r>
              <a:rPr sz="1300">
                <a:solidFill>
                  <a:srgbClr val="333333"/>
                </a:solidFill>
                <a:latin typeface="Calibri"/>
              </a:rPr>
              <a:t>Every notch number on record before this fix (including the previous slide's 5-20Hz sine comparison) should be treated as unverified until rerun.</a:t>
            </a:r>
          </a:p>
        </p:txBody>
      </p:sp>
      <p:pic>
        <p:nvPicPr>
          <p:cNvPr id="5" name="Picture 4" descr="fta_notch_ki_ceiling_comparison.png"/>
          <p:cNvPicPr>
            <a:picLocks noChangeAspect="1"/>
          </p:cNvPicPr>
          <p:nvPr/>
        </p:nvPicPr>
        <p:blipFill>
          <a:blip r:embed="rId2"/>
          <a:stretch>
            <a:fillRect/>
          </a:stretch>
        </p:blipFill>
        <p:spPr>
          <a:xfrm>
            <a:off x="6378030" y="1143000"/>
            <a:ext cx="5348700" cy="3565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Open-loop plant Bode plot — the resonance, not delay or tuning, is the ceiling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Built a firmware open-loop sine generator (bypasses the PID entirely, drives dac_y directly) and swept dac_y→cx across 1-50Hz — the first real open-loop frequency response measured this project.</a:t>
            </a:r>
          </a:p>
          <a:p>
            <a:pPr>
              <a:spcAft>
                <a:spcPts val="900"/>
              </a:spcAft>
            </a:pPr>
            <a:r>
              <a:rPr sz="1250">
                <a:solidFill>
                  <a:srgbClr val="333333"/>
                </a:solidFill>
                <a:latin typeface="Calibri"/>
              </a:rPr>
              <a:t>• </a:t>
            </a:r>
            <a:r>
              <a:rPr sz="1250">
                <a:solidFill>
                  <a:srgbClr val="333333"/>
                </a:solidFill>
                <a:latin typeface="Calibri"/>
              </a:rPr>
              <a:t>Phase has real margin through 10-20Hz (40° at 10Hz, 79° at 20Hz) — the plant itself isn't the problem IN that band.</a:t>
            </a:r>
          </a:p>
          <a:p>
            <a:pPr>
              <a:spcAft>
                <a:spcPts val="900"/>
              </a:spcAft>
            </a:pPr>
            <a:r>
              <a:rPr sz="1250">
                <a:solidFill>
                  <a:srgbClr val="333333"/>
                </a:solidFill>
                <a:latin typeface="Calibri"/>
              </a:rPr>
              <a:t>• </a:t>
            </a:r>
            <a:r>
              <a:rPr sz="1250">
                <a:solidFill>
                  <a:srgbClr val="333333"/>
                </a:solidFill>
                <a:latin typeface="Calibri"/>
              </a:rPr>
              <a:t>Sharp resonance at 38.5Hz (gain ~7.6x DC) — matches the ring-down test exactly, from a completely independent method (forced sine vs. free decay). Strong cross-validation, not a fluke.</a:t>
            </a:r>
          </a:p>
          <a:p>
            <a:pPr>
              <a:spcAft>
                <a:spcPts val="900"/>
              </a:spcAft>
            </a:pPr>
            <a:r>
              <a:rPr sz="1250">
                <a:solidFill>
                  <a:srgbClr val="333333"/>
                </a:solidFill>
                <a:latin typeface="Calibri"/>
              </a:rPr>
              <a:t>• </a:t>
            </a:r>
            <a:r>
              <a:rPr sz="1250">
                <a:solidFill>
                  <a:srgbClr val="333333"/>
                </a:solidFill>
                <a:latin typeface="Calibri"/>
              </a:rPr>
              <a:t>5Hz lag (12.0ms) matches the directly-measured pure loop delay (~11.5ms) — a third independent cross-check.</a:t>
            </a:r>
          </a:p>
          <a:p>
            <a:pPr>
              <a:spcAft>
                <a:spcPts val="900"/>
              </a:spcAft>
            </a:pPr>
            <a:r>
              <a:rPr sz="1250">
                <a:solidFill>
                  <a:srgbClr val="333333"/>
                </a:solidFill>
                <a:latin typeface="Calibri"/>
              </a:rPr>
              <a:t>• </a:t>
            </a:r>
            <a:r>
              <a:rPr sz="1250">
                <a:solidFill>
                  <a:srgbClr val="333333"/>
                </a:solidFill>
                <a:latin typeface="Calibri"/>
              </a:rPr>
              <a:t>Any Ki high enough to push gain-crossover toward ~20-25Hz+ runs into the resonance's fast phase rotation (~140° in under two octaves) — explains the hard Ki ceiling all session, and why the notch's narrow fix gave a mixed result (previous slide).</a:t>
            </a:r>
          </a:p>
          <a:p>
            <a:pPr>
              <a:spcAft>
                <a:spcPts val="900"/>
              </a:spcAft>
            </a:pPr>
            <a:r>
              <a:rPr sz="1250">
                <a:solidFill>
                  <a:srgbClr val="333333"/>
                </a:solidFill>
                <a:latin typeface="Calibri"/>
              </a:rPr>
              <a:t>• </a:t>
            </a:r>
            <a:r>
              <a:rPr sz="1250">
                <a:solidFill>
                  <a:srgbClr val="333333"/>
                </a:solidFill>
                <a:latin typeface="Calibri"/>
              </a:rPr>
              <a:t>Strongest evidence yet for a hardware fix (stiffen/damp the flexure) over continued controller tuning.</a:t>
            </a:r>
          </a:p>
        </p:txBody>
      </p:sp>
      <p:pic>
        <p:nvPicPr>
          <p:cNvPr id="5" name="Picture 4" descr="fta_open_loop_bode_summary.png"/>
          <p:cNvPicPr>
            <a:picLocks noChangeAspect="1"/>
          </p:cNvPicPr>
          <p:nvPr/>
        </p:nvPicPr>
        <p:blipFill>
          <a:blip r:embed="rId3"/>
          <a:stretch>
            <a:fillRect/>
          </a:stretch>
        </p:blipFill>
        <p:spPr>
          <a:xfrm>
            <a:off x="7031760" y="1143000"/>
            <a:ext cx="4041240" cy="3565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this leaves us</a:t>
            </a:r>
            <a:endParaRPr b="0" lang="en-US" sz="2600" spc="-1" strike="noStrike">
              <a:latin typeface="Arial"/>
            </a:endParaRPr>
          </a:p>
        </p:txBody>
      </p:sp>
      <p:sp>
        <p:nvSpPr>
          <p:cNvPr id="10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6" name="CustomShape 3"/>
          <p:cNvSpPr/>
          <p:nvPr/>
        </p:nvSpPr>
        <p:spPr>
          <a:xfrm>
            <a:off x="731520" y="1097280"/>
            <a:ext cx="10697760" cy="326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Best working point found: Kp=1.75 / Ki=200, throttled to 200Hz — settling ~15x faster and tracking gain ~2-3x higher (5-20Hz) than the un-throttled Ki=15 fallback.</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But even this doesn't solve the mission: sine validation shows S (disturbance sensitivity) still 66-80% across 5-20Hz — most of a real beacon wobble would still show up as position error. Fast step settling ≠ good disturbance rejection.</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Real closed-loop delay measured directly at ~11.5ms (not the ~41ms this project had assumed) — more phase-margin headroom than feared. A full open-loop Bode sweep (previous slide) CONFIRMS the resonance (38.5Hz), not raw latency, is the dominant constraint — cross-validated against the ring-down test and the delay measurement itself.</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Boxcar smoothing tested and ruled out — throttling's rate reduction is the real lever, averaging adds nothing on top of it.</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The single most important open question: the ORIGINAL Kp=1.75/Ki=200 full-rate instability that motivated this whole day's investigation has stopped reproducing, for reasons unconnected to any software change made today. This casts real doubt on how durable ANY of today's "stable" configurations actually are — worth understanding before trusting them long-term.</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Notch filter: doesn't raise the Ki ceiling (400 vs. 500 without it) — rebuilt comparison at each config's own max speed found it helps at 5-10Hz but is worse than no notch at 15-20Hz (stopband skirt attenuates real signal there). D-term: ruled out at every setting tried, but only under the same since-fixed throttle bug — worth one clean retest.</a:t>
            </a:r>
            <a:endParaRPr b="0" lang="en-US" sz="1350" spc="-1" strike="noStrike">
              <a:latin typeface="Arial"/>
            </a:endParaRPr>
          </a:p>
          <a:p>
            <a:pPr>
              <a:spcAft>
                <a:spcPts val="800"/>
              </a:spcAft>
            </a:pPr>
            <a:r>
              <a:rPr sz="1300">
                <a:solidFill>
                  <a:srgbClr val="333333"/>
                </a:solidFill>
                <a:latin typeface="Calibri"/>
              </a:rPr>
              <a:t>• </a:t>
            </a:r>
            <a:r>
              <a:rPr sz="1300" b="1">
                <a:solidFill>
                  <a:srgbClr val="333333"/>
                </a:solidFill>
                <a:latin typeface="Calibri"/>
              </a:rPr>
              <a:t>HEADLINE: the open-loop Bode plot shows real phase margin through 10-20Hz on its own, but a sharp resonance starting ~20-25Hz caps how far Ki can push the loop's gain-crossover — this looks like a real mechanical bandwidth ceiling, not a controller-tuning problem. Recommend a hardware change (stiffen/damp the flexure) over further gain search.</a:t>
            </a: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New ring-down measurements, both axes — the resonance behind the updated FEA comparison</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500000"/>
          </a:xfrm>
          <a:prstGeom prst="rect">
            <a:avLst/>
          </a:prstGeom>
          <a:noFill/>
        </p:spPr>
        <p:txBody>
          <a:bodyPr wrap="square">
            <a:spAutoFit/>
          </a:bodyPr>
          <a:lstStyle/>
          <a:p>
            <a:r>
              <a:rPr sz="1250">
                <a:solidFill>
                  <a:srgbClr val="333333"/>
                </a:solidFill>
                <a:latin typeface="Calibri"/>
              </a:rPr>
              <a:t>Model-free peak-spacing estimate (dashed curve_fit overlay is unreliable — see annotation on each plot); tick-timestamped, same method as the original 38.5Hz measurement.</a:t>
            </a:r>
          </a:p>
        </p:txBody>
      </p:sp>
      <p:pic>
        <p:nvPicPr>
          <p:cNvPr id="5" name="Picture 4" descr="fta_ringdown_xaxis_20260828T003210Z.png"/>
          <p:cNvPicPr>
            <a:picLocks noChangeAspect="1"/>
          </p:cNvPicPr>
          <p:nvPr/>
        </p:nvPicPr>
        <p:blipFill>
          <a:blip r:embed="rId2"/>
          <a:stretch>
            <a:fillRect/>
          </a:stretch>
        </p:blipFill>
        <p:spPr>
          <a:xfrm>
            <a:off x="457200" y="1650000"/>
            <a:ext cx="3595587" cy="1618000"/>
          </a:xfrm>
          <a:prstGeom prst="rect">
            <a:avLst/>
          </a:prstGeom>
        </p:spPr>
      </p:pic>
      <p:pic>
        <p:nvPicPr>
          <p:cNvPr id="6" name="Picture 5" descr="fta_ringdown_xaxis_20260828T003754Z.png"/>
          <p:cNvPicPr>
            <a:picLocks noChangeAspect="1"/>
          </p:cNvPicPr>
          <p:nvPr/>
        </p:nvPicPr>
        <p:blipFill>
          <a:blip r:embed="rId3"/>
          <a:stretch>
            <a:fillRect/>
          </a:stretch>
        </p:blipFill>
        <p:spPr>
          <a:xfrm>
            <a:off x="4282787" y="1650000"/>
            <a:ext cx="3595587" cy="1618000"/>
          </a:xfrm>
          <a:prstGeom prst="rect">
            <a:avLst/>
          </a:prstGeom>
        </p:spPr>
      </p:pic>
      <p:pic>
        <p:nvPicPr>
          <p:cNvPr id="7" name="Picture 6" descr="fta_ringdown_yaxis_20260828T003403Z_fixed.png"/>
          <p:cNvPicPr>
            <a:picLocks noChangeAspect="1"/>
          </p:cNvPicPr>
          <p:nvPr/>
        </p:nvPicPr>
        <p:blipFill>
          <a:blip r:embed="rId4"/>
          <a:stretch>
            <a:fillRect/>
          </a:stretch>
        </p:blipFill>
        <p:spPr>
          <a:xfrm>
            <a:off x="8108374" y="1650000"/>
            <a:ext cx="3595587" cy="1618000"/>
          </a:xfrm>
          <a:prstGeom prst="rect">
            <a:avLst/>
          </a:prstGeom>
        </p:spPr>
      </p:pic>
      <p:sp>
        <p:nvSpPr>
          <p:cNvPr id="8" name="Caption 1"/>
          <p:cNvSpPr txBox="1"/>
          <p:nvPr/>
        </p:nvSpPr>
        <p:spPr>
          <a:xfrm>
            <a:off x="457200" y="3330000"/>
            <a:ext cx="3595587" cy="700000"/>
          </a:xfrm>
          <a:prstGeom prst="rect">
            <a:avLst/>
          </a:prstGeom>
          <a:noFill/>
        </p:spPr>
        <p:txBody>
          <a:bodyPr wrap="square">
            <a:spAutoFit/>
          </a:bodyPr>
          <a:lstStyle/>
          <a:p>
            <a:r>
              <a:rPr sz="1150" b="1">
                <a:solidFill>
                  <a:srgbClr val="333333"/>
                </a:solidFill>
                <a:latin typeface="Calibri"/>
              </a:rPr>
              <a:t>X-axis, trial 1: 47.3Hz</a:t>
            </a:r>
          </a:p>
          <a:p>
            <a:r>
              <a:rPr sz="1050">
                <a:solidFill>
                  <a:srgbClr val="666666"/>
                </a:solidFill>
                <a:latin typeface="Calibri"/>
              </a:rPr>
              <a:t>dac_y→cx, primary axis</a:t>
            </a:r>
          </a:p>
        </p:txBody>
      </p:sp>
      <p:sp>
        <p:nvSpPr>
          <p:cNvPr id="9" name="Caption 2"/>
          <p:cNvSpPr txBox="1"/>
          <p:nvPr/>
        </p:nvSpPr>
        <p:spPr>
          <a:xfrm>
            <a:off x="4282787" y="3330000"/>
            <a:ext cx="3595587" cy="700000"/>
          </a:xfrm>
          <a:prstGeom prst="rect">
            <a:avLst/>
          </a:prstGeom>
          <a:noFill/>
        </p:spPr>
        <p:txBody>
          <a:bodyPr wrap="square">
            <a:spAutoFit/>
          </a:bodyPr>
          <a:lstStyle/>
          <a:p>
            <a:r>
              <a:rPr sz="1150" b="1">
                <a:solidFill>
                  <a:srgbClr val="333333"/>
                </a:solidFill>
                <a:latin typeface="Calibri"/>
              </a:rPr>
              <a:t>X-axis, trial 2 (immediate repeat): 47.0Hz</a:t>
            </a:r>
          </a:p>
          <a:p>
            <a:r>
              <a:rPr sz="1050">
                <a:solidFill>
                  <a:srgbClr val="666666"/>
                </a:solidFill>
                <a:latin typeface="Calibri"/>
              </a:rPr>
              <a:t>dac_y→cx — tight agreement with trial 1</a:t>
            </a:r>
          </a:p>
        </p:txBody>
      </p:sp>
      <p:sp>
        <p:nvSpPr>
          <p:cNvPr id="10" name="Caption 3"/>
          <p:cNvSpPr txBox="1"/>
          <p:nvPr/>
        </p:nvSpPr>
        <p:spPr>
          <a:xfrm>
            <a:off x="8108374" y="3330000"/>
            <a:ext cx="3595587" cy="700000"/>
          </a:xfrm>
          <a:prstGeom prst="rect">
            <a:avLst/>
          </a:prstGeom>
          <a:noFill/>
        </p:spPr>
        <p:txBody>
          <a:bodyPr wrap="square">
            <a:spAutoFit/>
          </a:bodyPr>
          <a:lstStyle/>
          <a:p>
            <a:r>
              <a:rPr sz="1150" b="1">
                <a:solidFill>
                  <a:srgbClr val="333333"/>
                </a:solidFill>
                <a:latin typeface="Calibri"/>
              </a:rPr>
              <a:t>Y-axis, first-ever trial: 50.1Hz</a:t>
            </a:r>
          </a:p>
          <a:p>
            <a:r>
              <a:rPr sz="1050">
                <a:solidFill>
                  <a:srgbClr val="666666"/>
                </a:solidFill>
                <a:latin typeface="Calibri"/>
              </a:rPr>
              <a:t>dac_x→cy — only one trial so far</a:t>
            </a:r>
          </a:p>
        </p:txBody>
      </p:sp>
      <p:sp>
        <p:nvSpPr>
          <p:cNvPr id="11" name="Note"/>
          <p:cNvSpPr txBox="1"/>
          <p:nvPr/>
        </p:nvSpPr>
        <p:spPr>
          <a:xfrm>
            <a:off x="457200" y="4200000"/>
            <a:ext cx="11246760" cy="700000"/>
          </a:xfrm>
          <a:prstGeom prst="rect">
            <a:avLst/>
          </a:prstGeom>
          <a:noFill/>
        </p:spPr>
        <p:txBody>
          <a:bodyPr wrap="square">
            <a:spAutoFit/>
          </a:bodyPr>
          <a:lstStyle/>
          <a:p>
            <a:r>
              <a:rPr sz="1150" i="1">
                <a:solidFill>
                  <a:srgbClr val="555555"/>
                </a:solidFill>
                <a:latin typeface="Calibri"/>
              </a:rPr>
              <a:t>Both axes land close to each other and notably not close to the previously-documented 38.5Hz. Same trustworthy tick-timestamped peak-spacing method as the original measurement, so this reads as a real, reproducible shift in the physical resonance since then — see next slide for the updated FEA comparison.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Bench resonance re-measured: 38.5Hz → ~47-50Hz — now close to FEA, not 20% below it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11246760" cy="2130000"/>
          </a:xfrm>
          <a:prstGeom prst="rect">
            <a:avLst/>
          </a:prstGeom>
          <a:noFill/>
        </p:spPr>
        <p:txBody>
          <a:bodyPr wrap="square">
            <a:spAutoFit/>
          </a:bodyPr>
          <a:lstStyle/>
          <a:p>
            <a:pPr>
              <a:spcAft>
                <a:spcPts val="600"/>
              </a:spcAft>
            </a:pPr>
            <a:r>
              <a:rPr sz="1150" b="1">
                <a:solidFill>
                  <a:srgbClr val="333333"/>
                </a:solidFill>
                <a:latin typeface="Calibri"/>
              </a:rPr>
              <a:t>Superseded number, stated plainly: </a:t>
            </a:r>
            <a:r>
              <a:rPr sz="1150">
                <a:solidFill>
                  <a:srgbClr val="333333"/>
                </a:solidFill>
                <a:latin typeface="Calibri"/>
              </a:rPr>
              <a:t>38.5Hz (previous bode/ring-down) is superseded — after fixing ring-down timing bugs and testing both axes, the same peak-spacing method now reads 47.0-47.3Hz (x-axis, 2 trials) and 50.1Hz (y-axis, 1 trial). A real physical shift per CLAUDE.md, not a methodology fix; cause not yet identified.</a:t>
            </a:r>
          </a:p>
          <a:p>
            <a:pPr>
              <a:spcAft>
                <a:spcPts val="600"/>
              </a:spcAft>
            </a:pPr>
            <a:r>
              <a:rPr sz="1150">
                <a:solidFill>
                  <a:srgbClr val="333333"/>
                </a:solidFill>
                <a:latin typeface="Calibri"/>
              </a:rPr>
              <a:t>• </a:t>
            </a:r>
            <a:r>
              <a:rPr sz="1150">
                <a:solidFill>
                  <a:srgbClr val="333333"/>
                </a:solidFill>
                <a:latin typeface="Calibri"/>
              </a:rPr>
              <a:t>0.5mm FEA has two close bending modes (48.19Hz, 52.92Hz) — pairing x-axis↔mode 1, y-axis↔mode 2 gives measured/FEA = 0.978 and 0.947: within ~2-5% of FEA, not the ~20% gap previously reported.</a:t>
            </a:r>
          </a:p>
          <a:p>
            <a:pPr>
              <a:spcAft>
                <a:spcPts val="600"/>
              </a:spcAft>
            </a:pPr>
            <a:r>
              <a:rPr sz="1150">
                <a:solidFill>
                  <a:srgbClr val="333333"/>
                </a:solidFill>
                <a:latin typeface="Calibri"/>
              </a:rPr>
              <a:t>• </a:t>
            </a:r>
            <a:r>
              <a:rPr sz="1150">
                <a:solidFill>
                  <a:srgbClr val="333333"/>
                </a:solidFill>
                <a:latin typeface="Calibri"/>
              </a:rPr>
              <a:t>Applying that ~0.95-0.98 ratio (not the old 0.80) to the 0.75mm-arm FEA (81.35Hz, 90.55Hz, below) gives a revised estimate of ~79-86Hz — close to raw FEA, not the ~65/72Hz previously stated.</a:t>
            </a:r>
          </a:p>
          <a:p>
            <a:pPr>
              <a:spcAft>
                <a:spcPts val="600"/>
              </a:spcAft>
            </a:pPr>
            <a:r>
              <a:rPr sz="1150">
                <a:solidFill>
                  <a:srgbClr val="333333"/>
                </a:solidFill>
                <a:latin typeface="Calibri"/>
              </a:rPr>
              <a:t>• </a:t>
            </a:r>
            <a:r>
              <a:rPr sz="1150">
                <a:solidFill>
                  <a:srgbClr val="333333"/>
                </a:solidFill>
                <a:latin typeface="Calibri"/>
              </a:rPr>
              <a:t>Against the 20Hz PID target that's ~4x margin, not the more pessimistic 3.25x previously concluded here — close to what raw FEA always suggested.</a:t>
            </a:r>
          </a:p>
          <a:p>
            <a:pPr>
              <a:spcAft>
                <a:spcPts val="600"/>
              </a:spcAft>
            </a:pPr>
            <a:r>
              <a:rPr sz="1150">
                <a:solidFill>
                  <a:srgbClr val="333333"/>
                </a:solidFill>
                <a:latin typeface="Calibri"/>
              </a:rPr>
              <a:t>• </a:t>
            </a:r>
            <a:r>
              <a:rPr sz="1150" b="1">
                <a:solidFill>
                  <a:srgbClr val="333333"/>
                </a:solidFill>
                <a:latin typeface="Calibri"/>
              </a:rPr>
              <a:t>Open questions: </a:t>
            </a:r>
            <a:r>
              <a:rPr sz="1150">
                <a:solidFill>
                  <a:srgbClr val="333333"/>
                </a:solidFill>
                <a:latin typeface="Calibri"/>
              </a:rPr>
              <a:t>physical cause of the shift unidentified; y-axis has only 1 trial vs. x's 2. Action unchanged: rerun bode + ring-down on the actual 0.75mm part once installed.</a:t>
            </a:r>
          </a:p>
        </p:txBody>
      </p:sp>
      <p:pic>
        <p:nvPicPr>
          <p:cNvPr id="5" name="Picture 4" descr="main_flexure_v3_FEM_mode1_48.19Hz.png"/>
          <p:cNvPicPr>
            <a:picLocks noChangeAspect="1"/>
          </p:cNvPicPr>
          <p:nvPr/>
        </p:nvPicPr>
        <p:blipFill>
          <a:blip r:embed="rId2"/>
          <a:stretch>
            <a:fillRect/>
          </a:stretch>
        </p:blipFill>
        <p:spPr>
          <a:xfrm>
            <a:off x="2466609" y="3423000"/>
            <a:ext cx="3282334" cy="3010680"/>
          </a:xfrm>
          <a:prstGeom prst="rect">
            <a:avLst/>
          </a:prstGeom>
        </p:spPr>
      </p:pic>
      <p:pic>
        <p:nvPicPr>
          <p:cNvPr id="6" name="Picture 5" descr="PCB_FTA_assembly_FEM_mode1_81.35Hz.png"/>
          <p:cNvPicPr>
            <a:picLocks noChangeAspect="1"/>
          </p:cNvPicPr>
          <p:nvPr/>
        </p:nvPicPr>
        <p:blipFill>
          <a:blip r:embed="rId3"/>
          <a:stretch>
            <a:fillRect/>
          </a:stretch>
        </p:blipFill>
        <p:spPr>
          <a:xfrm>
            <a:off x="6048943" y="3423000"/>
            <a:ext cx="3676448" cy="301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FEA mode frequencies — 0.5mm vs. 0.75mm flexure arms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596000" y="1600200"/>
          <a:ext cx="9000000" cy="2700000"/>
        </p:xfrm>
        <a:graphic>
          <a:graphicData uri="http://schemas.openxmlformats.org/drawingml/2006/table">
            <a:tbl>
              <a:tblPr firstRow="1" bandRow="1">
                <a:tableStyleId>{5C22544A-7EE6-4342-B048-85BDC9FD1C3A}</a:tableStyleId>
              </a:tblPr>
              <a:tblGrid>
                <a:gridCol w="2400000"/>
                <a:gridCol w="3300000"/>
                <a:gridCol w="3300000"/>
              </a:tblGrid>
              <a:tr h="450000">
                <a:tc>
                  <a:txBody>
                    <a:bodyPr/>
                    <a:lstStyle/>
                    <a:p>
                      <a:pPr algn="ctr"/>
                      <a:r>
                        <a:rPr sz="1400" b="1">
                          <a:solidFill>
                            <a:srgbClr val="FFFFFF"/>
                          </a:solidFill>
                          <a:latin typeface="Calibri"/>
                        </a:rPr>
                        <a:t>Mode</a:t>
                      </a:r>
                    </a:p>
                  </a:txBody>
                  <a:tcPr anchor="ctr">
                    <a:solidFill>
                      <a:srgbClr val="2E5C8A"/>
                    </a:solidFill>
                  </a:tcPr>
                </a:tc>
                <a:tc>
                  <a:txBody>
                    <a:bodyPr/>
                    <a:lstStyle/>
                    <a:p>
                      <a:pPr algn="ctr"/>
                      <a:r>
                        <a:rPr sz="1400" b="1">
                          <a:solidFill>
                            <a:srgbClr val="FFFFFF"/>
                          </a:solidFill>
                          <a:latin typeface="Calibri"/>
                        </a:rPr>
                        <a:t>0.5mm arms (Hz)</a:t>
                      </a:r>
                    </a:p>
                  </a:txBody>
                  <a:tcPr anchor="ctr">
                    <a:solidFill>
                      <a:srgbClr val="2E5C8A"/>
                    </a:solidFill>
                  </a:tcPr>
                </a:tc>
                <a:tc>
                  <a:txBody>
                    <a:bodyPr/>
                    <a:lstStyle/>
                    <a:p>
                      <a:pPr algn="ctr"/>
                      <a:r>
                        <a:rPr sz="1400" b="1">
                          <a:solidFill>
                            <a:srgbClr val="FFFFFF"/>
                          </a:solidFill>
                          <a:latin typeface="Calibri"/>
                        </a:rPr>
                        <a:t>0.75mm arms (Hz)</a:t>
                      </a:r>
                    </a:p>
                  </a:txBody>
                  <a:tcPr anchor="ctr">
                    <a:solidFill>
                      <a:srgbClr val="2E5C8A"/>
                    </a:solidFill>
                  </a:tcPr>
                </a:tc>
              </a:tr>
              <a:tr h="375000">
                <a:tc>
                  <a:txBody>
                    <a:bodyPr/>
                    <a:lstStyle/>
                    <a:p>
                      <a:pPr algn="ctr"/>
                      <a:r>
                        <a:rPr sz="1400">
                          <a:solidFill>
                            <a:srgbClr val="333333"/>
                          </a:solidFill>
                          <a:latin typeface="Calibri"/>
                        </a:rPr>
                        <a:t>1</a:t>
                      </a:r>
                    </a:p>
                  </a:txBody>
                  <a:tcPr anchor="ctr">
                    <a:solidFill>
                      <a:srgbClr val="FFFFFF"/>
                    </a:solidFill>
                  </a:tcPr>
                </a:tc>
                <a:tc>
                  <a:txBody>
                    <a:bodyPr/>
                    <a:lstStyle/>
                    <a:p>
                      <a:pPr algn="ctr"/>
                      <a:r>
                        <a:rPr sz="1400">
                          <a:solidFill>
                            <a:srgbClr val="333333"/>
                          </a:solidFill>
                          <a:latin typeface="Calibri"/>
                        </a:rPr>
                        <a:t>48.19</a:t>
                      </a:r>
                    </a:p>
                  </a:txBody>
                  <a:tcPr anchor="ctr">
                    <a:solidFill>
                      <a:srgbClr val="FFFFFF"/>
                    </a:solidFill>
                  </a:tcPr>
                </a:tc>
                <a:tc>
                  <a:txBody>
                    <a:bodyPr/>
                    <a:lstStyle/>
                    <a:p>
                      <a:pPr algn="ctr"/>
                      <a:r>
                        <a:rPr sz="1400">
                          <a:solidFill>
                            <a:srgbClr val="333333"/>
                          </a:solidFill>
                          <a:latin typeface="Calibri"/>
                        </a:rPr>
                        <a:t>81.35</a:t>
                      </a:r>
                    </a:p>
                  </a:txBody>
                  <a:tcPr anchor="ctr">
                    <a:solidFill>
                      <a:srgbClr val="FFFFFF"/>
                    </a:solidFill>
                  </a:tcPr>
                </a:tc>
              </a:tr>
              <a:tr h="375000">
                <a:tc>
                  <a:txBody>
                    <a:bodyPr/>
                    <a:lstStyle/>
                    <a:p>
                      <a:pPr algn="ctr"/>
                      <a:r>
                        <a:rPr sz="1400">
                          <a:solidFill>
                            <a:srgbClr val="333333"/>
                          </a:solidFill>
                          <a:latin typeface="Calibri"/>
                        </a:rPr>
                        <a:t>2</a:t>
                      </a:r>
                    </a:p>
                  </a:txBody>
                  <a:tcPr anchor="ctr">
                    <a:solidFill>
                      <a:srgbClr val="EDF1F7"/>
                    </a:solidFill>
                  </a:tcPr>
                </a:tc>
                <a:tc>
                  <a:txBody>
                    <a:bodyPr/>
                    <a:lstStyle/>
                    <a:p>
                      <a:pPr algn="ctr"/>
                      <a:r>
                        <a:rPr sz="1400">
                          <a:solidFill>
                            <a:srgbClr val="333333"/>
                          </a:solidFill>
                          <a:latin typeface="Calibri"/>
                        </a:rPr>
                        <a:t>52.92</a:t>
                      </a:r>
                    </a:p>
                  </a:txBody>
                  <a:tcPr anchor="ctr">
                    <a:solidFill>
                      <a:srgbClr val="EDF1F7"/>
                    </a:solidFill>
                  </a:tcPr>
                </a:tc>
                <a:tc>
                  <a:txBody>
                    <a:bodyPr/>
                    <a:lstStyle/>
                    <a:p>
                      <a:pPr algn="ctr"/>
                      <a:r>
                        <a:rPr sz="1400">
                          <a:solidFill>
                            <a:srgbClr val="333333"/>
                          </a:solidFill>
                          <a:latin typeface="Calibri"/>
                        </a:rPr>
                        <a:t>90.55</a:t>
                      </a:r>
                    </a:p>
                  </a:txBody>
                  <a:tcPr anchor="ctr">
                    <a:solidFill>
                      <a:srgbClr val="EDF1F7"/>
                    </a:solidFill>
                  </a:tcPr>
                </a:tc>
              </a:tr>
              <a:tr h="375000">
                <a:tc>
                  <a:txBody>
                    <a:bodyPr/>
                    <a:lstStyle/>
                    <a:p>
                      <a:pPr algn="ctr"/>
                      <a:r>
                        <a:rPr sz="1400">
                          <a:solidFill>
                            <a:srgbClr val="333333"/>
                          </a:solidFill>
                          <a:latin typeface="Calibri"/>
                        </a:rPr>
                        <a:t>3</a:t>
                      </a:r>
                    </a:p>
                  </a:txBody>
                  <a:tcPr anchor="ctr">
                    <a:solidFill>
                      <a:srgbClr val="FFFFFF"/>
                    </a:solidFill>
                  </a:tcPr>
                </a:tc>
                <a:tc>
                  <a:txBody>
                    <a:bodyPr/>
                    <a:lstStyle/>
                    <a:p>
                      <a:pPr algn="ctr"/>
                      <a:r>
                        <a:rPr sz="1400">
                          <a:solidFill>
                            <a:srgbClr val="333333"/>
                          </a:solidFill>
                          <a:latin typeface="Calibri"/>
                        </a:rPr>
                        <a:t>238.27</a:t>
                      </a:r>
                    </a:p>
                  </a:txBody>
                  <a:tcPr anchor="ctr">
                    <a:solidFill>
                      <a:srgbClr val="FFFFFF"/>
                    </a:solidFill>
                  </a:tcPr>
                </a:tc>
                <a:tc>
                  <a:txBody>
                    <a:bodyPr/>
                    <a:lstStyle/>
                    <a:p>
                      <a:pPr algn="ctr"/>
                      <a:r>
                        <a:rPr sz="1400">
                          <a:solidFill>
                            <a:srgbClr val="333333"/>
                          </a:solidFill>
                          <a:latin typeface="Calibri"/>
                        </a:rPr>
                        <a:t>273.23</a:t>
                      </a:r>
                    </a:p>
                  </a:txBody>
                  <a:tcPr anchor="ctr">
                    <a:solidFill>
                      <a:srgbClr val="FFFFFF"/>
                    </a:solidFill>
                  </a:tcPr>
                </a:tc>
              </a:tr>
              <a:tr h="375000">
                <a:tc>
                  <a:txBody>
                    <a:bodyPr/>
                    <a:lstStyle/>
                    <a:p>
                      <a:pPr algn="ctr"/>
                      <a:r>
                        <a:rPr sz="1400">
                          <a:solidFill>
                            <a:srgbClr val="333333"/>
                          </a:solidFill>
                          <a:latin typeface="Calibri"/>
                        </a:rPr>
                        <a:t>4</a:t>
                      </a:r>
                    </a:p>
                  </a:txBody>
                  <a:tcPr anchor="ctr">
                    <a:solidFill>
                      <a:srgbClr val="EDF1F7"/>
                    </a:solidFill>
                  </a:tcPr>
                </a:tc>
                <a:tc>
                  <a:txBody>
                    <a:bodyPr/>
                    <a:lstStyle/>
                    <a:p>
                      <a:pPr algn="ctr"/>
                      <a:r>
                        <a:rPr sz="1400">
                          <a:solidFill>
                            <a:srgbClr val="333333"/>
                          </a:solidFill>
                          <a:latin typeface="Calibri"/>
                        </a:rPr>
                        <a:t>599.31</a:t>
                      </a:r>
                    </a:p>
                  </a:txBody>
                  <a:tcPr anchor="ctr">
                    <a:solidFill>
                      <a:srgbClr val="EDF1F7"/>
                    </a:solidFill>
                  </a:tcPr>
                </a:tc>
                <a:tc>
                  <a:txBody>
                    <a:bodyPr/>
                    <a:lstStyle/>
                    <a:p>
                      <a:pPr algn="ctr"/>
                      <a:r>
                        <a:rPr sz="1400">
                          <a:solidFill>
                            <a:srgbClr val="333333"/>
                          </a:solidFill>
                          <a:latin typeface="Calibri"/>
                        </a:rPr>
                        <a:t>661.07</a:t>
                      </a:r>
                    </a:p>
                  </a:txBody>
                  <a:tcPr anchor="ctr">
                    <a:solidFill>
                      <a:srgbClr val="EDF1F7"/>
                    </a:solidFill>
                  </a:tcPr>
                </a:tc>
              </a:tr>
              <a:tr h="375000">
                <a:tc>
                  <a:txBody>
                    <a:bodyPr/>
                    <a:lstStyle/>
                    <a:p>
                      <a:pPr algn="ctr"/>
                      <a:r>
                        <a:rPr sz="1400">
                          <a:solidFill>
                            <a:srgbClr val="333333"/>
                          </a:solidFill>
                          <a:latin typeface="Calibri"/>
                        </a:rPr>
                        <a:t>5</a:t>
                      </a:r>
                    </a:p>
                  </a:txBody>
                  <a:tcPr anchor="ctr">
                    <a:solidFill>
                      <a:srgbClr val="FFFFFF"/>
                    </a:solidFill>
                  </a:tcPr>
                </a:tc>
                <a:tc>
                  <a:txBody>
                    <a:bodyPr/>
                    <a:lstStyle/>
                    <a:p>
                      <a:pPr algn="ctr"/>
                      <a:r>
                        <a:rPr sz="1400">
                          <a:solidFill>
                            <a:srgbClr val="333333"/>
                          </a:solidFill>
                          <a:latin typeface="Calibri"/>
                        </a:rPr>
                        <a:t>687.61</a:t>
                      </a:r>
                    </a:p>
                  </a:txBody>
                  <a:tcPr anchor="ctr">
                    <a:solidFill>
                      <a:srgbClr val="FFFFFF"/>
                    </a:solidFill>
                  </a:tcPr>
                </a:tc>
                <a:tc>
                  <a:txBody>
                    <a:bodyPr/>
                    <a:lstStyle/>
                    <a:p>
                      <a:pPr algn="ctr"/>
                      <a:r>
                        <a:rPr sz="1400">
                          <a:solidFill>
                            <a:srgbClr val="333333"/>
                          </a:solidFill>
                          <a:latin typeface="Calibri"/>
                        </a:rPr>
                        <a:t>798.01</a:t>
                      </a:r>
                    </a:p>
                  </a:txBody>
                  <a:tcPr anchor="ctr">
                    <a:solidFill>
                      <a:srgbClr val="FFFFFF"/>
                    </a:solidFill>
                  </a:tcPr>
                </a:tc>
              </a:tr>
              <a:tr h="375000">
                <a:tc>
                  <a:txBody>
                    <a:bodyPr/>
                    <a:lstStyle/>
                    <a:p>
                      <a:pPr algn="ctr"/>
                      <a:r>
                        <a:rPr sz="1400">
                          <a:solidFill>
                            <a:srgbClr val="333333"/>
                          </a:solidFill>
                          <a:latin typeface="Calibri"/>
                        </a:rPr>
                        <a:t>6</a:t>
                      </a:r>
                    </a:p>
                  </a:txBody>
                  <a:tcPr anchor="ctr">
                    <a:solidFill>
                      <a:srgbClr val="EDF1F7"/>
                    </a:solidFill>
                  </a:tcPr>
                </a:tc>
                <a:tc>
                  <a:txBody>
                    <a:bodyPr/>
                    <a:lstStyle/>
                    <a:p>
                      <a:pPr algn="ctr"/>
                      <a:r>
                        <a:rPr sz="1400">
                          <a:solidFill>
                            <a:srgbClr val="333333"/>
                          </a:solidFill>
                          <a:latin typeface="Calibri"/>
                        </a:rPr>
                        <a:t>844.12</a:t>
                      </a:r>
                    </a:p>
                  </a:txBody>
                  <a:tcPr anchor="ctr">
                    <a:solidFill>
                      <a:srgbClr val="EDF1F7"/>
                    </a:solidFill>
                  </a:tcPr>
                </a:tc>
                <a:tc>
                  <a:txBody>
                    <a:bodyPr/>
                    <a:lstStyle/>
                    <a:p>
                      <a:pPr algn="ctr"/>
                      <a:r>
                        <a:rPr sz="1400">
                          <a:solidFill>
                            <a:srgbClr val="333333"/>
                          </a:solidFill>
                          <a:latin typeface="Calibri"/>
                        </a:rPr>
                        <a:t>951.15</a:t>
                      </a:r>
                    </a:p>
                  </a:txBody>
                  <a:tcPr anchor="ctr">
                    <a:solidFill>
                      <a:srgbClr val="EDF1F7"/>
                    </a:solidFill>
                  </a:tcPr>
                </a:tc>
              </a:tr>
            </a:tbl>
          </a:graphicData>
        </a:graphic>
      </p:graphicFrame>
      <p:sp>
        <p:nvSpPr>
          <p:cNvPr id="5" name="TextBox Caption"/>
          <p:cNvSpPr txBox="1"/>
          <p:nvPr/>
        </p:nvSpPr>
        <p:spPr>
          <a:xfrm>
            <a:off x="1596000" y="4500000"/>
            <a:ext cx="9000000" cy="600000"/>
          </a:xfrm>
          <a:prstGeom prst="rect">
            <a:avLst/>
          </a:prstGeom>
          <a:noFill/>
        </p:spPr>
        <p:txBody>
          <a:bodyPr wrap="square">
            <a:spAutoFit/>
          </a:bodyPr>
          <a:lstStyle/>
          <a:p>
            <a:r>
              <a:rPr sz="1150" i="1">
                <a:solidFill>
                  <a:srgbClr val="666666"/>
                </a:solidFill>
                <a:latin typeface="Calibri"/>
              </a:rPr>
              <a:t>First six modes from the SOLUTION 1 real-eigenvalue tables (main_flexure_v3 / PCB_FTA_assembly .f06 results). Bench-measured resonance for the 0.5mm part: 47.0-47.3Hz (x-axis) / 50.1Hz (y-axis), re-measured after fixing ring-down timing bugs (originally 38.5Hz) — see previous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I2C link + PID completion: essentially lossless end to end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80000"/>
            <a:ext cx="5450000" cy="440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Link completeness (Pi send → Nucleo I2C reception): the Pi's own capture-enumerated seq counter (increments once per camera frame, before detection/send outcome is known) unwrapped and compared against the Nucleo's ISR-level pkts+errs counters — real ground truth on both ends, immune to the separately-known ~4-8% VCP relay line loss (that only affects host-side observability, not the real link).</a:t>
            </a:r>
          </a:p>
          <a:p>
            <a:pPr>
              <a:spcAft>
                <a:spcPts val="900"/>
              </a:spcAft>
            </a:pPr>
            <a:r>
              <a:rPr sz="1250">
                <a:solidFill>
                  <a:srgbClr val="333333"/>
                </a:solidFill>
                <a:latin typeface="Calibri"/>
              </a:rPr>
              <a:t>• </a:t>
            </a:r>
            <a:r>
              <a:rPr sz="1250">
                <a:solidFill>
                  <a:srgbClr val="333333"/>
                </a:solidFill>
                <a:latin typeface="Calibri"/>
              </a:rPr>
              <a:t>Confident packet → completed PID loop: measured via two new firmware counters (confident_pkts=, cseq=). 99.97% (6423/6425) across 3 trials — the single-slot g_latest_beam "mailbox" can in principle drop a packet if two I2C receptions land in the same critical section; measured rate is ~1 in 3200, not a meaningful limiter.</a:t>
            </a:r>
          </a:p>
          <a:p>
            <a:pPr>
              <a:spcAft>
                <a:spcPts val="900"/>
              </a:spcAft>
            </a:pPr>
            <a:r>
              <a:rPr sz="1250">
                <a:solidFill>
                  <a:srgbClr val="333333"/>
                </a:solidFill>
                <a:latin typeface="Calibri"/>
              </a:rPr>
              <a:t>• </a:t>
            </a:r>
            <a:r>
              <a:rPr sz="1250">
                <a:solidFill>
                  <a:srgbClr val="333333"/>
                </a:solidFill>
                <a:latin typeface="Calibri"/>
              </a:rPr>
              <a:t>Not measured: whether the camera driver itself (Picamera2/libcamera) drops frames before Python's capture_array() call returns them — a different, deeper layer than anything checked here.</a:t>
            </a:r>
          </a:p>
        </p:txBody>
      </p:sp>
      <p:graphicFrame>
        <p:nvGraphicFramePr>
          <p:cNvPr id="5" name="Table 4"/>
          <p:cNvGraphicFramePr>
            <a:graphicFrameLocks noGrp="1"/>
          </p:cNvGraphicFramePr>
          <p:nvPr/>
        </p:nvGraphicFramePr>
        <p:xfrm>
          <a:off x="6350000" y="1550000"/>
          <a:ext cx="5250000" cy="2200000"/>
        </p:xfrm>
        <a:graphic>
          <a:graphicData uri="http://schemas.openxmlformats.org/drawingml/2006/table">
            <a:tbl>
              <a:tblPr firstRow="1" bandRow="1">
                <a:tableStyleId>{5C22544A-7EE6-4342-B048-85BDC9FD1C3A}</a:tableStyleId>
              </a:tblPr>
              <a:tblGrid>
                <a:gridCol w="1100000"/>
                <a:gridCol w="1500000"/>
                <a:gridCol w="1900000"/>
                <a:gridCol w="750000"/>
              </a:tblGrid>
              <a:tr h="440000">
                <a:tc>
                  <a:txBody>
                    <a:bodyPr/>
                    <a:lstStyle/>
                    <a:p>
                      <a:pPr algn="ctr"/>
                      <a:r>
                        <a:rPr sz="1250" b="1">
                          <a:solidFill>
                            <a:srgbClr val="FFFFFF"/>
                          </a:solidFill>
                          <a:latin typeface="Calibri"/>
                        </a:rPr>
                        <a:t>Trial</a:t>
                      </a:r>
                    </a:p>
                  </a:txBody>
                  <a:tcPr anchor="ctr">
                    <a:solidFill>
                      <a:srgbClr val="2E5C8A"/>
                    </a:solidFill>
                  </a:tcPr>
                </a:tc>
                <a:tc>
                  <a:txBody>
                    <a:bodyPr/>
                    <a:lstStyle/>
                    <a:p>
                      <a:pPr algn="ctr"/>
                      <a:r>
                        <a:rPr sz="1250" b="1">
                          <a:solidFill>
                            <a:srgbClr val="FFFFFF"/>
                          </a:solidFill>
                          <a:latin typeface="Calibri"/>
                        </a:rPr>
                        <a:t>Pi sends (seq)</a:t>
                      </a:r>
                    </a:p>
                  </a:txBody>
                  <a:tcPr anchor="ctr">
                    <a:solidFill>
                      <a:srgbClr val="2E5C8A"/>
                    </a:solidFill>
                  </a:tcPr>
                </a:tc>
                <a:tc>
                  <a:txBody>
                    <a:bodyPr/>
                    <a:lstStyle/>
                    <a:p>
                      <a:pPr algn="ctr"/>
                      <a:r>
                        <a:rPr sz="1250" b="1">
                          <a:solidFill>
                            <a:srgbClr val="FFFFFF"/>
                          </a:solidFill>
                          <a:latin typeface="Calibri"/>
                        </a:rPr>
                        <a:t>Nucleo registered</a:t>
                      </a:r>
                    </a:p>
                  </a:txBody>
                  <a:tcPr anchor="ctr">
                    <a:solidFill>
                      <a:srgbClr val="2E5C8A"/>
                    </a:solidFill>
                  </a:tcPr>
                </a:tc>
                <a:tc>
                  <a:txBody>
                    <a:bodyPr/>
                    <a:lstStyle/>
                    <a:p>
                      <a:pPr algn="ctr"/>
                      <a:r>
                        <a:rPr sz="1250" b="1">
                          <a:solidFill>
                            <a:srgbClr val="FFFFFF"/>
                          </a:solidFill>
                          <a:latin typeface="Calibri"/>
                        </a:rPr>
                        <a:t>Lost</a:t>
                      </a:r>
                    </a:p>
                  </a:txBody>
                  <a:tcPr anchor="ctr">
                    <a:solidFill>
                      <a:srgbClr val="2E5C8A"/>
                    </a:solidFill>
                  </a:tcPr>
                </a:tc>
              </a:tr>
              <a:tr h="440000">
                <a:tc>
                  <a:txBody>
                    <a:bodyPr/>
                    <a:lstStyle/>
                    <a:p>
                      <a:pPr algn="ctr"/>
                      <a:r>
                        <a:rPr sz="1250">
                          <a:solidFill>
                            <a:srgbClr val="333333"/>
                          </a:solidFill>
                          <a:latin typeface="Calibri"/>
                        </a:rPr>
                        <a:t>1</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r h="440000">
                <a:tc>
                  <a:txBody>
                    <a:bodyPr/>
                    <a:lstStyle/>
                    <a:p>
                      <a:pPr algn="ctr"/>
                      <a:r>
                        <a:rPr sz="1250">
                          <a:solidFill>
                            <a:srgbClr val="333333"/>
                          </a:solidFill>
                          <a:latin typeface="Calibri"/>
                        </a:rPr>
                        <a:t>3</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Total</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bl>
          </a:graphicData>
        </a:graphic>
      </p:graphicFrame>
      <p:sp>
        <p:nvSpPr>
          <p:cNvPr id="6" name="TextBox 5"/>
          <p:cNvSpPr txBox="1"/>
          <p:nvPr/>
        </p:nvSpPr>
        <p:spPr>
          <a:xfrm>
            <a:off x="6350000" y="3850000"/>
            <a:ext cx="5250000" cy="600000"/>
          </a:xfrm>
          <a:prstGeom prst="rect">
            <a:avLst/>
          </a:prstGeom>
          <a:noFill/>
        </p:spPr>
        <p:txBody>
          <a:bodyPr wrap="square">
            <a:spAutoFit/>
          </a:bodyPr>
          <a:lstStyle/>
          <a:p>
            <a:r>
              <a:rPr sz="1050" i="1">
                <a:solidFill>
                  <a:srgbClr val="898781"/>
                </a:solidFill>
                <a:latin typeface="Calibri"/>
              </a:rPr>
              <a:t>0 lost across all 3 trials, ~10,873 real sends -- 8s windows, open_loop/amp off, link-only check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Real control-step timing jitter (current config)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75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Measured via the g_ctrl_step_seq counter (cseq=) -- real per-firing intervals from consecutive firmware tick= deltas, NOT the earlier dac_y-value-change proxy (which silently undercounts near settled periods and produced unusable jitter numbers, see prior entry).</a:t>
            </a:r>
          </a:p>
          <a:p>
            <a:pPr>
              <a:spcAft>
                <a:spcPts val="900"/>
              </a:spcAft>
            </a:pPr>
            <a:r>
              <a:rPr sz="1250">
                <a:solidFill>
                  <a:srgbClr val="333333"/>
                </a:solidFill>
                <a:latin typeface="Calibri"/>
              </a:rPr>
              <a:t>• </a:t>
            </a:r>
            <a:r>
              <a:rPr sz="1250">
                <a:solidFill>
                  <a:srgbClr val="333333"/>
                </a:solidFill>
                <a:latin typeface="Calibri"/>
              </a:rPr>
              <a:t>Kp=1.75/Ki=15, axis2 on, unthrottled, 3 trials pooled: dominant cluster n=6250, mean=2.17ms, std=0.86ms, CV=39.6% — a real, honest consistency number, not the 88-127% chaos the old method gave.</a:t>
            </a:r>
          </a:p>
          <a:p>
            <a:pPr>
              <a:spcAft>
                <a:spcPts val="900"/>
              </a:spcAft>
            </a:pPr>
            <a:r>
              <a:rPr sz="1250">
                <a:solidFill>
                  <a:srgbClr val="333333"/>
                </a:solidFill>
                <a:latin typeface="Calibri"/>
              </a:rPr>
              <a:t>• </a:t>
            </a:r>
            <a:r>
              <a:rPr sz="1250">
                <a:solidFill>
                  <a:srgbClr val="333333"/>
                </a:solidFill>
                <a:latin typeface="Calibri"/>
              </a:rPr>
              <a:t>One 174ms outlier (1 of 6251, 0.016%) excluded from the CV above and shown separately — cseq only increments on a confident detection, so this most likely reflects a brief real detection dropout, not a comms/firmware stall.</a:t>
            </a:r>
          </a:p>
        </p:txBody>
      </p:sp>
      <p:pic>
        <p:nvPicPr>
          <p:cNvPr id="5" name="Picture 4" descr="fta_baseline_jitter_histogram.png"/>
          <p:cNvPicPr>
            <a:picLocks noChangeAspect="1"/>
          </p:cNvPicPr>
          <p:nvPr/>
        </p:nvPicPr>
        <p:blipFill>
          <a:blip r:embed="rId2"/>
          <a:stretch>
            <a:fillRect/>
          </a:stretch>
        </p:blipFill>
        <p:spPr>
          <a:xfrm>
            <a:off x="3081000" y="3050000"/>
            <a:ext cx="6030000" cy="3350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Lead compensator, designed from real Bode data -- still fails, but not from a bug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Designed fz≈15.4Hz / fp≈26Hz via standard phase-margin sizing from the fresh Bode sweep. Coefficient math independently re-derived and verified correct against lead_compute_coeffs()/lead_apply() -- bilinear-transform substitution matches exactly, DC gain ≈1.0, Nyquist-band gain matches the designed fp/fz ratio.</a:t>
            </a:r>
          </a:p>
          <a:p>
            <a:pPr>
              <a:spcAft>
                <a:spcPts val="800"/>
              </a:spcAft>
            </a:pPr>
            <a:r>
              <a:rPr sz="1300">
                <a:solidFill>
                  <a:srgbClr val="333333"/>
                </a:solidFill>
                <a:latin typeface="Calibri"/>
              </a:rPr>
              <a:t>• </a:t>
            </a:r>
            <a:r>
              <a:rPr sz="1300">
                <a:solidFill>
                  <a:srgbClr val="333333"/>
                </a:solidFill>
                <a:latin typeface="Calibri"/>
              </a:rPr>
              <a:t>Tested on hardware (Kp=1.75/Ki=400): 598% overshoot, oscillation building even BEFORE the commanded step -- worse than the 106% no-lead baseline, not better. Genuine instability, not poor damping.</a:t>
            </a:r>
          </a:p>
          <a:p>
            <a:pPr>
              <a:spcAft>
                <a:spcPts val="800"/>
              </a:spcAft>
            </a:pPr>
            <a:r>
              <a:rPr sz="1300">
                <a:solidFill>
                  <a:srgbClr val="333333"/>
                </a:solidFill>
                <a:latin typeface="Calibri"/>
              </a:rPr>
              <a:t>• </a:t>
            </a:r>
            <a:r>
              <a:rPr sz="1300">
                <a:solidFill>
                  <a:srgbClr val="333333"/>
                </a:solidFill>
                <a:latin typeface="Calibri"/>
              </a:rPr>
              <a:t>Loop-gain simulation against the real measured plant data explains why: both configs cross gain=1 a SECOND time right where the resonance's gain is already climbing steeply (well before its 40Hz peak). Any lead compensator adds gain along with phase -- that extra gain lands right in the danger zone and pushes the crossing to a worse point, not a better one.</a:t>
            </a:r>
          </a:p>
        </p:txBody>
      </p:sp>
      <p:graphicFrame>
        <p:nvGraphicFramePr>
          <p:cNvPr id="5" name="Table 4"/>
          <p:cNvGraphicFramePr>
            <a:graphicFrameLocks noGrp="1"/>
          </p:cNvGraphicFramePr>
          <p:nvPr/>
        </p:nvGraphicFramePr>
        <p:xfrm>
          <a:off x="1600000" y="3950000"/>
          <a:ext cx="8900000" cy="1300000"/>
        </p:xfrm>
        <a:graphic>
          <a:graphicData uri="http://schemas.openxmlformats.org/drawingml/2006/table">
            <a:tbl>
              <a:tblPr firstRow="1" bandRow="1">
                <a:tableStyleId>{5C22544A-7EE6-4342-B048-85BDC9FD1C3A}</a:tableStyleId>
              </a:tblPr>
              <a:tblGrid>
                <a:gridCol w="3200000"/>
                <a:gridCol w="2200000"/>
                <a:gridCol w="1800000"/>
                <a:gridCol w="1700000"/>
              </a:tblGrid>
              <a:tr h="433333">
                <a:tc>
                  <a:txBody>
                    <a:bodyPr/>
                    <a:lstStyle/>
                    <a:p>
                      <a:pPr algn="ctr"/>
                      <a:r>
                        <a:rPr sz="1250" b="1">
                          <a:solidFill>
                            <a:srgbClr val="FFFFFF"/>
                          </a:solidFill>
                          <a:latin typeface="Calibri"/>
                        </a:rPr>
                        <a:t>Config</a:t>
                      </a:r>
                    </a:p>
                  </a:txBody>
                  <a:tcPr anchor="ctr">
                    <a:solidFill>
                      <a:srgbClr val="2E5C8A"/>
                    </a:solidFill>
                  </a:tcPr>
                </a:tc>
                <a:tc>
                  <a:txBody>
                    <a:bodyPr/>
                    <a:lstStyle/>
                    <a:p>
                      <a:pPr algn="ctr"/>
                      <a:r>
                        <a:rPr sz="1250" b="1">
                          <a:solidFill>
                            <a:srgbClr val="FFFFFF"/>
                          </a:solidFill>
                          <a:latin typeface="Calibri"/>
                        </a:rPr>
                        <a:t>2nd gain=1 crossover</a:t>
                      </a:r>
                    </a:p>
                  </a:txBody>
                  <a:tcPr anchor="ctr">
                    <a:solidFill>
                      <a:srgbClr val="2E5C8A"/>
                    </a:solidFill>
                  </a:tcPr>
                </a:tc>
                <a:tc>
                  <a:txBody>
                    <a:bodyPr/>
                    <a:lstStyle/>
                    <a:p>
                      <a:pPr algn="ctr"/>
                      <a:r>
                        <a:rPr sz="1250" b="1">
                          <a:solidFill>
                            <a:srgbClr val="FFFFFF"/>
                          </a:solidFill>
                          <a:latin typeface="Calibri"/>
                        </a:rPr>
                        <a:t>phase there</a:t>
                      </a:r>
                    </a:p>
                  </a:txBody>
                  <a:tcPr anchor="ctr">
                    <a:solidFill>
                      <a:srgbClr val="2E5C8A"/>
                    </a:solidFill>
                  </a:tcPr>
                </a:tc>
                <a:tc>
                  <a:txBody>
                    <a:bodyPr/>
                    <a:lstStyle/>
                    <a:p>
                      <a:pPr algn="ctr"/>
                      <a:r>
                        <a:rPr sz="1250" b="1">
                          <a:solidFill>
                            <a:srgbClr val="FFFFFF"/>
                          </a:solidFill>
                          <a:latin typeface="Calibri"/>
                        </a:rPr>
                        <a:t>naive margin</a:t>
                      </a:r>
                    </a:p>
                  </a:txBody>
                  <a:tcPr anchor="ctr">
                    <a:solidFill>
                      <a:srgbClr val="2E5C8A"/>
                    </a:solidFill>
                  </a:tcPr>
                </a:tc>
              </a:tr>
              <a:tr h="433333">
                <a:tc>
                  <a:txBody>
                    <a:bodyPr/>
                    <a:lstStyle/>
                    <a:p>
                      <a:pPr algn="ctr"/>
                      <a:r>
                        <a:rPr sz="1250">
                          <a:solidFill>
                            <a:srgbClr val="333333"/>
                          </a:solidFill>
                          <a:latin typeface="Calibri"/>
                        </a:rPr>
                        <a:t>no lead (baseline)</a:t>
                      </a:r>
                    </a:p>
                  </a:txBody>
                  <a:tcPr anchor="ctr">
                    <a:solidFill>
                      <a:srgbClr val="FFFFFF"/>
                    </a:solidFill>
                  </a:tcPr>
                </a:tc>
                <a:tc>
                  <a:txBody>
                    <a:bodyPr/>
                    <a:lstStyle/>
                    <a:p>
                      <a:pPr algn="ctr"/>
                      <a:r>
                        <a:rPr sz="1250">
                          <a:solidFill>
                            <a:srgbClr val="333333"/>
                          </a:solidFill>
                          <a:latin typeface="Calibri"/>
                        </a:rPr>
                        <a:t>36.4 Hz</a:t>
                      </a:r>
                    </a:p>
                  </a:txBody>
                  <a:tcPr anchor="ctr">
                    <a:solidFill>
                      <a:srgbClr val="FFFFFF"/>
                    </a:solidFill>
                  </a:tcPr>
                </a:tc>
                <a:tc>
                  <a:txBody>
                    <a:bodyPr/>
                    <a:lstStyle/>
                    <a:p>
                      <a:pPr algn="ctr"/>
                      <a:r>
                        <a:rPr sz="1250">
                          <a:solidFill>
                            <a:srgbClr val="333333"/>
                          </a:solidFill>
                          <a:latin typeface="Calibri"/>
                        </a:rPr>
                        <a:t>-217°</a:t>
                      </a:r>
                    </a:p>
                  </a:txBody>
                  <a:tcPr anchor="ctr">
                    <a:solidFill>
                      <a:srgbClr val="FFFFFF"/>
                    </a:solidFill>
                  </a:tcPr>
                </a:tc>
                <a:tc>
                  <a:txBody>
                    <a:bodyPr/>
                    <a:lstStyle/>
                    <a:p>
                      <a:pPr algn="ctr"/>
                      <a:r>
                        <a:rPr sz="1250">
                          <a:solidFill>
                            <a:srgbClr val="333333"/>
                          </a:solidFill>
                          <a:latin typeface="Calibri"/>
                        </a:rPr>
                        <a:t>-37°</a:t>
                      </a:r>
                    </a:p>
                  </a:txBody>
                  <a:tcPr anchor="ctr">
                    <a:solidFill>
                      <a:srgbClr val="FFFFFF"/>
                    </a:solidFill>
                  </a:tcPr>
                </a:tc>
              </a:tr>
              <a:tr h="433334">
                <a:tc>
                  <a:txBody>
                    <a:bodyPr/>
                    <a:lstStyle/>
                    <a:p>
                      <a:pPr algn="ctr"/>
                      <a:r>
                        <a:rPr sz="1250">
                          <a:solidFill>
                            <a:srgbClr val="333333"/>
                          </a:solidFill>
                          <a:latin typeface="Calibri"/>
                        </a:rPr>
                        <a:t>with lead (fz=15.4/fp=26)</a:t>
                      </a:r>
                    </a:p>
                  </a:txBody>
                  <a:tcPr anchor="ctr">
                    <a:solidFill>
                      <a:srgbClr val="F2F4F7"/>
                    </a:solidFill>
                  </a:tcPr>
                </a:tc>
                <a:tc>
                  <a:txBody>
                    <a:bodyPr/>
                    <a:lstStyle/>
                    <a:p>
                      <a:pPr algn="ctr"/>
                      <a:r>
                        <a:rPr sz="1250">
                          <a:solidFill>
                            <a:srgbClr val="333333"/>
                          </a:solidFill>
                          <a:latin typeface="Calibri"/>
                        </a:rPr>
                        <a:t>34.3 Hz</a:t>
                      </a:r>
                    </a:p>
                  </a:txBody>
                  <a:tcPr anchor="ctr">
                    <a:solidFill>
                      <a:srgbClr val="F2F4F7"/>
                    </a:solidFill>
                  </a:tcPr>
                </a:tc>
                <a:tc>
                  <a:txBody>
                    <a:bodyPr/>
                    <a:lstStyle/>
                    <a:p>
                      <a:pPr algn="ctr"/>
                      <a:r>
                        <a:rPr sz="1250">
                          <a:solidFill>
                            <a:srgbClr val="333333"/>
                          </a:solidFill>
                          <a:latin typeface="Calibri"/>
                        </a:rPr>
                        <a:t>-177°</a:t>
                      </a:r>
                    </a:p>
                  </a:txBody>
                  <a:tcPr anchor="ctr">
                    <a:solidFill>
                      <a:srgbClr val="F2F4F7"/>
                    </a:solidFill>
                  </a:tcPr>
                </a:tc>
                <a:tc>
                  <a:txBody>
                    <a:bodyPr/>
                    <a:lstStyle/>
                    <a:p>
                      <a:pPr algn="ctr"/>
                      <a:r>
                        <a:rPr sz="1250">
                          <a:solidFill>
                            <a:srgbClr val="333333"/>
                          </a:solidFill>
                          <a:latin typeface="Calibri"/>
                        </a:rPr>
                        <a:t>+2.6°</a:t>
                      </a:r>
                    </a:p>
                  </a:txBody>
                  <a:tcPr anchor="ctr">
                    <a:solidFill>
                      <a:srgbClr val="F2F4F7"/>
                    </a:solidFill>
                  </a:tcPr>
                </a:tc>
              </a:tr>
            </a:tbl>
          </a:graphicData>
        </a:graphic>
      </p:graphicFrame>
      <p:sp>
        <p:nvSpPr>
          <p:cNvPr id="6" name="TextBox 5"/>
          <p:cNvSpPr txBox="1"/>
          <p:nvPr/>
        </p:nvSpPr>
        <p:spPr>
          <a:xfrm>
            <a:off x="1600000" y="5350000"/>
            <a:ext cx="8900000" cy="700000"/>
          </a:xfrm>
          <a:prstGeom prst="rect">
            <a:avLst/>
          </a:prstGeom>
          <a:noFill/>
        </p:spPr>
        <p:txBody>
          <a:bodyPr wrap="square">
            <a:spAutoFit/>
          </a:bodyPr>
          <a:lstStyle/>
          <a:p>
            <a:r>
              <a:rPr sz="1050" i="1">
                <a:solidFill>
                  <a:srgbClr val="898781"/>
                </a:solidFill>
                <a:latin typeface="Calibri"/>
              </a:rPr>
              <a:t>Caveat: this loop crosses gain=1 three times, so a naive "180+phase" margin isn't strictly valid -- applied to a config already confirmed clean on hardware it predicted instability too. The COMPARATIVE read (lead's crossing is lower and worse) is the trustworthy part, not the exact degree values.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Tried a much tighter notch instead -- real hardware says it's worse, not better</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Simulation suggested tightening the notch (Q=3→30) should cost almost nothing in the 10-20Hz band (&lt;0.4% gain change vs. no notch) -- worth testing directly on hardware, no rebuild needed (set_notch is live-tunable).</a:t>
            </a:r>
          </a:p>
          <a:p>
            <a:pPr>
              <a:spcAft>
                <a:spcPts val="800"/>
              </a:spcAft>
            </a:pPr>
            <a:r>
              <a:rPr sz="1300">
                <a:solidFill>
                  <a:srgbClr val="333333"/>
                </a:solidFill>
                <a:latin typeface="Calibri"/>
              </a:rPr>
              <a:t>• </a:t>
            </a:r>
            <a:r>
              <a:rPr sz="1300">
                <a:solidFill>
                  <a:srgbClr val="333333"/>
                </a:solidFill>
                <a:latin typeface="Calibri"/>
              </a:rPr>
              <a:t>Real sweep: Q ∈ {8, 12, 20} × Ki ∈ {200, 400, 600, 800} at Kp=1.75, notch @ 40Hz, throttled 200Hz. ALL 12 combinations were worse than the already-poor Q=3 result, and worse monotonically as Q increased -- Q=20 diverges even at Ki=200, previously safe under both no-notch and Q=3.</a:t>
            </a:r>
          </a:p>
          <a:p>
            <a:pPr>
              <a:spcAft>
                <a:spcPts val="800"/>
              </a:spcAft>
            </a:pPr>
            <a:r>
              <a:rPr sz="1300">
                <a:solidFill>
                  <a:srgbClr val="333333"/>
                </a:solidFill>
                <a:latin typeface="Calibri"/>
              </a:rPr>
              <a:t>• </a:t>
            </a:r>
            <a:r>
              <a:rPr sz="1300">
                <a:solidFill>
                  <a:srgbClr val="333333"/>
                </a:solidFill>
                <a:latin typeface="Calibri"/>
              </a:rPr>
              <a:t>Likely explanation: the simulation only checked magnitude attenuation, never phase. A notch's phase distortion swings across a much wider band than its visible magnitude dip -- at ~200Hz sample rate vs. a 40Hz center (only ~5x oversampled), that phase cost is real and gets worse, not better, as Q tightens.</a:t>
            </a:r>
          </a:p>
          <a:p>
            <a:pPr>
              <a:spcAft>
                <a:spcPts val="800"/>
              </a:spcAft>
            </a:pPr>
            <a:r>
              <a:rPr sz="1300">
                <a:solidFill>
                  <a:srgbClr val="333333"/>
                </a:solidFill>
                <a:latin typeface="Calibri"/>
              </a:rPr>
              <a:t>• </a:t>
            </a:r>
            <a:r>
              <a:rPr sz="1300">
                <a:solidFill>
                  <a:srgbClr val="333333"/>
                </a:solidFill>
                <a:latin typeface="Calibri"/>
              </a:rPr>
              <a:t>Net: D-term, the original Q=3 notch, this higher-Q sweep, and now a correctly-designed lead compensator have ALL failed against this resonance -- four independent approaches. Recommend treating the flexure hardware redesign as the primary path, not further controller tuning.</a:t>
            </a:r>
          </a:p>
        </p:txBody>
      </p:sp>
      <p:graphicFrame>
        <p:nvGraphicFramePr>
          <p:cNvPr id="5" name="Table 4"/>
          <p:cNvGraphicFramePr>
            <a:graphicFrameLocks noGrp="1"/>
          </p:cNvGraphicFramePr>
          <p:nvPr/>
        </p:nvGraphicFramePr>
        <p:xfrm>
          <a:off x="2400000" y="3950000"/>
          <a:ext cx="6900000" cy="2100000"/>
        </p:xfrm>
        <a:graphic>
          <a:graphicData uri="http://schemas.openxmlformats.org/drawingml/2006/table">
            <a:tbl>
              <a:tblPr firstRow="1" bandRow="1">
                <a:tableStyleId>{5C22544A-7EE6-4342-B048-85BDC9FD1C3A}</a:tableStyleId>
              </a:tblPr>
              <a:tblGrid>
                <a:gridCol w="2000000"/>
                <a:gridCol w="2600000"/>
                <a:gridCol w="2300000"/>
              </a:tblGrid>
              <a:tr h="420000">
                <a:tc>
                  <a:txBody>
                    <a:bodyPr/>
                    <a:lstStyle/>
                    <a:p>
                      <a:pPr algn="ctr"/>
                      <a:r>
                        <a:rPr sz="1250" b="1">
                          <a:solidFill>
                            <a:srgbClr val="FFFFFF"/>
                          </a:solidFill>
                          <a:latin typeface="Calibri"/>
                        </a:rPr>
                        <a:t>Notch Q</a:t>
                      </a:r>
                    </a:p>
                  </a:txBody>
                  <a:tcPr anchor="ctr">
                    <a:solidFill>
                      <a:srgbClr val="2E5C8A"/>
                    </a:solidFill>
                  </a:tcPr>
                </a:tc>
                <a:tc>
                  <a:txBody>
                    <a:bodyPr/>
                    <a:lstStyle/>
                    <a:p>
                      <a:pPr algn="ctr"/>
                      <a:r>
                        <a:rPr sz="1250" b="1">
                          <a:solidFill>
                            <a:srgbClr val="FFFFFF"/>
                          </a:solidFill>
                          <a:latin typeface="Calibri"/>
                        </a:rPr>
                        <a:t>Ki=200 verdict</a:t>
                      </a:r>
                    </a:p>
                  </a:txBody>
                  <a:tcPr anchor="ctr">
                    <a:solidFill>
                      <a:srgbClr val="2E5C8A"/>
                    </a:solidFill>
                  </a:tcPr>
                </a:tc>
                <a:tc>
                  <a:txBody>
                    <a:bodyPr/>
                    <a:lstStyle/>
                    <a:p>
                      <a:pPr algn="ctr"/>
                      <a:r>
                        <a:rPr sz="1250" b="1">
                          <a:solidFill>
                            <a:srgbClr val="FFFFFF"/>
                          </a:solidFill>
                          <a:latin typeface="Calibri"/>
                        </a:rPr>
                        <a:t>note</a:t>
                      </a:r>
                    </a:p>
                  </a:txBody>
                  <a:tcPr anchor="ctr">
                    <a:solidFill>
                      <a:srgbClr val="2E5C8A"/>
                    </a:solidFill>
                  </a:tcPr>
                </a:tc>
              </a:tr>
              <a:tr h="420000">
                <a:tc>
                  <a:txBody>
                    <a:bodyPr/>
                    <a:lstStyle/>
                    <a:p>
                      <a:pPr algn="ctr"/>
                      <a:r>
                        <a:rPr sz="1250">
                          <a:solidFill>
                            <a:srgbClr val="333333"/>
                          </a:solidFill>
                          <a:latin typeface="Calibri"/>
                        </a:rPr>
                        <a:t>3 (earlier baseline)</a:t>
                      </a:r>
                    </a:p>
                  </a:txBody>
                  <a:tcPr anchor="ctr">
                    <a:solidFill>
                      <a:srgbClr val="FFFFFF"/>
                    </a:solidFill>
                  </a:tcPr>
                </a:tc>
                <a:tc>
                  <a:txBody>
                    <a:bodyPr/>
                    <a:lstStyle/>
                    <a:p>
                      <a:pPr algn="ctr"/>
                      <a:r>
                        <a:rPr sz="1250">
                          <a:solidFill>
                            <a:srgbClr val="333333"/>
                          </a:solidFill>
                          <a:latin typeface="Calibri"/>
                        </a:rPr>
                        <a:t>CLEAN (9.9% overshoot)</a:t>
                      </a:r>
                    </a:p>
                  </a:txBody>
                  <a:tcPr anchor="ctr">
                    <a:solidFill>
                      <a:srgbClr val="FFFFFF"/>
                    </a:solidFill>
                  </a:tcPr>
                </a:tc>
                <a:tc>
                  <a:txBody>
                    <a:bodyPr/>
                    <a:lstStyle/>
                    <a:p>
                      <a:pPr algn="ctr"/>
                      <a:r>
                        <a:rPr sz="1250">
                          <a:solidFill>
                            <a:srgbClr val="333333"/>
                          </a:solidFill>
                          <a:latin typeface="Calibri"/>
                        </a:rPr>
                        <a:t>already known-good</a:t>
                      </a:r>
                    </a:p>
                  </a:txBody>
                  <a:tcPr anchor="ctr">
                    <a:solidFill>
                      <a:srgbClr val="FFFFFF"/>
                    </a:solidFill>
                  </a:tcPr>
                </a:tc>
              </a:tr>
              <a:tr h="420000">
                <a:tc>
                  <a:txBody>
                    <a:bodyPr/>
                    <a:lstStyle/>
                    <a:p>
                      <a:pPr algn="ctr"/>
                      <a:r>
                        <a:rPr sz="1250">
                          <a:solidFill>
                            <a:srgbClr val="333333"/>
                          </a:solidFill>
                          <a:latin typeface="Calibri"/>
                        </a:rPr>
                        <a:t>8</a:t>
                      </a:r>
                    </a:p>
                  </a:txBody>
                  <a:tcPr anchor="ctr">
                    <a:solidFill>
                      <a:srgbClr val="F2F4F7"/>
                    </a:solidFill>
                  </a:tcPr>
                </a:tc>
                <a:tc>
                  <a:txBody>
                    <a:bodyPr/>
                    <a:lstStyle/>
                    <a:p>
                      <a:pPr algn="ctr"/>
                      <a:r>
                        <a:rPr sz="1250">
                          <a:solidFill>
                            <a:srgbClr val="333333"/>
                          </a:solidFill>
                          <a:latin typeface="Calibri"/>
                        </a:rPr>
                        <a:t>RINGING (91.4%)</a:t>
                      </a:r>
                    </a:p>
                  </a:txBody>
                  <a:tcPr anchor="ctr">
                    <a:solidFill>
                      <a:srgbClr val="F2F4F7"/>
                    </a:solidFill>
                  </a:tcPr>
                </a:tc>
                <a:tc>
                  <a:txBody>
                    <a:bodyPr/>
                    <a:lstStyle/>
                    <a:p>
                      <a:pPr algn="ctr"/>
                      <a:r>
                        <a:rPr sz="1250">
                          <a:solidFill>
                            <a:srgbClr val="333333"/>
                          </a:solidFill>
                          <a:latin typeface="Calibri"/>
                        </a:rPr>
                        <a:t>worse than Q=3</a:t>
                      </a:r>
                    </a:p>
                  </a:txBody>
                  <a:tcPr anchor="ctr">
                    <a:solidFill>
                      <a:srgbClr val="F2F4F7"/>
                    </a:solidFill>
                  </a:tcPr>
                </a:tc>
              </a:tr>
              <a:tr h="420000">
                <a:tc>
                  <a:txBody>
                    <a:bodyPr/>
                    <a:lstStyle/>
                    <a:p>
                      <a:pPr algn="ctr"/>
                      <a:r>
                        <a:rPr sz="1250">
                          <a:solidFill>
                            <a:srgbClr val="333333"/>
                          </a:solidFill>
                          <a:latin typeface="Calibri"/>
                        </a:rPr>
                        <a:t>12</a:t>
                      </a:r>
                    </a:p>
                  </a:txBody>
                  <a:tcPr anchor="ctr">
                    <a:solidFill>
                      <a:srgbClr val="FFFFFF"/>
                    </a:solidFill>
                  </a:tcPr>
                </a:tc>
                <a:tc>
                  <a:txBody>
                    <a:bodyPr/>
                    <a:lstStyle/>
                    <a:p>
                      <a:pPr algn="ctr"/>
                      <a:r>
                        <a:rPr sz="1250">
                          <a:solidFill>
                            <a:srgbClr val="333333"/>
                          </a:solidFill>
                          <a:latin typeface="Calibri"/>
                        </a:rPr>
                        <a:t>GROWING / UNSTABLE</a:t>
                      </a:r>
                    </a:p>
                  </a:txBody>
                  <a:tcPr anchor="ctr">
                    <a:solidFill>
                      <a:srgbClr val="FFFFFF"/>
                    </a:solidFill>
                  </a:tcPr>
                </a:tc>
                <a:tc>
                  <a:txBody>
                    <a:bodyPr/>
                    <a:lstStyle/>
                    <a:p>
                      <a:pPr algn="ctr"/>
                      <a:r>
                        <a:rPr sz="1250">
                          <a:solidFill>
                            <a:srgbClr val="333333"/>
                          </a:solidFill>
                          <a:latin typeface="Calibri"/>
                        </a:rPr>
                        <a:t>worse still</a:t>
                      </a:r>
                    </a:p>
                  </a:txBody>
                  <a:tcPr anchor="ctr">
                    <a:solidFill>
                      <a:srgbClr val="FFFFFF"/>
                    </a:solidFill>
                  </a:tcPr>
                </a:tc>
              </a:tr>
              <a:tr h="420000">
                <a:tc>
                  <a:txBody>
                    <a:bodyPr/>
                    <a:lstStyle/>
                    <a:p>
                      <a:pPr algn="ctr"/>
                      <a:r>
                        <a:rPr sz="1250">
                          <a:solidFill>
                            <a:srgbClr val="333333"/>
                          </a:solidFill>
                          <a:latin typeface="Calibri"/>
                        </a:rPr>
                        <a:t>20</a:t>
                      </a:r>
                    </a:p>
                  </a:txBody>
                  <a:tcPr anchor="ctr">
                    <a:solidFill>
                      <a:srgbClr val="F2F4F7"/>
                    </a:solidFill>
                  </a:tcPr>
                </a:tc>
                <a:tc>
                  <a:txBody>
                    <a:bodyPr/>
                    <a:lstStyle/>
                    <a:p>
                      <a:pPr algn="ctr"/>
                      <a:r>
                        <a:rPr sz="1250">
                          <a:solidFill>
                            <a:srgbClr val="333333"/>
                          </a:solidFill>
                          <a:latin typeface="Calibri"/>
                        </a:rPr>
                        <a:t>DIVERGED</a:t>
                      </a:r>
                    </a:p>
                  </a:txBody>
                  <a:tcPr anchor="ctr">
                    <a:solidFill>
                      <a:srgbClr val="F2F4F7"/>
                    </a:solidFill>
                  </a:tcPr>
                </a:tc>
                <a:tc>
                  <a:txBody>
                    <a:bodyPr/>
                    <a:lstStyle/>
                    <a:p>
                      <a:pPr algn="ctr"/>
                      <a:r>
                        <a:rPr sz="1250">
                          <a:solidFill>
                            <a:srgbClr val="333333"/>
                          </a:solidFill>
                          <a:latin typeface="Calibri"/>
                        </a:rPr>
                        <a:t>unstable even at the safest Ki tested</a:t>
                      </a:r>
                    </a:p>
                  </a:txBody>
                  <a:tcPr anchor="ctr">
                    <a:solidFill>
                      <a:srgbClr val="F2F4F7"/>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Second axis (dac_x -&gt; cy): its own resonance, corroborated two ways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90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First-ever open-loop Bode sweep on this pathway (18 points, 1-55Hz) -- previously only a single ring-down trial and a step-response smoke test existed for this axis.</a:t>
            </a:r>
          </a:p>
          <a:p>
            <a:pPr>
              <a:spcAft>
                <a:spcPts val="800"/>
              </a:spcAft>
            </a:pPr>
            <a:r>
              <a:rPr sz="1300">
                <a:solidFill>
                  <a:srgbClr val="333333"/>
                </a:solidFill>
                <a:latin typeface="Calibri"/>
              </a:rPr>
              <a:t>• </a:t>
            </a:r>
            <a:r>
              <a:rPr sz="1300">
                <a:solidFill>
                  <a:srgbClr val="333333"/>
                </a:solidFill>
                <a:latin typeface="Calibri"/>
              </a:rPr>
              <a:t>Real resonance found at ~47-50Hz (grid-limited), gain peaking at 0.63-0.64 px/count vs. a ~0.07-0.08 px/count low-frequency baseline (~8x amplification).</a:t>
            </a:r>
          </a:p>
          <a:p>
            <a:pPr>
              <a:spcAft>
                <a:spcPts val="800"/>
              </a:spcAft>
            </a:pPr>
            <a:r>
              <a:rPr sz="1300">
                <a:solidFill>
                  <a:srgbClr val="333333"/>
                </a:solidFill>
                <a:latin typeface="Calibri"/>
              </a:rPr>
              <a:t>• </a:t>
            </a:r>
            <a:r>
              <a:rPr sz="1300">
                <a:solidFill>
                  <a:srgbClr val="333333"/>
                </a:solidFill>
                <a:latin typeface="Calibri"/>
              </a:rPr>
              <a:t>Closely matches the existing ring-down measurement for this SAME axis (50.1Hz) -- two independent methods (forced sine vs. free decay), same answer.</a:t>
            </a:r>
          </a:p>
          <a:p>
            <a:pPr>
              <a:spcAft>
                <a:spcPts val="800"/>
              </a:spcAft>
            </a:pPr>
            <a:r>
              <a:rPr sz="1300">
                <a:solidFill>
                  <a:srgbClr val="333333"/>
                </a:solidFill>
                <a:latin typeface="Calibri"/>
              </a:rPr>
              <a:t>• </a:t>
            </a:r>
            <a:r>
              <a:rPr sz="1300">
                <a:solidFill>
                  <a:srgbClr val="333333"/>
                </a:solidFill>
                <a:latin typeface="Calibri"/>
              </a:rPr>
              <a:t>Gentler than the primary axis's resonance (~8x here vs. ~11x for dac_y-&gt;cx), but in the same 40-50Hz neighborhood -- worth checking whether the two axes share a common physical mode before finalizing the flexure redesign.</a:t>
            </a:r>
          </a:p>
        </p:txBody>
      </p:sp>
      <p:pic>
        <p:nvPicPr>
          <p:cNvPr id="5" name="Picture 4" descr="fta_open_loop_bode_xaxis_summary.png"/>
          <p:cNvPicPr>
            <a:picLocks noChangeAspect="1"/>
          </p:cNvPicPr>
          <p:nvPr/>
        </p:nvPicPr>
        <p:blipFill>
          <a:blip r:embed="rId2"/>
          <a:stretch>
            <a:fillRect/>
          </a:stretch>
        </p:blipFill>
        <p:spPr>
          <a:xfrm>
            <a:off x="4367667" y="3150000"/>
            <a:ext cx="3456666" cy="305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TotalTime>
  <Application>Trio_Office/6.2.8.2$Windows_x86 LibreOffice_project/</Applicat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2026-08-19T12:41:49Z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0</vt:bool>
  </property>
  <property fmtid="{D5CDD505-2E9C-101B-9397-08002B2CF9AE}" pid="10" name="ShareDoc">
    <vt:bool>0</vt:bool>
  </property>
  <property fmtid="{D5CDD505-2E9C-101B-9397-08002B2CF9AE}" pid="11" name="Slides">
    <vt:i4>0</vt:i4>
  </property>
</Properties>
</file>