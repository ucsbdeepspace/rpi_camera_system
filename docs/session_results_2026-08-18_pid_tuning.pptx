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8" r:id="rId25"/>
    <p:sldId id="275" r:id="rId22"/>
    <p:sldId id="276" r:id="rId23"/>
    <p:sldId id="279" r:id="rId26"/>
    <p:sldId id="280" r:id="rId27"/>
    <p:sldId id="284" r:id="rId31"/>
    <p:sldId id="281" r:id="rId28"/>
    <p:sldId id="282" r:id="rId29"/>
    <p:sldId id="283" r:id="rId30"/>
    <p:sldId id="285" r:id="rId32"/>
    <p:sldId id="286" r:id="rId33"/>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20.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18.xml"/><Relationship Id="rId25" Type="http://schemas.openxmlformats.org/officeDocument/2006/relationships/slide" Target="slides/slide21.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26.xml"/><Relationship Id="rId32" Type="http://schemas.openxmlformats.org/officeDocument/2006/relationships/slide" Target="slides/slide30.xml"/><Relationship Id="rId33"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ringdown_x1.png"/><Relationship Id="rId3" Type="http://schemas.openxmlformats.org/officeDocument/2006/relationships/image" Target="../media/image_ringdown_x2.png"/><Relationship Id="rId4" Type="http://schemas.openxmlformats.org/officeDocument/2006/relationships/image" Target="../media/image_ringdown_y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bode_axis1_fresh.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New ring-down measurements, both axes — the resonance behind the updated FEA comparison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500000"/>
          </a:xfrm>
          <a:prstGeom prst="rect">
            <a:avLst/>
          </a:prstGeom>
          <a:noFill/>
        </p:spPr>
        <p:txBody>
          <a:bodyPr wrap="square">
            <a:spAutoFit/>
          </a:bodyPr>
          <a:lstStyle/>
          <a:p>
            <a:r>
              <a:rPr sz="1250">
                <a:solidFill>
                  <a:srgbClr val="333333"/>
                </a:solidFill>
                <a:latin typeface="Calibri"/>
              </a:rPr>
              <a:t>Model-free peak-spacing estimate (dashed curve_fit overlay is unreliable — see annotation on each plot); tick-timestamped, same method as the original 38.5Hz measurement.</a:t>
            </a:r>
          </a:p>
        </p:txBody>
      </p:sp>
      <p:pic>
        <p:nvPicPr>
          <p:cNvPr id="5" name="Picture 4" descr="fta_ringdown_xaxis_20260828T003210Z.png"/>
          <p:cNvPicPr>
            <a:picLocks noChangeAspect="1"/>
          </p:cNvPicPr>
          <p:nvPr/>
        </p:nvPicPr>
        <p:blipFill>
          <a:blip r:embed="rId2"/>
          <a:stretch>
            <a:fillRect/>
          </a:stretch>
        </p:blipFill>
        <p:spPr>
          <a:xfrm>
            <a:off x="457200" y="1650000"/>
            <a:ext cx="3595587" cy="1618000"/>
          </a:xfrm>
          <a:prstGeom prst="rect">
            <a:avLst/>
          </a:prstGeom>
        </p:spPr>
      </p:pic>
      <p:pic>
        <p:nvPicPr>
          <p:cNvPr id="6" name="Picture 5" descr="fta_ringdown_xaxis_20260828T003754Z.png"/>
          <p:cNvPicPr>
            <a:picLocks noChangeAspect="1"/>
          </p:cNvPicPr>
          <p:nvPr/>
        </p:nvPicPr>
        <p:blipFill>
          <a:blip r:embed="rId3"/>
          <a:stretch>
            <a:fillRect/>
          </a:stretch>
        </p:blipFill>
        <p:spPr>
          <a:xfrm>
            <a:off x="4282787" y="1650000"/>
            <a:ext cx="3595587" cy="1618000"/>
          </a:xfrm>
          <a:prstGeom prst="rect">
            <a:avLst/>
          </a:prstGeom>
        </p:spPr>
      </p:pic>
      <p:pic>
        <p:nvPicPr>
          <p:cNvPr id="7" name="Picture 6" descr="fta_ringdown_yaxis_20260828T003403Z_fixed.png"/>
          <p:cNvPicPr>
            <a:picLocks noChangeAspect="1"/>
          </p:cNvPicPr>
          <p:nvPr/>
        </p:nvPicPr>
        <p:blipFill>
          <a:blip r:embed="rId4"/>
          <a:stretch>
            <a:fillRect/>
          </a:stretch>
        </p:blipFill>
        <p:spPr>
          <a:xfrm>
            <a:off x="8108374" y="1650000"/>
            <a:ext cx="3595587" cy="1618000"/>
          </a:xfrm>
          <a:prstGeom prst="rect">
            <a:avLst/>
          </a:prstGeom>
        </p:spPr>
      </p:pic>
      <p:sp>
        <p:nvSpPr>
          <p:cNvPr id="8" name="Caption 1"/>
          <p:cNvSpPr txBox="1"/>
          <p:nvPr/>
        </p:nvSpPr>
        <p:spPr>
          <a:xfrm>
            <a:off x="457200" y="3330000"/>
            <a:ext cx="3595587" cy="700000"/>
          </a:xfrm>
          <a:prstGeom prst="rect">
            <a:avLst/>
          </a:prstGeom>
          <a:noFill/>
        </p:spPr>
        <p:txBody>
          <a:bodyPr wrap="square">
            <a:spAutoFit/>
          </a:bodyPr>
          <a:lstStyle/>
          <a:p>
            <a:r>
              <a:rPr sz="1150" b="1">
                <a:solidFill>
                  <a:srgbClr val="333333"/>
                </a:solidFill>
                <a:latin typeface="Calibri"/>
              </a:rPr>
              <a:t>X-axis, trial 1: 47.3Hz</a:t>
            </a:r>
          </a:p>
          <a:p>
            <a:r>
              <a:rPr sz="1050">
                <a:solidFill>
                  <a:srgbClr val="666666"/>
                </a:solidFill>
                <a:latin typeface="Calibri"/>
              </a:rPr>
              <a:t>dac_y→cx, primary axis</a:t>
            </a:r>
          </a:p>
        </p:txBody>
      </p:sp>
      <p:sp>
        <p:nvSpPr>
          <p:cNvPr id="9" name="Caption 2"/>
          <p:cNvSpPr txBox="1"/>
          <p:nvPr/>
        </p:nvSpPr>
        <p:spPr>
          <a:xfrm>
            <a:off x="4282787" y="3330000"/>
            <a:ext cx="3595587" cy="700000"/>
          </a:xfrm>
          <a:prstGeom prst="rect">
            <a:avLst/>
          </a:prstGeom>
          <a:noFill/>
        </p:spPr>
        <p:txBody>
          <a:bodyPr wrap="square">
            <a:spAutoFit/>
          </a:bodyPr>
          <a:lstStyle/>
          <a:p>
            <a:r>
              <a:rPr sz="1150" b="1">
                <a:solidFill>
                  <a:srgbClr val="333333"/>
                </a:solidFill>
                <a:latin typeface="Calibri"/>
              </a:rPr>
              <a:t>X-axis, trial 2 (immediate repeat): 47.0Hz</a:t>
            </a:r>
          </a:p>
          <a:p>
            <a:r>
              <a:rPr sz="1050">
                <a:solidFill>
                  <a:srgbClr val="666666"/>
                </a:solidFill>
                <a:latin typeface="Calibri"/>
              </a:rPr>
              <a:t>dac_y→cx — tight agreement with trial 1</a:t>
            </a:r>
          </a:p>
        </p:txBody>
      </p:sp>
      <p:sp>
        <p:nvSpPr>
          <p:cNvPr id="10" name="Caption 3"/>
          <p:cNvSpPr txBox="1"/>
          <p:nvPr/>
        </p:nvSpPr>
        <p:spPr>
          <a:xfrm>
            <a:off x="8108374" y="3330000"/>
            <a:ext cx="3595587" cy="700000"/>
          </a:xfrm>
          <a:prstGeom prst="rect">
            <a:avLst/>
          </a:prstGeom>
          <a:noFill/>
        </p:spPr>
        <p:txBody>
          <a:bodyPr wrap="square">
            <a:spAutoFit/>
          </a:bodyPr>
          <a:lstStyle/>
          <a:p>
            <a:r>
              <a:rPr sz="1150" b="1">
                <a:solidFill>
                  <a:srgbClr val="333333"/>
                </a:solidFill>
                <a:latin typeface="Calibri"/>
              </a:rPr>
              <a:t>Y-axis, first-ever trial: 50.1Hz</a:t>
            </a:r>
          </a:p>
          <a:p>
            <a:r>
              <a:rPr sz="1050">
                <a:solidFill>
                  <a:srgbClr val="666666"/>
                </a:solidFill>
                <a:latin typeface="Calibri"/>
              </a:rPr>
              <a:t>dac_x→cy — only one trial so far</a:t>
            </a:r>
          </a:p>
        </p:txBody>
      </p:sp>
      <p:sp>
        <p:nvSpPr>
          <p:cNvPr id="11" name="Note"/>
          <p:cNvSpPr txBox="1"/>
          <p:nvPr/>
        </p:nvSpPr>
        <p:spPr>
          <a:xfrm>
            <a:off x="457200" y="4200000"/>
            <a:ext cx="11246760" cy="700000"/>
          </a:xfrm>
          <a:prstGeom prst="rect">
            <a:avLst/>
          </a:prstGeom>
          <a:noFill/>
        </p:spPr>
        <p:txBody>
          <a:bodyPr wrap="square">
            <a:spAutoFit/>
          </a:bodyPr>
          <a:lstStyle/>
          <a:p>
            <a:r>
              <a:rPr sz="1150" i="1">
                <a:solidFill>
                  <a:srgbClr val="555555"/>
                </a:solidFill>
                <a:latin typeface="Calibri"/>
              </a:rPr>
              <a:t>Both axes land close to each other and notably not close to the previously-documented 38.5Hz. Same trustworthy tick-timestamped peak-spacing method as the original measurement, so this reads as a real, reproducible shift in the physical resonance since then — see next slide for the updated FEA comparison.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re-measured: 38.5Hz → ~47-50Hz — now close to FEA, not 20% below it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600"/>
              </a:spcAft>
            </a:pPr>
            <a:r>
              <a:rPr sz="1150" b="1">
                <a:solidFill>
                  <a:srgbClr val="333333"/>
                </a:solidFill>
                <a:latin typeface="Calibri"/>
              </a:rPr>
              <a:t>Superseded number, stated plainly: </a:t>
            </a:r>
            <a:r>
              <a:rPr sz="1150">
                <a:solidFill>
                  <a:srgbClr val="333333"/>
                </a:solidFill>
                <a:latin typeface="Calibri"/>
              </a:rPr>
              <a:t>38.5Hz (previous bode/ring-down) is superseded — after fixing ring-down timing bugs and testing both axes, the same peak-spacing method now reads 47.0-47.3Hz (x-axis, 2 trials) and 50.1Hz (y-axis, 1 trial). A real physical shift per CLAUDE.md, not a methodology fix; cause not yet identified.</a:t>
            </a:r>
          </a:p>
          <a:p>
            <a:pPr>
              <a:spcAft>
                <a:spcPts val="600"/>
              </a:spcAft>
            </a:pPr>
            <a:r>
              <a:rPr sz="1150">
                <a:solidFill>
                  <a:srgbClr val="333333"/>
                </a:solidFill>
                <a:latin typeface="Calibri"/>
              </a:rPr>
              <a:t>• </a:t>
            </a:r>
            <a:r>
              <a:rPr sz="1150">
                <a:solidFill>
                  <a:srgbClr val="333333"/>
                </a:solidFill>
                <a:latin typeface="Calibri"/>
              </a:rPr>
              <a:t>0.5mm FEA has two close bending modes (48.19Hz, 52.92Hz) — pairing x-axis↔mode 1, y-axis↔mode 2 gives measured/FEA = 0.978 and 0.947: within ~2-5% of FEA, not the ~20% gap previously reported.</a:t>
            </a:r>
          </a:p>
          <a:p>
            <a:pPr>
              <a:spcAft>
                <a:spcPts val="600"/>
              </a:spcAft>
            </a:pPr>
            <a:r>
              <a:rPr sz="1150">
                <a:solidFill>
                  <a:srgbClr val="333333"/>
                </a:solidFill>
                <a:latin typeface="Calibri"/>
              </a:rPr>
              <a:t>• </a:t>
            </a:r>
            <a:r>
              <a:rPr sz="1150">
                <a:solidFill>
                  <a:srgbClr val="333333"/>
                </a:solidFill>
                <a:latin typeface="Calibri"/>
              </a:rPr>
              <a:t>Applying that ~0.95-0.98 ratio (not the old 0.80) to the 0.75mm-arm FEA (81.35Hz, 90.55Hz, below) gives a revised estimate of ~79-86Hz — close to raw FEA, not the ~65/72Hz previously stated.</a:t>
            </a:r>
          </a:p>
          <a:p>
            <a:pPr>
              <a:spcAft>
                <a:spcPts val="600"/>
              </a:spcAft>
            </a:pPr>
            <a:r>
              <a:rPr sz="1150">
                <a:solidFill>
                  <a:srgbClr val="333333"/>
                </a:solidFill>
                <a:latin typeface="Calibri"/>
              </a:rPr>
              <a:t>• </a:t>
            </a:r>
            <a:r>
              <a:rPr sz="1150">
                <a:solidFill>
                  <a:srgbClr val="333333"/>
                </a:solidFill>
                <a:latin typeface="Calibri"/>
              </a:rPr>
              <a:t>Against the 20Hz PID target that's ~4x margin, not the more pessimistic 3.25x previously concluded here — close to what raw FEA always suggested.</a:t>
            </a:r>
          </a:p>
          <a:p>
            <a:pPr>
              <a:spcAft>
                <a:spcPts val="600"/>
              </a:spcAft>
            </a:pPr>
            <a:r>
              <a:rPr sz="1150">
                <a:solidFill>
                  <a:srgbClr val="333333"/>
                </a:solidFill>
                <a:latin typeface="Calibri"/>
              </a:rPr>
              <a:t>• </a:t>
            </a:r>
            <a:r>
              <a:rPr sz="1150" b="1">
                <a:solidFill>
                  <a:srgbClr val="333333"/>
                </a:solidFill>
                <a:latin typeface="Calibri"/>
              </a:rPr>
              <a:t>Open questions: </a:t>
            </a:r>
            <a:r>
              <a:rPr sz="1150">
                <a:solidFill>
                  <a:srgbClr val="333333"/>
                </a:solidFill>
                <a:latin typeface="Calibri"/>
              </a:rPr>
              <a:t>physical cause of the shift unidentified; y-axis has only 1 trial vs. x's 2. Action unchanged: rerun bode + ring-down on the actual 0.75mm part once installed.</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47.0-47.3Hz (x-axis) / 50.1Hz (y-axis), re-measured after fixing ring-down timing bugs (originally 38.5Hz) — see previous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I2C link + PID completion: essentially lossless end to end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80000"/>
            <a:ext cx="5450000" cy="440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Link completeness (Pi send → Nucleo I2C reception): the Pi's own capture-enumerated seq counter (increments once per camera frame, before detection/send outcome is known) unwrapped and compared against the Nucleo's ISR-level pkts+errs counters — real ground truth on both ends, immune to the separately-known ~4-8% VCP relay line loss (that only affects host-side observability, not the real link).</a:t>
            </a:r>
          </a:p>
          <a:p>
            <a:pPr>
              <a:spcAft>
                <a:spcPts val="900"/>
              </a:spcAft>
            </a:pPr>
            <a:r>
              <a:rPr sz="1250">
                <a:solidFill>
                  <a:srgbClr val="333333"/>
                </a:solidFill>
                <a:latin typeface="Calibri"/>
              </a:rPr>
              <a:t>• </a:t>
            </a:r>
            <a:r>
              <a:rPr sz="1250">
                <a:solidFill>
                  <a:srgbClr val="333333"/>
                </a:solidFill>
                <a:latin typeface="Calibri"/>
              </a:rPr>
              <a:t>Confident packet → completed PID loop: measured via two new firmware counters (confident_pkts=, cseq=). 99.97% (6423/6425) across 3 trials — the single-slot g_latest_beam "mailbox" can in principle drop a packet if two I2C receptions land in the same critical section; measured rate is ~1 in 3200, not a meaningful limiter.</a:t>
            </a:r>
          </a:p>
          <a:p>
            <a:pPr>
              <a:spcAft>
                <a:spcPts val="900"/>
              </a:spcAft>
            </a:pPr>
            <a:r>
              <a:rPr sz="1250">
                <a:solidFill>
                  <a:srgbClr val="333333"/>
                </a:solidFill>
                <a:latin typeface="Calibri"/>
              </a:rPr>
              <a:t>• </a:t>
            </a:r>
            <a:r>
              <a:rPr sz="1250">
                <a:solidFill>
                  <a:srgbClr val="333333"/>
                </a:solidFill>
                <a:latin typeface="Calibri"/>
              </a:rPr>
              <a:t>Not measured: whether the camera driver itself (Picamera2/libcamera) drops frames before Python's capture_array() call returns them — a different, deeper layer than anything checked here.</a:t>
            </a:r>
          </a:p>
        </p:txBody>
      </p:sp>
      <p:graphicFrame>
        <p:nvGraphicFramePr>
          <p:cNvPr id="5" name="Table 4"/>
          <p:cNvGraphicFramePr>
            <a:graphicFrameLocks noGrp="1"/>
          </p:cNvGraphicFramePr>
          <p:nvPr/>
        </p:nvGraphicFramePr>
        <p:xfrm>
          <a:off x="6350000" y="1550000"/>
          <a:ext cx="5250000" cy="2200000"/>
        </p:xfrm>
        <a:graphic>
          <a:graphicData uri="http://schemas.openxmlformats.org/drawingml/2006/table">
            <a:tbl>
              <a:tblPr firstRow="1" bandRow="1">
                <a:tableStyleId>{5C22544A-7EE6-4342-B048-85BDC9FD1C3A}</a:tableStyleId>
              </a:tblPr>
              <a:tblGrid>
                <a:gridCol w="1100000"/>
                <a:gridCol w="1500000"/>
                <a:gridCol w="1900000"/>
                <a:gridCol w="750000"/>
              </a:tblGrid>
              <a:tr h="440000">
                <a:tc>
                  <a:txBody>
                    <a:bodyPr/>
                    <a:lstStyle/>
                    <a:p>
                      <a:pPr algn="ctr"/>
                      <a:r>
                        <a:rPr sz="1250" b="1">
                          <a:solidFill>
                            <a:srgbClr val="FFFFFF"/>
                          </a:solidFill>
                          <a:latin typeface="Calibri"/>
                        </a:rPr>
                        <a:t>Trial</a:t>
                      </a:r>
                    </a:p>
                  </a:txBody>
                  <a:tcPr anchor="ctr">
                    <a:solidFill>
                      <a:srgbClr val="2E5C8A"/>
                    </a:solidFill>
                  </a:tcPr>
                </a:tc>
                <a:tc>
                  <a:txBody>
                    <a:bodyPr/>
                    <a:lstStyle/>
                    <a:p>
                      <a:pPr algn="ctr"/>
                      <a:r>
                        <a:rPr sz="1250" b="1">
                          <a:solidFill>
                            <a:srgbClr val="FFFFFF"/>
                          </a:solidFill>
                          <a:latin typeface="Calibri"/>
                        </a:rPr>
                        <a:t>Pi sends (seq)</a:t>
                      </a:r>
                    </a:p>
                  </a:txBody>
                  <a:tcPr anchor="ctr">
                    <a:solidFill>
                      <a:srgbClr val="2E5C8A"/>
                    </a:solidFill>
                  </a:tcPr>
                </a:tc>
                <a:tc>
                  <a:txBody>
                    <a:bodyPr/>
                    <a:lstStyle/>
                    <a:p>
                      <a:pPr algn="ctr"/>
                      <a:r>
                        <a:rPr sz="1250" b="1">
                          <a:solidFill>
                            <a:srgbClr val="FFFFFF"/>
                          </a:solidFill>
                          <a:latin typeface="Calibri"/>
                        </a:rPr>
                        <a:t>Nucleo registered</a:t>
                      </a:r>
                    </a:p>
                  </a:txBody>
                  <a:tcPr anchor="ctr">
                    <a:solidFill>
                      <a:srgbClr val="2E5C8A"/>
                    </a:solidFill>
                  </a:tcPr>
                </a:tc>
                <a:tc>
                  <a:txBody>
                    <a:bodyPr/>
                    <a:lstStyle/>
                    <a:p>
                      <a:pPr algn="ctr"/>
                      <a:r>
                        <a:rPr sz="1250" b="1">
                          <a:solidFill>
                            <a:srgbClr val="FFFFFF"/>
                          </a:solidFill>
                          <a:latin typeface="Calibri"/>
                        </a:rPr>
                        <a:t>Lost</a:t>
                      </a:r>
                    </a:p>
                  </a:txBody>
                  <a:tcPr anchor="ctr">
                    <a:solidFill>
                      <a:srgbClr val="2E5C8A"/>
                    </a:solidFill>
                  </a:tcPr>
                </a:tc>
              </a:tr>
              <a:tr h="440000">
                <a:tc>
                  <a:txBody>
                    <a:bodyPr/>
                    <a:lstStyle/>
                    <a:p>
                      <a:pPr algn="ctr"/>
                      <a:r>
                        <a:rPr sz="1250">
                          <a:solidFill>
                            <a:srgbClr val="333333"/>
                          </a:solidFill>
                          <a:latin typeface="Calibri"/>
                        </a:rPr>
                        <a:t>1</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r h="440000">
                <a:tc>
                  <a:txBody>
                    <a:bodyPr/>
                    <a:lstStyle/>
                    <a:p>
                      <a:pPr algn="ctr"/>
                      <a:r>
                        <a:rPr sz="1250">
                          <a:solidFill>
                            <a:srgbClr val="333333"/>
                          </a:solidFill>
                          <a:latin typeface="Calibri"/>
                        </a:rPr>
                        <a:t>3</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Total</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bl>
          </a:graphicData>
        </a:graphic>
      </p:graphicFrame>
      <p:sp>
        <p:nvSpPr>
          <p:cNvPr id="6" name="TextBox 5"/>
          <p:cNvSpPr txBox="1"/>
          <p:nvPr/>
        </p:nvSpPr>
        <p:spPr>
          <a:xfrm>
            <a:off x="6350000" y="3850000"/>
            <a:ext cx="5250000" cy="600000"/>
          </a:xfrm>
          <a:prstGeom prst="rect">
            <a:avLst/>
          </a:prstGeom>
          <a:noFill/>
        </p:spPr>
        <p:txBody>
          <a:bodyPr wrap="square">
            <a:spAutoFit/>
          </a:bodyPr>
          <a:lstStyle/>
          <a:p>
            <a:r>
              <a:rPr sz="1050" i="1">
                <a:solidFill>
                  <a:srgbClr val="898781"/>
                </a:solidFill>
                <a:latin typeface="Calibri"/>
              </a:rPr>
              <a:t>0 lost across all 3 trials, ~10,873 real sends -- 8s windows, open_loop/amp off, link-only check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Real control-step timing jitter (current config)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75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Measured via the g_ctrl_step_seq counter (cseq=) -- real per-firing intervals from consecutive firmware tick= deltas, NOT the earlier dac_y-value-change proxy (which silently undercounts near settled periods and produced unusable jitter numbers, see prior entry).</a:t>
            </a:r>
          </a:p>
          <a:p>
            <a:pPr>
              <a:spcAft>
                <a:spcPts val="900"/>
              </a:spcAft>
            </a:pPr>
            <a:r>
              <a:rPr sz="1250">
                <a:solidFill>
                  <a:srgbClr val="333333"/>
                </a:solidFill>
                <a:latin typeface="Calibri"/>
              </a:rPr>
              <a:t>• </a:t>
            </a:r>
            <a:r>
              <a:rPr sz="1250">
                <a:solidFill>
                  <a:srgbClr val="333333"/>
                </a:solidFill>
                <a:latin typeface="Calibri"/>
              </a:rPr>
              <a:t>Kp=1.75/Ki=15, axis2 on, unthrottled, 3 trials pooled: dominant cluster n=6250, mean=2.17ms, std=0.86ms, CV=39.6% — a real, honest consistency number, not the 88-127% chaos the old method gave.</a:t>
            </a:r>
          </a:p>
          <a:p>
            <a:pPr>
              <a:spcAft>
                <a:spcPts val="900"/>
              </a:spcAft>
            </a:pPr>
            <a:r>
              <a:rPr sz="1250">
                <a:solidFill>
                  <a:srgbClr val="333333"/>
                </a:solidFill>
                <a:latin typeface="Calibri"/>
              </a:rPr>
              <a:t>• </a:t>
            </a:r>
            <a:r>
              <a:rPr sz="1250">
                <a:solidFill>
                  <a:srgbClr val="333333"/>
                </a:solidFill>
                <a:latin typeface="Calibri"/>
              </a:rPr>
              <a:t>One 174ms outlier (1 of 6251, 0.016%) excluded from the CV above and shown separately — cseq only increments on a confident detection, so this most likely reflects a brief real detection dropout, not a comms/firmware stall.</a:t>
            </a:r>
          </a:p>
        </p:txBody>
      </p:sp>
      <p:pic>
        <p:nvPicPr>
          <p:cNvPr id="5" name="Picture 4" descr="fta_baseline_jitter_histogram.png"/>
          <p:cNvPicPr>
            <a:picLocks noChangeAspect="1"/>
          </p:cNvPicPr>
          <p:nvPr/>
        </p:nvPicPr>
        <p:blipFill>
          <a:blip r:embed="rId2"/>
          <a:stretch>
            <a:fillRect/>
          </a:stretch>
        </p:blipFill>
        <p:spPr>
          <a:xfrm>
            <a:off x="3081000" y="3050000"/>
            <a:ext cx="6030000" cy="3350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Fresh Bode re-sweep, primary axis (dac_y -&gt; cx) — same resonance shape, used to design the lead compensator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Fresh 18-point re-sweep (1-55Hz, amplitude reduced 300→150 counts for margin) of the same pathway already characterized on 2026-08-19 — re-run to get a clean, trustworthy basis for a new lead-compensator design.</a:t>
            </a:r>
          </a:p>
          <a:p>
            <a:pPr>
              <a:spcAft>
                <a:spcPts val="800"/>
              </a:spcAft>
            </a:pPr>
            <a:r>
              <a:rPr sz="1300">
                <a:solidFill>
                  <a:srgbClr val="333333"/>
                </a:solidFill>
                <a:latin typeface="Calibri"/>
              </a:rPr>
              <a:t>• </a:t>
            </a:r>
            <a:r>
              <a:rPr sz="1300">
                <a:solidFill>
                  <a:srgbClr val="333333"/>
                </a:solidFill>
                <a:latin typeface="Calibri"/>
              </a:rPr>
              <a:t>Confirms the same qualitative shape as the original sweep: flat gain 1-13Hz, real phase margin through 10-20Hz (40° lag at 10Hz, matching almost exactly), then a sharp resonant peak.</a:t>
            </a:r>
          </a:p>
          <a:p>
            <a:pPr>
              <a:spcAft>
                <a:spcPts val="800"/>
              </a:spcAft>
            </a:pPr>
            <a:r>
              <a:rPr sz="1300">
                <a:solidFill>
                  <a:srgbClr val="333333"/>
                </a:solidFill>
                <a:latin typeface="Calibri"/>
              </a:rPr>
              <a:t>• </a:t>
            </a:r>
            <a:r>
              <a:rPr sz="1300">
                <a:solidFill>
                  <a:srgbClr val="333333"/>
                </a:solidFill>
                <a:latin typeface="Calibri"/>
              </a:rPr>
              <a:t>Grid-sampled peak lands at 40Hz (~11x the low-frequency baseline gain) — grid-limited (35/40/44Hz sampled around it), so read as consistent with, not a correction to, either the 38.5Hz or ~47-50Hz ring-down numbers already on record.</a:t>
            </a:r>
          </a:p>
          <a:p>
            <a:pPr>
              <a:spcAft>
                <a:spcPts val="800"/>
              </a:spcAft>
            </a:pPr>
            <a:r>
              <a:rPr sz="1300">
                <a:solidFill>
                  <a:srgbClr val="333333"/>
                </a:solidFill>
                <a:latin typeface="Calibri"/>
              </a:rPr>
              <a:t>• </a:t>
            </a:r>
            <a:r>
              <a:rPr sz="1300">
                <a:solidFill>
                  <a:srgbClr val="333333"/>
                </a:solidFill>
                <a:latin typeface="Calibri"/>
              </a:rPr>
              <a:t>This data was used to design the fz≈15.4Hz/fp≈26Hz lead compensator on the next slide — which failed violently on hardware, tracing back to gain this resonance skirt adds in the 15-35Hz band, not a design or coefficient error.</a:t>
            </a:r>
          </a:p>
        </p:txBody>
      </p:sp>
      <p:pic>
        <p:nvPicPr>
          <p:cNvPr id="5" name="Picture 4" descr="fta_open_loop_bode_20260901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Lead compensator, designed from real Bode data -- still fails, but not from a bug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Designed fz≈15.4Hz / fp≈26Hz via standard phase-margin sizing from the fresh Bode sweep. Coefficient math independently re-derived and verified correct against lead_compute_coeffs()/lead_apply() -- bilinear-transform substitution matches exactly, DC gain ≈1.0, Nyquist-band gain matches the designed fp/fz ratio.</a:t>
            </a:r>
          </a:p>
          <a:p>
            <a:pPr>
              <a:spcAft>
                <a:spcPts val="800"/>
              </a:spcAft>
            </a:pPr>
            <a:r>
              <a:rPr sz="1300">
                <a:solidFill>
                  <a:srgbClr val="333333"/>
                </a:solidFill>
                <a:latin typeface="Calibri"/>
              </a:rPr>
              <a:t>• </a:t>
            </a:r>
            <a:r>
              <a:rPr sz="1300">
                <a:solidFill>
                  <a:srgbClr val="333333"/>
                </a:solidFill>
                <a:latin typeface="Calibri"/>
              </a:rPr>
              <a:t>Tested on hardware (Kp=1.75/Ki=400): 598% overshoot, oscillation building even BEFORE the commanded step -- worse than the 106% no-lead baseline, not better. Genuine instability, not poor damping.</a:t>
            </a:r>
          </a:p>
          <a:p>
            <a:pPr>
              <a:spcAft>
                <a:spcPts val="800"/>
              </a:spcAft>
            </a:pPr>
            <a:r>
              <a:rPr sz="1300">
                <a:solidFill>
                  <a:srgbClr val="333333"/>
                </a:solidFill>
                <a:latin typeface="Calibri"/>
              </a:rPr>
              <a:t>• </a:t>
            </a:r>
            <a:r>
              <a:rPr sz="1300">
                <a:solidFill>
                  <a:srgbClr val="333333"/>
                </a:solidFill>
                <a:latin typeface="Calibri"/>
              </a:rPr>
              <a:t>Loop-gain simulation against the real measured plant data explains why: both configs cross gain=1 a SECOND time right where the resonance's gain is already climbing steeply (well before its 40Hz peak). Any lead compensator adds gain along with phase -- that extra gain lands right in the danger zone and pushes the crossing to a worse point, not a better one.</a:t>
            </a:r>
          </a:p>
        </p:txBody>
      </p:sp>
      <p:graphicFrame>
        <p:nvGraphicFramePr>
          <p:cNvPr id="5" name="Table 4"/>
          <p:cNvGraphicFramePr>
            <a:graphicFrameLocks noGrp="1"/>
          </p:cNvGraphicFramePr>
          <p:nvPr/>
        </p:nvGraphicFramePr>
        <p:xfrm>
          <a:off x="1600000" y="3950000"/>
          <a:ext cx="8900000" cy="1300000"/>
        </p:xfrm>
        <a:graphic>
          <a:graphicData uri="http://schemas.openxmlformats.org/drawingml/2006/table">
            <a:tbl>
              <a:tblPr firstRow="1" bandRow="1">
                <a:tableStyleId>{5C22544A-7EE6-4342-B048-85BDC9FD1C3A}</a:tableStyleId>
              </a:tblPr>
              <a:tblGrid>
                <a:gridCol w="3200000"/>
                <a:gridCol w="2200000"/>
                <a:gridCol w="1800000"/>
                <a:gridCol w="1700000"/>
              </a:tblGrid>
              <a:tr h="433333">
                <a:tc>
                  <a:txBody>
                    <a:bodyPr/>
                    <a:lstStyle/>
                    <a:p>
                      <a:pPr algn="ctr"/>
                      <a:r>
                        <a:rPr sz="1250" b="1">
                          <a:solidFill>
                            <a:srgbClr val="FFFFFF"/>
                          </a:solidFill>
                          <a:latin typeface="Calibri"/>
                        </a:rPr>
                        <a:t>Config</a:t>
                      </a:r>
                    </a:p>
                  </a:txBody>
                  <a:tcPr anchor="ctr">
                    <a:solidFill>
                      <a:srgbClr val="2E5C8A"/>
                    </a:solidFill>
                  </a:tcPr>
                </a:tc>
                <a:tc>
                  <a:txBody>
                    <a:bodyPr/>
                    <a:lstStyle/>
                    <a:p>
                      <a:pPr algn="ctr"/>
                      <a:r>
                        <a:rPr sz="1250" b="1">
                          <a:solidFill>
                            <a:srgbClr val="FFFFFF"/>
                          </a:solidFill>
                          <a:latin typeface="Calibri"/>
                        </a:rPr>
                        <a:t>2nd gain=1 crossover</a:t>
                      </a:r>
                    </a:p>
                  </a:txBody>
                  <a:tcPr anchor="ctr">
                    <a:solidFill>
                      <a:srgbClr val="2E5C8A"/>
                    </a:solidFill>
                  </a:tcPr>
                </a:tc>
                <a:tc>
                  <a:txBody>
                    <a:bodyPr/>
                    <a:lstStyle/>
                    <a:p>
                      <a:pPr algn="ctr"/>
                      <a:r>
                        <a:rPr sz="1250" b="1">
                          <a:solidFill>
                            <a:srgbClr val="FFFFFF"/>
                          </a:solidFill>
                          <a:latin typeface="Calibri"/>
                        </a:rPr>
                        <a:t>phase there</a:t>
                      </a:r>
                    </a:p>
                  </a:txBody>
                  <a:tcPr anchor="ctr">
                    <a:solidFill>
                      <a:srgbClr val="2E5C8A"/>
                    </a:solidFill>
                  </a:tcPr>
                </a:tc>
                <a:tc>
                  <a:txBody>
                    <a:bodyPr/>
                    <a:lstStyle/>
                    <a:p>
                      <a:pPr algn="ctr"/>
                      <a:r>
                        <a:rPr sz="1250" b="1">
                          <a:solidFill>
                            <a:srgbClr val="FFFFFF"/>
                          </a:solidFill>
                          <a:latin typeface="Calibri"/>
                        </a:rPr>
                        <a:t>naive margin</a:t>
                      </a:r>
                    </a:p>
                  </a:txBody>
                  <a:tcPr anchor="ctr">
                    <a:solidFill>
                      <a:srgbClr val="2E5C8A"/>
                    </a:solidFill>
                  </a:tcPr>
                </a:tc>
              </a:tr>
              <a:tr h="433333">
                <a:tc>
                  <a:txBody>
                    <a:bodyPr/>
                    <a:lstStyle/>
                    <a:p>
                      <a:pPr algn="ctr"/>
                      <a:r>
                        <a:rPr sz="1250">
                          <a:solidFill>
                            <a:srgbClr val="333333"/>
                          </a:solidFill>
                          <a:latin typeface="Calibri"/>
                        </a:rPr>
                        <a:t>no lead (baseline)</a:t>
                      </a:r>
                    </a:p>
                  </a:txBody>
                  <a:tcPr anchor="ctr">
                    <a:solidFill>
                      <a:srgbClr val="FFFFFF"/>
                    </a:solidFill>
                  </a:tcPr>
                </a:tc>
                <a:tc>
                  <a:txBody>
                    <a:bodyPr/>
                    <a:lstStyle/>
                    <a:p>
                      <a:pPr algn="ctr"/>
                      <a:r>
                        <a:rPr sz="1250">
                          <a:solidFill>
                            <a:srgbClr val="333333"/>
                          </a:solidFill>
                          <a:latin typeface="Calibri"/>
                        </a:rPr>
                        <a:t>36.4 Hz</a:t>
                      </a:r>
                    </a:p>
                  </a:txBody>
                  <a:tcPr anchor="ctr">
                    <a:solidFill>
                      <a:srgbClr val="FFFFFF"/>
                    </a:solidFill>
                  </a:tcPr>
                </a:tc>
                <a:tc>
                  <a:txBody>
                    <a:bodyPr/>
                    <a:lstStyle/>
                    <a:p>
                      <a:pPr algn="ctr"/>
                      <a:r>
                        <a:rPr sz="1250">
                          <a:solidFill>
                            <a:srgbClr val="333333"/>
                          </a:solidFill>
                          <a:latin typeface="Calibri"/>
                        </a:rPr>
                        <a:t>-217°</a:t>
                      </a:r>
                    </a:p>
                  </a:txBody>
                  <a:tcPr anchor="ctr">
                    <a:solidFill>
                      <a:srgbClr val="FFFFFF"/>
                    </a:solidFill>
                  </a:tcPr>
                </a:tc>
                <a:tc>
                  <a:txBody>
                    <a:bodyPr/>
                    <a:lstStyle/>
                    <a:p>
                      <a:pPr algn="ctr"/>
                      <a:r>
                        <a:rPr sz="1250">
                          <a:solidFill>
                            <a:srgbClr val="333333"/>
                          </a:solidFill>
                          <a:latin typeface="Calibri"/>
                        </a:rPr>
                        <a:t>-37°</a:t>
                      </a:r>
                    </a:p>
                  </a:txBody>
                  <a:tcPr anchor="ctr">
                    <a:solidFill>
                      <a:srgbClr val="FFFFFF"/>
                    </a:solidFill>
                  </a:tcPr>
                </a:tc>
              </a:tr>
              <a:tr h="433334">
                <a:tc>
                  <a:txBody>
                    <a:bodyPr/>
                    <a:lstStyle/>
                    <a:p>
                      <a:pPr algn="ctr"/>
                      <a:r>
                        <a:rPr sz="1250">
                          <a:solidFill>
                            <a:srgbClr val="333333"/>
                          </a:solidFill>
                          <a:latin typeface="Calibri"/>
                        </a:rPr>
                        <a:t>with lead (fz=15.4/fp=26)</a:t>
                      </a:r>
                    </a:p>
                  </a:txBody>
                  <a:tcPr anchor="ctr">
                    <a:solidFill>
                      <a:srgbClr val="F2F4F7"/>
                    </a:solidFill>
                  </a:tcPr>
                </a:tc>
                <a:tc>
                  <a:txBody>
                    <a:bodyPr/>
                    <a:lstStyle/>
                    <a:p>
                      <a:pPr algn="ctr"/>
                      <a:r>
                        <a:rPr sz="1250">
                          <a:solidFill>
                            <a:srgbClr val="333333"/>
                          </a:solidFill>
                          <a:latin typeface="Calibri"/>
                        </a:rPr>
                        <a:t>34.3 Hz</a:t>
                      </a:r>
                    </a:p>
                  </a:txBody>
                  <a:tcPr anchor="ctr">
                    <a:solidFill>
                      <a:srgbClr val="F2F4F7"/>
                    </a:solidFill>
                  </a:tcPr>
                </a:tc>
                <a:tc>
                  <a:txBody>
                    <a:bodyPr/>
                    <a:lstStyle/>
                    <a:p>
                      <a:pPr algn="ctr"/>
                      <a:r>
                        <a:rPr sz="1250">
                          <a:solidFill>
                            <a:srgbClr val="333333"/>
                          </a:solidFill>
                          <a:latin typeface="Calibri"/>
                        </a:rPr>
                        <a:t>-177°</a:t>
                      </a:r>
                    </a:p>
                  </a:txBody>
                  <a:tcPr anchor="ctr">
                    <a:solidFill>
                      <a:srgbClr val="F2F4F7"/>
                    </a:solidFill>
                  </a:tcPr>
                </a:tc>
                <a:tc>
                  <a:txBody>
                    <a:bodyPr/>
                    <a:lstStyle/>
                    <a:p>
                      <a:pPr algn="ctr"/>
                      <a:r>
                        <a:rPr sz="1250">
                          <a:solidFill>
                            <a:srgbClr val="333333"/>
                          </a:solidFill>
                          <a:latin typeface="Calibri"/>
                        </a:rPr>
                        <a:t>+2.6°</a:t>
                      </a:r>
                    </a:p>
                  </a:txBody>
                  <a:tcPr anchor="ctr">
                    <a:solidFill>
                      <a:srgbClr val="F2F4F7"/>
                    </a:solidFill>
                  </a:tcPr>
                </a:tc>
              </a:tr>
            </a:tbl>
          </a:graphicData>
        </a:graphic>
      </p:graphicFrame>
      <p:sp>
        <p:nvSpPr>
          <p:cNvPr id="6" name="TextBox 5"/>
          <p:cNvSpPr txBox="1"/>
          <p:nvPr/>
        </p:nvSpPr>
        <p:spPr>
          <a:xfrm>
            <a:off x="1600000" y="5350000"/>
            <a:ext cx="8900000" cy="700000"/>
          </a:xfrm>
          <a:prstGeom prst="rect">
            <a:avLst/>
          </a:prstGeom>
          <a:noFill/>
        </p:spPr>
        <p:txBody>
          <a:bodyPr wrap="square">
            <a:spAutoFit/>
          </a:bodyPr>
          <a:lstStyle/>
          <a:p>
            <a:r>
              <a:rPr sz="1050" i="1">
                <a:solidFill>
                  <a:srgbClr val="898781"/>
                </a:solidFill>
                <a:latin typeface="Calibri"/>
              </a:rPr>
              <a:t>Caveat: this loop crosses gain=1 three times, so a naive "180+phase" margin isn't strictly valid -- applied to a config already confirmed clean on hardware it predicted instability too. The COMPARATIVE read (lead's crossing is lower and worse) is the trustworthy part, not the exact degree values.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Tried a much tighter notch instead -- real hardware says it's worse, not better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Simulation suggested tightening the notch (Q=3→30) should cost almost nothing in the 10-20Hz band (&lt;0.4% gain change vs. no notch) -- worth testing directly on hardware, no rebuild needed (set_notch is live-tunable).</a:t>
            </a:r>
          </a:p>
          <a:p>
            <a:pPr>
              <a:spcAft>
                <a:spcPts val="800"/>
              </a:spcAft>
            </a:pPr>
            <a:r>
              <a:rPr sz="1300">
                <a:solidFill>
                  <a:srgbClr val="333333"/>
                </a:solidFill>
                <a:latin typeface="Calibri"/>
              </a:rPr>
              <a:t>• </a:t>
            </a:r>
            <a:r>
              <a:rPr sz="1300">
                <a:solidFill>
                  <a:srgbClr val="333333"/>
                </a:solidFill>
                <a:latin typeface="Calibri"/>
              </a:rPr>
              <a:t>Real sweep: Q ∈ {8, 12, 20} × Ki ∈ {200, 400, 600, 800} at Kp=1.75, notch @ 40Hz, throttled 200Hz. ALL 12 combinations were worse than the already-poor Q=3 result, and worse monotonically as Q increased -- Q=20 diverges even at Ki=200, previously safe under both no-notch and Q=3.</a:t>
            </a:r>
          </a:p>
          <a:p>
            <a:pPr>
              <a:spcAft>
                <a:spcPts val="800"/>
              </a:spcAft>
            </a:pPr>
            <a:r>
              <a:rPr sz="1300">
                <a:solidFill>
                  <a:srgbClr val="333333"/>
                </a:solidFill>
                <a:latin typeface="Calibri"/>
              </a:rPr>
              <a:t>• </a:t>
            </a:r>
            <a:r>
              <a:rPr sz="1300">
                <a:solidFill>
                  <a:srgbClr val="333333"/>
                </a:solidFill>
                <a:latin typeface="Calibri"/>
              </a:rPr>
              <a:t>Likely explanation: the simulation only checked magnitude attenuation, never phase. A notch's phase distortion swings across a much wider band than its visible magnitude dip -- at ~200Hz sample rate vs. a 40Hz center (only ~5x oversampled), that phase cost is real and gets worse, not better, as Q tightens.</a:t>
            </a:r>
          </a:p>
          <a:p>
            <a:pPr>
              <a:spcAft>
                <a:spcPts val="800"/>
              </a:spcAft>
            </a:pPr>
            <a:r>
              <a:rPr sz="1300">
                <a:solidFill>
                  <a:srgbClr val="333333"/>
                </a:solidFill>
                <a:latin typeface="Calibri"/>
              </a:rPr>
              <a:t>• </a:t>
            </a:r>
            <a:r>
              <a:rPr sz="1300">
                <a:solidFill>
                  <a:srgbClr val="333333"/>
                </a:solidFill>
                <a:latin typeface="Calibri"/>
              </a:rPr>
              <a:t>Net: D-term, the original Q=3 notch, this higher-Q sweep, and now a correctly-designed lead compensator have ALL failed against this resonance -- four independent approaches. Recommend treating the flexure hardware redesign as the primary path, not further controller tuning.</a:t>
            </a:r>
          </a:p>
        </p:txBody>
      </p:sp>
      <p:graphicFrame>
        <p:nvGraphicFramePr>
          <p:cNvPr id="5" name="Table 4"/>
          <p:cNvGraphicFramePr>
            <a:graphicFrameLocks noGrp="1"/>
          </p:cNvGraphicFramePr>
          <p:nvPr/>
        </p:nvGraphicFramePr>
        <p:xfrm>
          <a:off x="2400000" y="3950000"/>
          <a:ext cx="6900000" cy="2100000"/>
        </p:xfrm>
        <a:graphic>
          <a:graphicData uri="http://schemas.openxmlformats.org/drawingml/2006/table">
            <a:tbl>
              <a:tblPr firstRow="1" bandRow="1">
                <a:tableStyleId>{5C22544A-7EE6-4342-B048-85BDC9FD1C3A}</a:tableStyleId>
              </a:tblPr>
              <a:tblGrid>
                <a:gridCol w="2000000"/>
                <a:gridCol w="2600000"/>
                <a:gridCol w="2300000"/>
              </a:tblGrid>
              <a:tr h="420000">
                <a:tc>
                  <a:txBody>
                    <a:bodyPr/>
                    <a:lstStyle/>
                    <a:p>
                      <a:pPr algn="ctr"/>
                      <a:r>
                        <a:rPr sz="1250" b="1">
                          <a:solidFill>
                            <a:srgbClr val="FFFFFF"/>
                          </a:solidFill>
                          <a:latin typeface="Calibri"/>
                        </a:rPr>
                        <a:t>Notch Q</a:t>
                      </a:r>
                    </a:p>
                  </a:txBody>
                  <a:tcPr anchor="ctr">
                    <a:solidFill>
                      <a:srgbClr val="2E5C8A"/>
                    </a:solidFill>
                  </a:tcPr>
                </a:tc>
                <a:tc>
                  <a:txBody>
                    <a:bodyPr/>
                    <a:lstStyle/>
                    <a:p>
                      <a:pPr algn="ctr"/>
                      <a:r>
                        <a:rPr sz="1250" b="1">
                          <a:solidFill>
                            <a:srgbClr val="FFFFFF"/>
                          </a:solidFill>
                          <a:latin typeface="Calibri"/>
                        </a:rPr>
                        <a:t>Ki=200 verdict</a:t>
                      </a:r>
                    </a:p>
                  </a:txBody>
                  <a:tcPr anchor="ctr">
                    <a:solidFill>
                      <a:srgbClr val="2E5C8A"/>
                    </a:solidFill>
                  </a:tcPr>
                </a:tc>
                <a:tc>
                  <a:txBody>
                    <a:bodyPr/>
                    <a:lstStyle/>
                    <a:p>
                      <a:pPr algn="ctr"/>
                      <a:r>
                        <a:rPr sz="1250" b="1">
                          <a:solidFill>
                            <a:srgbClr val="FFFFFF"/>
                          </a:solidFill>
                          <a:latin typeface="Calibri"/>
                        </a:rPr>
                        <a:t>note</a:t>
                      </a:r>
                    </a:p>
                  </a:txBody>
                  <a:tcPr anchor="ctr">
                    <a:solidFill>
                      <a:srgbClr val="2E5C8A"/>
                    </a:solidFill>
                  </a:tcPr>
                </a:tc>
              </a:tr>
              <a:tr h="420000">
                <a:tc>
                  <a:txBody>
                    <a:bodyPr/>
                    <a:lstStyle/>
                    <a:p>
                      <a:pPr algn="ctr"/>
                      <a:r>
                        <a:rPr sz="1250">
                          <a:solidFill>
                            <a:srgbClr val="333333"/>
                          </a:solidFill>
                          <a:latin typeface="Calibri"/>
                        </a:rPr>
                        <a:t>3 (earlier baseline)</a:t>
                      </a:r>
                    </a:p>
                  </a:txBody>
                  <a:tcPr anchor="ctr">
                    <a:solidFill>
                      <a:srgbClr val="FFFFFF"/>
                    </a:solidFill>
                  </a:tcPr>
                </a:tc>
                <a:tc>
                  <a:txBody>
                    <a:bodyPr/>
                    <a:lstStyle/>
                    <a:p>
                      <a:pPr algn="ctr"/>
                      <a:r>
                        <a:rPr sz="1250">
                          <a:solidFill>
                            <a:srgbClr val="333333"/>
                          </a:solidFill>
                          <a:latin typeface="Calibri"/>
                        </a:rPr>
                        <a:t>CLEAN (9.9% overshoot)</a:t>
                      </a:r>
                    </a:p>
                  </a:txBody>
                  <a:tcPr anchor="ctr">
                    <a:solidFill>
                      <a:srgbClr val="FFFFFF"/>
                    </a:solidFill>
                  </a:tcPr>
                </a:tc>
                <a:tc>
                  <a:txBody>
                    <a:bodyPr/>
                    <a:lstStyle/>
                    <a:p>
                      <a:pPr algn="ctr"/>
                      <a:r>
                        <a:rPr sz="1250">
                          <a:solidFill>
                            <a:srgbClr val="333333"/>
                          </a:solidFill>
                          <a:latin typeface="Calibri"/>
                        </a:rPr>
                        <a:t>already known-good</a:t>
                      </a:r>
                    </a:p>
                  </a:txBody>
                  <a:tcPr anchor="ctr">
                    <a:solidFill>
                      <a:srgbClr val="FFFFFF"/>
                    </a:solidFill>
                  </a:tcPr>
                </a:tc>
              </a:tr>
              <a:tr h="420000">
                <a:tc>
                  <a:txBody>
                    <a:bodyPr/>
                    <a:lstStyle/>
                    <a:p>
                      <a:pPr algn="ctr"/>
                      <a:r>
                        <a:rPr sz="1250">
                          <a:solidFill>
                            <a:srgbClr val="333333"/>
                          </a:solidFill>
                          <a:latin typeface="Calibri"/>
                        </a:rPr>
                        <a:t>8</a:t>
                      </a:r>
                    </a:p>
                  </a:txBody>
                  <a:tcPr anchor="ctr">
                    <a:solidFill>
                      <a:srgbClr val="F2F4F7"/>
                    </a:solidFill>
                  </a:tcPr>
                </a:tc>
                <a:tc>
                  <a:txBody>
                    <a:bodyPr/>
                    <a:lstStyle/>
                    <a:p>
                      <a:pPr algn="ctr"/>
                      <a:r>
                        <a:rPr sz="1250">
                          <a:solidFill>
                            <a:srgbClr val="333333"/>
                          </a:solidFill>
                          <a:latin typeface="Calibri"/>
                        </a:rPr>
                        <a:t>RINGING (91.4%)</a:t>
                      </a:r>
                    </a:p>
                  </a:txBody>
                  <a:tcPr anchor="ctr">
                    <a:solidFill>
                      <a:srgbClr val="F2F4F7"/>
                    </a:solidFill>
                  </a:tcPr>
                </a:tc>
                <a:tc>
                  <a:txBody>
                    <a:bodyPr/>
                    <a:lstStyle/>
                    <a:p>
                      <a:pPr algn="ctr"/>
                      <a:r>
                        <a:rPr sz="1250">
                          <a:solidFill>
                            <a:srgbClr val="333333"/>
                          </a:solidFill>
                          <a:latin typeface="Calibri"/>
                        </a:rPr>
                        <a:t>worse than Q=3</a:t>
                      </a:r>
                    </a:p>
                  </a:txBody>
                  <a:tcPr anchor="ctr">
                    <a:solidFill>
                      <a:srgbClr val="F2F4F7"/>
                    </a:solidFill>
                  </a:tcPr>
                </a:tc>
              </a:tr>
              <a:tr h="420000">
                <a:tc>
                  <a:txBody>
                    <a:bodyPr/>
                    <a:lstStyle/>
                    <a:p>
                      <a:pPr algn="ctr"/>
                      <a:r>
                        <a:rPr sz="1250">
                          <a:solidFill>
                            <a:srgbClr val="333333"/>
                          </a:solidFill>
                          <a:latin typeface="Calibri"/>
                        </a:rPr>
                        <a:t>12</a:t>
                      </a:r>
                    </a:p>
                  </a:txBody>
                  <a:tcPr anchor="ctr">
                    <a:solidFill>
                      <a:srgbClr val="FFFFFF"/>
                    </a:solidFill>
                  </a:tcPr>
                </a:tc>
                <a:tc>
                  <a:txBody>
                    <a:bodyPr/>
                    <a:lstStyle/>
                    <a:p>
                      <a:pPr algn="ctr"/>
                      <a:r>
                        <a:rPr sz="1250">
                          <a:solidFill>
                            <a:srgbClr val="333333"/>
                          </a:solidFill>
                          <a:latin typeface="Calibri"/>
                        </a:rPr>
                        <a:t>GROWING / UNSTABLE</a:t>
                      </a:r>
                    </a:p>
                  </a:txBody>
                  <a:tcPr anchor="ctr">
                    <a:solidFill>
                      <a:srgbClr val="FFFFFF"/>
                    </a:solidFill>
                  </a:tcPr>
                </a:tc>
                <a:tc>
                  <a:txBody>
                    <a:bodyPr/>
                    <a:lstStyle/>
                    <a:p>
                      <a:pPr algn="ctr"/>
                      <a:r>
                        <a:rPr sz="1250">
                          <a:solidFill>
                            <a:srgbClr val="333333"/>
                          </a:solidFill>
                          <a:latin typeface="Calibri"/>
                        </a:rPr>
                        <a:t>worse still</a:t>
                      </a:r>
                    </a:p>
                  </a:txBody>
                  <a:tcPr anchor="ctr">
                    <a:solidFill>
                      <a:srgbClr val="FFFFFF"/>
                    </a:solidFill>
                  </a:tcPr>
                </a:tc>
              </a:tr>
              <a:tr h="420000">
                <a:tc>
                  <a:txBody>
                    <a:bodyPr/>
                    <a:lstStyle/>
                    <a:p>
                      <a:pPr algn="ctr"/>
                      <a:r>
                        <a:rPr sz="1250">
                          <a:solidFill>
                            <a:srgbClr val="333333"/>
                          </a:solidFill>
                          <a:latin typeface="Calibri"/>
                        </a:rPr>
                        <a:t>20</a:t>
                      </a:r>
                    </a:p>
                  </a:txBody>
                  <a:tcPr anchor="ctr">
                    <a:solidFill>
                      <a:srgbClr val="F2F4F7"/>
                    </a:solidFill>
                  </a:tcPr>
                </a:tc>
                <a:tc>
                  <a:txBody>
                    <a:bodyPr/>
                    <a:lstStyle/>
                    <a:p>
                      <a:pPr algn="ctr"/>
                      <a:r>
                        <a:rPr sz="1250">
                          <a:solidFill>
                            <a:srgbClr val="333333"/>
                          </a:solidFill>
                          <a:latin typeface="Calibri"/>
                        </a:rPr>
                        <a:t>DIVERGED</a:t>
                      </a:r>
                    </a:p>
                  </a:txBody>
                  <a:tcPr anchor="ctr">
                    <a:solidFill>
                      <a:srgbClr val="F2F4F7"/>
                    </a:solidFill>
                  </a:tcPr>
                </a:tc>
                <a:tc>
                  <a:txBody>
                    <a:bodyPr/>
                    <a:lstStyle/>
                    <a:p>
                      <a:pPr algn="ctr"/>
                      <a:r>
                        <a:rPr sz="1250">
                          <a:solidFill>
                            <a:srgbClr val="333333"/>
                          </a:solidFill>
                          <a:latin typeface="Calibri"/>
                        </a:rPr>
                        <a:t>unstable even at the safest Ki tested</a:t>
                      </a:r>
                    </a:p>
                  </a:txBody>
                  <a:tcPr anchor="ctr">
                    <a:solidFill>
                      <a:srgbClr val="F2F4F7"/>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Second axis (dac_x -&gt; cy): its own resonance, corroborated two ways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First-ever open-loop Bode sweep on this pathway (18 points, 1-55Hz) -- previously only a single ring-down trial and a step-response smoke test existed for this axis.</a:t>
            </a:r>
          </a:p>
          <a:p>
            <a:pPr>
              <a:spcAft>
                <a:spcPts val="800"/>
              </a:spcAft>
            </a:pPr>
            <a:r>
              <a:rPr sz="1300">
                <a:solidFill>
                  <a:srgbClr val="333333"/>
                </a:solidFill>
                <a:latin typeface="Calibri"/>
              </a:rPr>
              <a:t>• </a:t>
            </a:r>
            <a:r>
              <a:rPr sz="1300">
                <a:solidFill>
                  <a:srgbClr val="333333"/>
                </a:solidFill>
                <a:latin typeface="Calibri"/>
              </a:rPr>
              <a:t>Real resonance found at ~47-50Hz (grid-limited), gain peaking at 0.63-0.64 px/count vs. a ~0.07-0.08 px/count low-frequency baseline (~8x amplification).</a:t>
            </a:r>
          </a:p>
          <a:p>
            <a:pPr>
              <a:spcAft>
                <a:spcPts val="800"/>
              </a:spcAft>
            </a:pPr>
            <a:r>
              <a:rPr sz="1300">
                <a:solidFill>
                  <a:srgbClr val="333333"/>
                </a:solidFill>
                <a:latin typeface="Calibri"/>
              </a:rPr>
              <a:t>• </a:t>
            </a:r>
            <a:r>
              <a:rPr sz="1300">
                <a:solidFill>
                  <a:srgbClr val="333333"/>
                </a:solidFill>
                <a:latin typeface="Calibri"/>
              </a:rPr>
              <a:t>Closely matches the existing ring-down measurement for this SAME axis (50.1Hz) -- two independent methods (forced sine vs. free decay), same answer.</a:t>
            </a:r>
          </a:p>
          <a:p>
            <a:pPr>
              <a:spcAft>
                <a:spcPts val="800"/>
              </a:spcAft>
            </a:pPr>
            <a:r>
              <a:rPr sz="1300">
                <a:solidFill>
                  <a:srgbClr val="333333"/>
                </a:solidFill>
                <a:latin typeface="Calibri"/>
              </a:rPr>
              <a:t>• </a:t>
            </a:r>
            <a:r>
              <a:rPr sz="1300">
                <a:solidFill>
                  <a:srgbClr val="333333"/>
                </a:solidFill>
                <a:latin typeface="Calibri"/>
              </a:rPr>
              <a:t>Gentler than the primary axis's resonance (~8x here vs. ~11x for dac_y-&gt;cx), but in the same 40-50Hz neighborhood -- worth checking whether the two axes share a common physical mode before finalizing the flexure redesign.</a:t>
            </a:r>
          </a:p>
        </p:txBody>
      </p:sp>
      <p:pic>
        <p:nvPicPr>
          <p:cNvPr id="5" name="Picture 4" descr="fta_open_loop_bode_xaxis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Cross-axis coupling test: FEA's independence prediction confirmed on hardware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550000"/>
          </a:xfrm>
          <a:prstGeom prst="rect">
            <a:avLst/>
          </a:prstGeom>
          <a:noFill/>
        </p:spPr>
        <p:txBody>
          <a:bodyPr wrap="square">
            <a:spAutoFit/>
          </a:bodyPr>
          <a:lstStyle/>
          <a:p>
            <a:pPr>
              <a:spcAft>
                <a:spcPts val="700"/>
              </a:spcAft>
            </a:pPr>
            <a:r>
              <a:rPr sz="1300">
                <a:solidFill>
                  <a:srgbClr val="333333"/>
                </a:solidFill>
                <a:latin typeface="Calibri"/>
              </a:rPr>
              <a:t>• </a:t>
            </a:r>
            <a:r>
              <a:rPr sz="1300">
                <a:solidFill>
                  <a:srgbClr val="333333"/>
                </a:solidFill>
                <a:latin typeface="Calibri"/>
              </a:rPr>
              <a:t>FEA predicts the two flexure axes are totally independent modes -- driven each axis at its own resonance (real, large excitation: 154.6px on dac_y@40Hz, 112.5px on dac_x@48.5Hz) and watched the OTHER axis for any response.</a:t>
            </a:r>
          </a:p>
          <a:p>
            <a:pPr>
              <a:spcAft>
                <a:spcPts val="700"/>
              </a:spcAft>
            </a:pPr>
            <a:r>
              <a:rPr sz="1300">
                <a:solidFill>
                  <a:srgbClr val="333333"/>
                </a:solidFill>
                <a:latin typeface="Calibri"/>
              </a:rPr>
              <a:t>• </a:t>
            </a:r>
            <a:r>
              <a:rPr sz="1300">
                <a:solidFill>
                  <a:srgbClr val="333333"/>
                </a:solidFill>
                <a:latin typeface="Calibri"/>
              </a:rPr>
              <a:t>Cross-axis response in both directions was indistinguishable from that axis's own quiet-sitting noise floor (cy: 3.8px vs. 2.8px baseline std; cx: 1.3px vs. 3.5px baseline std) -- no coupling signal in either direction, despite driving right at peak excitation.</a:t>
            </a:r>
          </a:p>
          <a:p>
            <a:pPr>
              <a:spcAft>
                <a:spcPts val="700"/>
              </a:spcAft>
            </a:pPr>
            <a:r>
              <a:rPr sz="1300">
                <a:solidFill>
                  <a:srgbClr val="333333"/>
                </a:solidFill>
                <a:latin typeface="Calibri"/>
              </a:rPr>
              <a:t>• </a:t>
            </a:r>
            <a:r>
              <a:rPr sz="1300">
                <a:solidFill>
                  <a:srgbClr val="333333"/>
                </a:solidFill>
                <a:latin typeface="Calibri"/>
              </a:rPr>
              <a:t>Confirms the FEA prediction with a real measurement, not just consistency with it -- the flexure redesign can treat the two axes as separate problems.</a:t>
            </a:r>
          </a:p>
        </p:txBody>
      </p:sp>
      <p:pic>
        <p:nvPicPr>
          <p:cNvPr id="5" name="Picture 4" descr="scratch_cross_axis_coupling_plot.png"/>
          <p:cNvPicPr>
            <a:picLocks noChangeAspect="1"/>
          </p:cNvPicPr>
          <p:nvPr/>
        </p:nvPicPr>
        <p:blipFill>
          <a:blip r:embed="rId2"/>
          <a:stretch>
            <a:fillRect/>
          </a:stretch>
        </p:blipFill>
        <p:spPr>
          <a:xfrm>
            <a:off x="3003197" y="2750000"/>
            <a:ext cx="6185606" cy="3550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Wire-position ring-down test: a real, partial explanation for the resonance drift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650000"/>
          </a:xfrm>
          <a:prstGeom prst="rect">
            <a:avLst/>
          </a:prstGeom>
          <a:noFill/>
        </p:spPr>
        <p:txBody>
          <a:bodyPr wrap="square">
            <a:spAutoFit/>
          </a:bodyPr>
          <a:lstStyle/>
          <a:p>
            <a:pPr>
              <a:spcAft>
                <a:spcPts val="700"/>
              </a:spcAft>
            </a:pPr>
            <a:r>
              <a:rPr sz="1250">
                <a:solidFill>
                  <a:srgbClr val="333333"/>
                </a:solidFill>
                <a:latin typeface="Calibri"/>
              </a:rPr>
              <a:t>• </a:t>
            </a:r>
            <a:r>
              <a:rPr sz="1250">
                <a:solidFill>
                  <a:srgbClr val="333333"/>
                </a:solidFill>
                <a:latin typeface="Calibri"/>
              </a:rPr>
              <a:t>Tested whether cable routing explains why this project's resonance measurements have drifted session to session -- ring-down on both axes across 4 wire configurations (away / touching one side / touching the other side / back to away).</a:t>
            </a:r>
          </a:p>
          <a:p>
            <a:pPr>
              <a:spcAft>
                <a:spcPts val="700"/>
              </a:spcAft>
            </a:pPr>
            <a:r>
              <a:rPr sz="1250">
                <a:solidFill>
                  <a:srgbClr val="333333"/>
                </a:solidFill>
                <a:latin typeface="Calibri"/>
              </a:rPr>
              <a:t>• </a:t>
            </a:r>
            <a:r>
              <a:rPr sz="1250">
                <a:solidFill>
                  <a:srgbClr val="333333"/>
                </a:solidFill>
                <a:latin typeface="Calibri"/>
              </a:rPr>
              <a:t>Real, reproducible effect on the second axis (dac_x -&gt; cy) only: touching one side pushed the resonance up (~55Hz avg vs. ~50Hz away), touching the other side landed in between (~52Hz) -- the primary axis (dac_y -&gt; cx) stayed flat (39.6-40.7Hz) through every configuration, unaffected.</a:t>
            </a:r>
          </a:p>
          <a:p>
            <a:pPr>
              <a:spcAft>
                <a:spcPts val="700"/>
              </a:spcAft>
            </a:pPr>
            <a:r>
              <a:rPr sz="1250">
                <a:solidFill>
                  <a:srgbClr val="333333"/>
                </a:solidFill>
                <a:latin typeface="Calibri"/>
              </a:rPr>
              <a:t>• </a:t>
            </a:r>
            <a:r>
              <a:rPr sz="1250">
                <a:solidFill>
                  <a:srgbClr val="333333"/>
                </a:solidFill>
                <a:latin typeface="Calibri"/>
              </a:rPr>
              <a:t>The repeat "back to away" trial did NOT cleanly reproduce the original away measurement (43.0/40.8Hz vs. the original 46.9/52.4Hz) -- wire contact is a real, confirmed lever, but it's a partial explanation, not the full story; something else still moves this axis's resonance too.</a:t>
            </a:r>
          </a:p>
          <a:p>
            <a:pPr>
              <a:spcAft>
                <a:spcPts val="700"/>
              </a:spcAft>
            </a:pPr>
            <a:r>
              <a:rPr sz="1250">
                <a:solidFill>
                  <a:srgbClr val="333333"/>
                </a:solidFill>
                <a:latin typeface="Calibri"/>
              </a:rPr>
              <a:t>• </a:t>
            </a:r>
            <a:r>
              <a:rPr sz="1250">
                <a:solidFill>
                  <a:srgbClr val="333333"/>
                </a:solidFill>
                <a:latin typeface="Calibri"/>
              </a:rPr>
              <a:t>Doesn't block anything: the ~47-50Hz figure already used for the FEA comparison sits comfortably inside this session's full observed range (40.8-56.6Hz) -- proceeding with the flexure redesign on that basis remains reasonable.</a:t>
            </a:r>
          </a:p>
        </p:txBody>
      </p:sp>
      <p:pic>
        <p:nvPicPr>
          <p:cNvPr id="5" name="Picture 4" descr="scratch_wire_position_ringdown_plot.png"/>
          <p:cNvPicPr>
            <a:picLocks noChangeAspect="1"/>
          </p:cNvPicPr>
          <p:nvPr/>
        </p:nvPicPr>
        <p:blipFill>
          <a:blip r:embed="rId2"/>
          <a:stretch>
            <a:fillRect/>
          </a:stretch>
        </p:blipFill>
        <p:spPr>
          <a:xfrm>
            <a:off x="3169661" y="3200000"/>
            <a:ext cx="5852678" cy="285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