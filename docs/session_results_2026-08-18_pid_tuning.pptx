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4" r:id="rId31"/>
    <p:sldId id="281" r:id="rId28"/>
    <p:sldId id="282" r:id="rId29"/>
    <p:sldId id="283" r:id="rId30"/>
    <p:sldId id="285" r:id="rId32"/>
    <p:sldId id="286" r:id="rId33"/>
    <p:sldId id="287" r:id="rId34"/>
    <p:sldId id="288" r:id="rId35"/>
    <p:sldId id="289" r:id="rId36"/>
    <p:sldId id="290" r:id="rId37"/>
    <p:sldId id="291" r:id="rId38"/>
    <p:sldId id="292" r:id="rId39"/>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26.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ode_axis1_fresh.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Fresh Bode re-sweep, primary axis (dac_y -&gt; cx) — same resonance shape, used to design the lead compensator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Fresh 18-point re-sweep (1-55Hz, amplitude reduced 300→150 counts for margin) of the same pathway already characterized on 2026-08-19 — re-run to get a clean, trustworthy basis for a new lead-compensator design.</a:t>
            </a:r>
          </a:p>
          <a:p>
            <a:pPr>
              <a:spcAft>
                <a:spcPts val="800"/>
              </a:spcAft>
            </a:pPr>
            <a:r>
              <a:rPr sz="1300">
                <a:solidFill>
                  <a:srgbClr val="333333"/>
                </a:solidFill>
                <a:latin typeface="Calibri"/>
              </a:rPr>
              <a:t>• </a:t>
            </a:r>
            <a:r>
              <a:rPr sz="1300">
                <a:solidFill>
                  <a:srgbClr val="333333"/>
                </a:solidFill>
                <a:latin typeface="Calibri"/>
              </a:rPr>
              <a:t>Confirms the same qualitative shape as the original sweep: flat gain 1-13Hz, real phase margin through 10-20Hz (40° lag at 10Hz, matching almost exactly), then a sharp resonant peak.</a:t>
            </a:r>
          </a:p>
          <a:p>
            <a:pPr>
              <a:spcAft>
                <a:spcPts val="800"/>
              </a:spcAft>
            </a:pPr>
            <a:r>
              <a:rPr sz="1300">
                <a:solidFill>
                  <a:srgbClr val="333333"/>
                </a:solidFill>
                <a:latin typeface="Calibri"/>
              </a:rPr>
              <a:t>• </a:t>
            </a:r>
            <a:r>
              <a:rPr sz="1300">
                <a:solidFill>
                  <a:srgbClr val="333333"/>
                </a:solidFill>
                <a:latin typeface="Calibri"/>
              </a:rPr>
              <a:t>Grid-sampled peak lands at 40Hz (~11x the low-frequency baseline gain) — grid-limited (35/40/44Hz sampled around it), so read as consistent with, not a correction to, either the 38.5Hz or ~47-50Hz ring-down numbers already on record.</a:t>
            </a:r>
          </a:p>
          <a:p>
            <a:pPr>
              <a:spcAft>
                <a:spcPts val="800"/>
              </a:spcAft>
            </a:pPr>
            <a:r>
              <a:rPr sz="1300">
                <a:solidFill>
                  <a:srgbClr val="333333"/>
                </a:solidFill>
                <a:latin typeface="Calibri"/>
              </a:rPr>
              <a:t>• </a:t>
            </a:r>
            <a:r>
              <a:rPr sz="1300">
                <a:solidFill>
                  <a:srgbClr val="333333"/>
                </a:solidFill>
                <a:latin typeface="Calibri"/>
              </a:rPr>
              <a:t>This data was used to design the fz≈15.4Hz/fp≈26Hz lead compensator on the next slide — which failed violently on hardware, tracing back to gain this resonance skirt adds in the 15-35Hz band, not a design or coefficient error.</a:t>
            </a:r>
          </a:p>
        </p:txBody>
      </p:sp>
      <p:pic>
        <p:nvPicPr>
          <p:cNvPr id="5" name="Picture 4" descr="fta_open_loop_bode_20260901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Cross-axis coupling test: FEA's independence prediction confirmed on hardware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5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FEA predicts the two flexure axes are totally independent modes -- driven each axis at its own resonance (real, large excitation: 154.6px on dac_y@40Hz, 112.5px on dac_x@48.5Hz) and watched the OTHER axis for any response.</a:t>
            </a:r>
          </a:p>
          <a:p>
            <a:pPr>
              <a:spcAft>
                <a:spcPts val="700"/>
              </a:spcAft>
            </a:pPr>
            <a:r>
              <a:rPr sz="1300">
                <a:solidFill>
                  <a:srgbClr val="333333"/>
                </a:solidFill>
                <a:latin typeface="Calibri"/>
              </a:rPr>
              <a:t>• </a:t>
            </a:r>
            <a:r>
              <a:rPr sz="1300">
                <a:solidFill>
                  <a:srgbClr val="333333"/>
                </a:solidFill>
                <a:latin typeface="Calibri"/>
              </a:rPr>
              <a:t>Cross-axis response in both directions was indistinguishable from that axis's own quiet-sitting noise floor (cy: 3.8px vs. 2.8px baseline std; cx: 1.3px vs. 3.5px baseline std) -- no coupling signal in either direction, despite driving right at peak excitation.</a:t>
            </a:r>
          </a:p>
          <a:p>
            <a:pPr>
              <a:spcAft>
                <a:spcPts val="700"/>
              </a:spcAft>
            </a:pPr>
            <a:r>
              <a:rPr sz="1300">
                <a:solidFill>
                  <a:srgbClr val="333333"/>
                </a:solidFill>
                <a:latin typeface="Calibri"/>
              </a:rPr>
              <a:t>• </a:t>
            </a:r>
            <a:r>
              <a:rPr sz="1300">
                <a:solidFill>
                  <a:srgbClr val="333333"/>
                </a:solidFill>
                <a:latin typeface="Calibri"/>
              </a:rPr>
              <a:t>Confirms the FEA prediction with a real measurement, not just consistency with it -- the flexure redesign can treat the two axes as separate problems.</a:t>
            </a:r>
          </a:p>
        </p:txBody>
      </p:sp>
      <p:pic>
        <p:nvPicPr>
          <p:cNvPr id="5" name="Picture 4" descr="scratch_cross_axis_coupling_plot.png"/>
          <p:cNvPicPr>
            <a:picLocks noChangeAspect="1"/>
          </p:cNvPicPr>
          <p:nvPr/>
        </p:nvPicPr>
        <p:blipFill>
          <a:blip r:embed="rId2"/>
          <a:stretch>
            <a:fillRect/>
          </a:stretch>
        </p:blipFill>
        <p:spPr>
          <a:xfrm>
            <a:off x="3003197" y="2750000"/>
            <a:ext cx="6185606" cy="3550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Wire-position ring-down test: a real, partial explanation for the resonance drift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Tested whether cable routing explains why this project's resonance measurements have drifted session to session -- ring-down on both axes across 4 wire configurations (away / touching one side / touching the other side / back to away).</a:t>
            </a:r>
          </a:p>
          <a:p>
            <a:pPr>
              <a:spcAft>
                <a:spcPts val="700"/>
              </a:spcAft>
            </a:pPr>
            <a:r>
              <a:rPr sz="1250">
                <a:solidFill>
                  <a:srgbClr val="333333"/>
                </a:solidFill>
                <a:latin typeface="Calibri"/>
              </a:rPr>
              <a:t>• </a:t>
            </a:r>
            <a:r>
              <a:rPr sz="1250">
                <a:solidFill>
                  <a:srgbClr val="333333"/>
                </a:solidFill>
                <a:latin typeface="Calibri"/>
              </a:rPr>
              <a:t>Real, reproducible effect on the second axis (dac_x -&gt; cy) only: touching one side pushed the resonance up (~55Hz avg vs. ~50Hz away), touching the other side landed in between (~52Hz) -- the primary axis (dac_y -&gt; cx) stayed flat (39.6-40.7Hz) through every configuration, unaffected.</a:t>
            </a:r>
          </a:p>
          <a:p>
            <a:pPr>
              <a:spcAft>
                <a:spcPts val="700"/>
              </a:spcAft>
            </a:pPr>
            <a:r>
              <a:rPr sz="1250">
                <a:solidFill>
                  <a:srgbClr val="333333"/>
                </a:solidFill>
                <a:latin typeface="Calibri"/>
              </a:rPr>
              <a:t>• </a:t>
            </a:r>
            <a:r>
              <a:rPr sz="1250">
                <a:solidFill>
                  <a:srgbClr val="333333"/>
                </a:solidFill>
                <a:latin typeface="Calibri"/>
              </a:rPr>
              <a:t>The repeat "back to away" trial did NOT cleanly reproduce the original away measurement (43.0/40.8Hz vs. the original 46.9/52.4Hz) -- wire contact is a real, confirmed lever, but it's a partial explanation, not the full story; something else still moves this axis's resonance too.</a:t>
            </a:r>
          </a:p>
          <a:p>
            <a:pPr>
              <a:spcAft>
                <a:spcPts val="700"/>
              </a:spcAft>
            </a:pPr>
            <a:r>
              <a:rPr sz="1250">
                <a:solidFill>
                  <a:srgbClr val="333333"/>
                </a:solidFill>
                <a:latin typeface="Calibri"/>
              </a:rPr>
              <a:t>• </a:t>
            </a:r>
            <a:r>
              <a:rPr sz="1250">
                <a:solidFill>
                  <a:srgbClr val="333333"/>
                </a:solidFill>
                <a:latin typeface="Calibri"/>
              </a:rPr>
              <a:t>Doesn't block anything: the ~47-50Hz figure already used for the FEA comparison sits comfortably inside this session's full observed range (40.8-56.6Hz) -- proceeding with the flexure redesign on that basis remains reasonable.</a:t>
            </a:r>
          </a:p>
        </p:txBody>
      </p:sp>
      <p:pic>
        <p:nvPicPr>
          <p:cNvPr id="5" name="Picture 4" descr="scratch_wire_position_ringdown_plot.png"/>
          <p:cNvPicPr>
            <a:picLocks noChangeAspect="1"/>
          </p:cNvPicPr>
          <p:nvPr/>
        </p:nvPicPr>
        <p:blipFill>
          <a:blip r:embed="rId2"/>
          <a:stretch>
            <a:fillRect/>
          </a:stretch>
        </p:blipFill>
        <p:spPr>
          <a:xfrm>
            <a:off x="3169661" y="3200000"/>
            <a:ext cx="5852678" cy="2850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Axis 2 (dac_x -&gt; cy) tuned independently for the first time -- beats axis 1's best-ever result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Axis 2 always mirrored axis 1's gains before today -- added independent set_kp2/set_ki2/set_kd2 and set_target_y (needed to command a step at all) to tune it on its own merits.</a:t>
            </a:r>
          </a:p>
          <a:p>
            <a:pPr>
              <a:spcAft>
                <a:spcPts val="700"/>
              </a:spcAft>
            </a:pPr>
            <a:r>
              <a:rPr sz="1300">
                <a:solidFill>
                  <a:srgbClr val="333333"/>
                </a:solidFill>
                <a:latin typeface="Calibri"/>
              </a:rPr>
              <a:t>• </a:t>
            </a:r>
            <a:r>
              <a:rPr sz="1300">
                <a:solidFill>
                  <a:srgbClr val="333333"/>
                </a:solidFill>
                <a:latin typeface="Calibri"/>
              </a:rPr>
              <a:t>Ki bisected at Kp=1.75: real ceiling sits 750-800 (ringing/diverging past that).</a:t>
            </a:r>
          </a:p>
          <a:p>
            <a:pPr>
              <a:spcAft>
                <a:spcPts val="700"/>
              </a:spcAft>
            </a:pPr>
            <a:r>
              <a:rPr sz="1300">
                <a:solidFill>
                  <a:srgbClr val="333333"/>
                </a:solidFill>
                <a:latin typeface="Calibri"/>
              </a:rPr>
              <a:t>• </a:t>
            </a:r>
            <a:r>
              <a:rPr sz="1300">
                <a:solidFill>
                  <a:srgbClr val="333333"/>
                </a:solidFill>
                <a:latin typeface="Calibri"/>
              </a:rPr>
              <a:t>Kp=1.75/Ki=700 chosen: 8.6% overshoot, 68.5ms settling -- clean AND the fastest point tested, beating axis 1's own historical best (141-193ms) with the same methodology.</a:t>
            </a:r>
          </a:p>
        </p:txBody>
      </p:sp>
      <p:pic>
        <p:nvPicPr>
          <p:cNvPr id="5" name="Picture 4" descr="scratch_axis2_ki_bisection_plot.png"/>
          <p:cNvPicPr>
            <a:picLocks noChangeAspect="1"/>
          </p:cNvPicPr>
          <p:nvPr/>
        </p:nvPicPr>
        <p:blipFill>
          <a:blip r:embed="rId2"/>
          <a:stretch>
            <a:fillRect/>
          </a:stretch>
        </p:blipFill>
        <p:spPr>
          <a:xfrm>
            <a:off x="2817154" y="2950000"/>
            <a:ext cx="6557692" cy="3100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 real, severe wire-position instability found on axis 1 -- confirmed and fixed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Small-amplitude testing (motivated by the real disturbance being atmospheric, not periodic) hit a severe, non-monotonic axis-1 degradation -- much bigger than expected from step size alone.</a:t>
            </a:r>
          </a:p>
          <a:p>
            <a:pPr>
              <a:spcAft>
                <a:spcPts val="700"/>
              </a:spcAft>
            </a:pPr>
            <a:r>
              <a:rPr sz="1250">
                <a:solidFill>
                  <a:srgbClr val="333333"/>
                </a:solidFill>
                <a:latin typeface="Calibri"/>
              </a:rPr>
              <a:t>• </a:t>
            </a:r>
            <a:r>
              <a:rPr sz="1250">
                <a:solidFill>
                  <a:srgbClr val="333333"/>
                </a:solidFill>
                <a:latin typeface="Calibri"/>
              </a:rPr>
              <a:t>Isolated to pure P (Kp=1.75, Ki=0, no integral at all): violent, SUSTAINED ~600px oscillation, present even holding a fixed point before any step. This project has never seen Kp=1.75 alone be unstable -- the known P-only boundary is ~Kp=6-6.5, over 3x higher.</a:t>
            </a:r>
          </a:p>
          <a:p>
            <a:pPr>
              <a:spcAft>
                <a:spcPts val="700"/>
              </a:spcAft>
            </a:pPr>
            <a:r>
              <a:rPr sz="1250">
                <a:solidFill>
                  <a:srgbClr val="333333"/>
                </a:solidFill>
                <a:latin typeface="Calibri"/>
              </a:rPr>
              <a:t>• </a:t>
            </a:r>
            <a:r>
              <a:rPr sz="1250">
                <a:solidFill>
                  <a:srgbClr val="333333"/>
                </a:solidFill>
                <a:latin typeface="Calibri"/>
              </a:rPr>
              <a:t>Root cause: the wire manipulation from the same day's wire-position ring-down test -- confirmed by asking the wires be restored to their original position and rerunning the IDENTICAL test.</a:t>
            </a:r>
          </a:p>
          <a:p>
            <a:pPr>
              <a:spcAft>
                <a:spcPts val="700"/>
              </a:spcAft>
            </a:pPr>
            <a:r>
              <a:rPr sz="1250">
                <a:solidFill>
                  <a:srgbClr val="333333"/>
                </a:solidFill>
                <a:latin typeface="Calibri"/>
              </a:rPr>
              <a:t>• </a:t>
            </a:r>
            <a:r>
              <a:rPr sz="1250">
                <a:solidFill>
                  <a:srgbClr val="333333"/>
                </a:solidFill>
                <a:latin typeface="Calibri"/>
              </a:rPr>
              <a:t>A real, standalone finding: wire routing can destabilize this rig's PRIMARY axis's basic closed-loop stability, not just shift the secondary axis's resonance frequency -- worth permanently securing the wires away from the flexure.</a:t>
            </a:r>
          </a:p>
        </p:txBody>
      </p:sp>
      <p:pic>
        <p:nvPicPr>
          <p:cNvPr id="5" name="Picture 4" descr="scratch_wire_instability_before_after.png"/>
          <p:cNvPicPr>
            <a:picLocks noChangeAspect="1"/>
          </p:cNvPicPr>
          <p:nvPr/>
        </p:nvPicPr>
        <p:blipFill>
          <a:blip r:embed="rId2"/>
          <a:stretch>
            <a:fillRect/>
          </a:stretch>
        </p:blipFill>
        <p:spPr>
          <a:xfrm>
            <a:off x="2833981" y="3050000"/>
            <a:ext cx="6524038" cy="2950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The persistent background buzz is the flexure resonance, self-excited at rest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1900000"/>
          </a:xfrm>
          <a:prstGeom prst="rect">
            <a:avLst/>
          </a:prstGeom>
          <a:noFill/>
        </p:spPr>
        <p:txBody>
          <a:bodyPr wrap="square">
            <a:spAutoFit/>
          </a:bodyPr>
          <a:lstStyle/>
          <a:p>
            <a:pPr>
              <a:spcAft>
                <a:spcPts val="600"/>
              </a:spcAft>
            </a:pPr>
            <a:r>
              <a:rPr sz="1200">
                <a:solidFill>
                  <a:srgbClr val="333333"/>
                </a:solidFill>
                <a:latin typeface="Calibri"/>
              </a:rPr>
              <a:t>• </a:t>
            </a:r>
            <a:r>
              <a:rPr sz="1200">
                <a:solidFill>
                  <a:srgbClr val="333333"/>
                </a:solidFill>
                <a:latin typeface="Calibri"/>
              </a:rPr>
              <a:t>Every axis-1 trace all session showed a small, sustained oscillation even holding a fixed point -- FFT'd a genuine zero-step hold on both axes to find out why.</a:t>
            </a:r>
          </a:p>
          <a:p>
            <a:pPr>
              <a:spcAft>
                <a:spcPts val="600"/>
              </a:spcAft>
            </a:pPr>
            <a:r>
              <a:rPr sz="1200">
                <a:solidFill>
                  <a:srgbClr val="333333"/>
                </a:solidFill>
                <a:latin typeface="Calibri"/>
              </a:rPr>
              <a:t>• </a:t>
            </a:r>
            <a:r>
              <a:rPr sz="1200">
                <a:solidFill>
                  <a:srgbClr val="333333"/>
                </a:solidFill>
                <a:latin typeface="Calibri"/>
              </a:rPr>
              <a:t>Axis 1: a single, sharp, dominant peak at ~37Hz -- matches this session's other resonance measurements (Bode ~40Hz, ring-down 39.6-40.7Hz). The buzz IS the resonance, continuously self-excited by the loop.</a:t>
            </a:r>
          </a:p>
          <a:p>
            <a:pPr>
              <a:spcAft>
                <a:spcPts val="600"/>
              </a:spcAft>
            </a:pPr>
            <a:r>
              <a:rPr sz="1200">
                <a:solidFill>
                  <a:srgbClr val="333333"/>
                </a:solidFill>
                <a:latin typeface="Calibri"/>
              </a:rPr>
              <a:t>• </a:t>
            </a:r>
            <a:r>
              <a:rPr sz="1200">
                <a:solidFill>
                  <a:srgbClr val="333333"/>
                </a:solidFill>
                <a:latin typeface="Calibri"/>
              </a:rPr>
              <a:t>Axis 2: dramatically quieter -- noise floor ~7x smaller, only a weak broadband bump, no sharp peak. A third independent signal (with the gentler resonance and better small-step behavior) that axis 2 is the healthier pathway.</a:t>
            </a:r>
          </a:p>
          <a:p>
            <a:pPr>
              <a:spcAft>
                <a:spcPts val="600"/>
              </a:spcAft>
            </a:pPr>
            <a:r>
              <a:rPr sz="1200">
                <a:solidFill>
                  <a:srgbClr val="333333"/>
                </a:solidFill>
                <a:latin typeface="Calibri"/>
              </a:rPr>
              <a:t>• </a:t>
            </a:r>
            <a:r>
              <a:rPr sz="1200">
                <a:solidFill>
                  <a:srgbClr val="333333"/>
                </a:solidFill>
                <a:latin typeface="Calibri"/>
              </a:rPr>
              <a:t>Closes today's last open thread: every finding traces back to the same ~37-40Hz resonance -- the flexure redesign remains the fix, not further controller tuning.</a:t>
            </a:r>
          </a:p>
        </p:txBody>
      </p:sp>
      <p:pic>
        <p:nvPicPr>
          <p:cNvPr id="5" name="Picture 4" descr="scratch_buzz_fft_kp1750_ki200000_20260903T154625.png"/>
          <p:cNvPicPr>
            <a:picLocks noChangeAspect="1"/>
          </p:cNvPicPr>
          <p:nvPr/>
        </p:nvPicPr>
        <p:blipFill>
          <a:blip r:embed="rId2"/>
          <a:stretch>
            <a:fillRect/>
          </a:stretch>
        </p:blipFill>
        <p:spPr>
          <a:xfrm>
            <a:off x="990857" y="3050000"/>
            <a:ext cx="4114285" cy="3200000"/>
          </a:xfrm>
          <a:prstGeom prst="rect">
            <a:avLst/>
          </a:prstGeom>
        </p:spPr>
      </p:pic>
      <p:pic>
        <p:nvPicPr>
          <p:cNvPr id="6" name="Picture 5" descr="scratch_buzz_fft_axis2_kp1750_ki700000_20260903T155518.png"/>
          <p:cNvPicPr>
            <a:picLocks noChangeAspect="1"/>
          </p:cNvPicPr>
          <p:nvPr/>
        </p:nvPicPr>
        <p:blipFill>
          <a:blip r:embed="rId3"/>
          <a:stretch>
            <a:fillRect/>
          </a:stretch>
        </p:blipFill>
        <p:spPr>
          <a:xfrm>
            <a:off x="7086857" y="3050000"/>
            <a:ext cx="4114285" cy="3200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New flexure open-loop Bode sweeps, both axes -- resonance pushed well past 10-20Hz</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1500000"/>
          </a:xfrm>
          <a:prstGeom prst="rect">
            <a:avLst/>
          </a:prstGeom>
          <a:noFill/>
        </p:spPr>
        <p:txBody>
          <a:bodyPr wrap="square">
            <a:spAutoFit/>
          </a:bodyPr>
          <a:lstStyle/>
          <a:p>
            <a:pPr>
              <a:spcAft>
                <a:spcPts val="600"/>
              </a:spcAft>
            </a:pPr>
            <a:r>
              <a:rPr sz="1200">
                <a:solidFill>
                  <a:srgbClr val="333333"/>
                </a:solidFill>
                <a:latin typeface="Calibri"/>
              </a:rPr>
              <a:t>• </a:t>
            </a:r>
            <a:r>
              <a:rPr sz="1200">
                <a:solidFill>
                  <a:srgbClr val="333333"/>
                </a:solidFill>
                <a:latin typeface="Calibri"/>
              </a:rPr>
              <a:t>1-100Hz open-loop sweep (firmware sine generator, amplitude=150 counts, base=2048) on both DAC axes -- the first full-band open-loop characterization of the new (stiffer) flexure.</a:t>
            </a:r>
          </a:p>
          <a:p>
            <a:pPr>
              <a:spcAft>
                <a:spcPts val="600"/>
              </a:spcAft>
            </a:pPr>
            <a:r>
              <a:rPr sz="1200">
                <a:solidFill>
                  <a:srgbClr val="333333"/>
                </a:solidFill>
                <a:latin typeface="Calibri"/>
              </a:rPr>
              <a:t>• </a:t>
            </a:r>
            <a:r>
              <a:rPr sz="1200">
                <a:solidFill>
                  <a:srgbClr val="333333"/>
                </a:solidFill>
                <a:latin typeface="Calibri"/>
              </a:rPr>
              <a:t>Axis 1 (dac_y-&gt;cx): resonance peak at 75Hz (grid-limited), ~4.9x DC gain. Axis 2 (dac_x-&gt;cy): peak at 80Hz, ~5.8x DC gain, visibly cleaner/lower-noise curve. Both roughly 2x the old flexure's ~38-50Hz range.</a:t>
            </a:r>
          </a:p>
          <a:p>
            <a:pPr>
              <a:spcAft>
                <a:spcPts val="600"/>
              </a:spcAft>
            </a:pPr>
            <a:r>
              <a:rPr sz="1200">
                <a:solidFill>
                  <a:srgbClr val="333333"/>
                </a:solidFill>
                <a:latin typeface="Calibri"/>
              </a:rPr>
              <a:t>• </a:t>
            </a:r>
            <a:r>
              <a:rPr sz="1200">
                <a:solidFill>
                  <a:srgbClr val="333333"/>
                </a:solidFill>
                <a:latin typeface="Calibri"/>
              </a:rPr>
              <a:t>Both axes show flat gain and modest phase lag through the 10-20Hz target band (axis 1: 26 deg at 10Hz, 52 deg at 20Hz) -- axis 2's large negative phase at low frequency is a known sign-convention offset (negative static gain), not real lag; its RELATIVE phase growth over the band is comparable to axis 1's.</a:t>
            </a:r>
          </a:p>
          <a:p>
            <a:pPr>
              <a:spcAft>
                <a:spcPts val="600"/>
              </a:spcAft>
            </a:pPr>
            <a:r>
              <a:rPr sz="1200">
                <a:solidFill>
                  <a:srgbClr val="333333"/>
                </a:solidFill>
                <a:latin typeface="Calibri"/>
              </a:rPr>
              <a:t>• </a:t>
            </a:r>
            <a:r>
              <a:rPr sz="1200">
                <a:solidFill>
                  <a:srgbClr val="333333"/>
                </a:solidFill>
                <a:latin typeface="Calibri"/>
              </a:rPr>
              <a:t>Closely matches the FEA-corrected prediction for the 0.75mm flexure arm (~77-80Hz) and the fresh ring-down trials (65.7/80.5Hz) -- three independent measurements converging on the same answer.</a:t>
            </a:r>
          </a:p>
        </p:txBody>
      </p:sp>
      <p:pic>
        <p:nvPicPr>
          <p:cNvPr id="5" name="Picture 4" descr="fta_open_loop_bode_newflexure_summary.png"/>
          <p:cNvPicPr>
            <a:picLocks noChangeAspect="1"/>
          </p:cNvPicPr>
          <p:nvPr/>
        </p:nvPicPr>
        <p:blipFill>
          <a:blip r:embed="rId2"/>
          <a:stretch>
            <a:fillRect/>
          </a:stretch>
        </p:blipFill>
        <p:spPr>
          <a:xfrm>
            <a:off x="696333" y="2650000"/>
            <a:ext cx="4703333" cy="4150000"/>
          </a:xfrm>
          <a:prstGeom prst="rect">
            <a:avLst/>
          </a:prstGeom>
        </p:spPr>
      </p:pic>
      <p:pic>
        <p:nvPicPr>
          <p:cNvPr id="6" name="Picture 5" descr="fta_open_loop_bode_newflexure_xaxis_summary.png"/>
          <p:cNvPicPr>
            <a:picLocks noChangeAspect="1"/>
          </p:cNvPicPr>
          <p:nvPr/>
        </p:nvPicPr>
        <p:blipFill>
          <a:blip r:embed="rId3"/>
          <a:stretch>
            <a:fillRect/>
          </a:stretch>
        </p:blipFill>
        <p:spPr>
          <a:xfrm>
            <a:off x="6792333" y="2650000"/>
            <a:ext cx="4703333" cy="4150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000" b="1">
                <a:solidFill>
                  <a:srgbClr val="1A1A2E"/>
                </a:solidFill>
                <a:latin typeface="Calibri"/>
              </a:rPr>
              <a:t>New flexure, both axes tuned and validated -- real disturbance rejection confirmed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5300000" cy="5500000"/>
          </a:xfrm>
          <a:prstGeom prst="rect">
            <a:avLst/>
          </a:prstGeom>
          <a:noFill/>
        </p:spPr>
        <p:txBody>
          <a:bodyPr wrap="square">
            <a:spAutoFit/>
          </a:bodyPr>
          <a:lstStyle/>
          <a:p>
            <a:pPr>
              <a:spcAft>
                <a:spcPts val="700"/>
              </a:spcAft>
            </a:pPr>
            <a:r>
              <a:rPr sz="1150">
                <a:solidFill>
                  <a:srgbClr val="333333"/>
                </a:solidFill>
                <a:latin typeface="Calibri"/>
              </a:rPr>
              <a:t>• </a:t>
            </a:r>
            <a:r>
              <a:rPr sz="1150">
                <a:solidFill>
                  <a:srgbClr val="333333"/>
                </a:solidFill>
                <a:latin typeface="Calibri"/>
              </a:rPr>
              <a:t>Fresh Kp/Ki gain search on axis 1 (dac_y-&gt;cx): Ki bisected 200-&gt;6400, real ceiling ~5200-5600 -- far above the old flexure's ~200-400. Chose Ki=4800 (Kp=1.75) for margin.</a:t>
            </a:r>
          </a:p>
          <a:p>
            <a:pPr>
              <a:spcAft>
                <a:spcPts val="700"/>
              </a:spcAft>
            </a:pPr>
            <a:r>
              <a:rPr sz="1150">
                <a:solidFill>
                  <a:srgbClr val="333333"/>
                </a:solidFill>
                <a:latin typeface="Calibri"/>
              </a:rPr>
              <a:t>• </a:t>
            </a:r>
            <a:r>
              <a:rPr sz="1150">
                <a:solidFill>
                  <a:srgbClr val="333333"/>
                </a:solidFill>
                <a:latin typeface="Calibri"/>
              </a:rPr>
              <a:t>Kd retried given the higher resonance (~75-80Hz vs old ~38-40Hz) -- still no usable window found (clean at 0.01, unstable by 0.02); Kp headroom above 1.75 found real but useless (no speed gain).</a:t>
            </a:r>
          </a:p>
          <a:p>
            <a:pPr>
              <a:spcAft>
                <a:spcPts val="700"/>
              </a:spcAft>
            </a:pPr>
            <a:r>
              <a:rPr sz="1150">
                <a:solidFill>
                  <a:srgbClr val="333333"/>
                </a:solidFill>
                <a:latin typeface="Calibri"/>
              </a:rPr>
              <a:t>• </a:t>
            </a:r>
            <a:r>
              <a:rPr sz="1150">
                <a:solidFill>
                  <a:srgbClr val="333333"/>
                </a:solidFill>
                <a:latin typeface="Calibri"/>
              </a:rPr>
              <a:t>Found and fixed a real thermal-risk bug along the way: the INACTIVE axis's DAC was left parked at the open-loop floor (95) -- near-MAX drive on this inverting amp, not near-zero -- explaining the amp heat and a real square-wave artifact seen mid-session. Fixed in every closed-loop test script.</a:t>
            </a:r>
          </a:p>
          <a:p>
            <a:pPr>
              <a:spcAft>
                <a:spcPts val="700"/>
              </a:spcAft>
            </a:pPr>
            <a:r>
              <a:rPr sz="1150">
                <a:solidFill>
                  <a:srgbClr val="333333"/>
                </a:solidFill>
                <a:latin typeface="Calibri"/>
              </a:rPr>
              <a:t>• </a:t>
            </a:r>
            <a:r>
              <a:rPr sz="1150">
                <a:solidFill>
                  <a:srgbClr val="333333"/>
                </a:solidFill>
                <a:latin typeface="Calibri"/>
              </a:rPr>
              <a:t>Axis 2 (dac_x-&gt;cy) given its own independent gain search for the first time on this flexure: real ceiling ~2400-2800, lower than axis 1's. Chose Ki=2000 (Kp=1.75) for margin.</a:t>
            </a:r>
          </a:p>
          <a:p>
            <a:pPr>
              <a:spcAft>
                <a:spcPts val="700"/>
              </a:spcAft>
            </a:pPr>
            <a:r>
              <a:rPr sz="1150">
                <a:solidFill>
                  <a:srgbClr val="333333"/>
                </a:solidFill>
                <a:latin typeface="Calibri"/>
              </a:rPr>
              <a:t>• </a:t>
            </a:r>
            <a:r>
              <a:rPr sz="1150">
                <a:solidFill>
                  <a:srgbClr val="333333"/>
                </a:solidFill>
                <a:latin typeface="Calibri"/>
              </a:rPr>
              <a:t>Extended the firmware's on-board closed-loop sine generator (previously axis-1-only) to sweep axis 2's target too -- new tgt_y=/sine_axis= telemetry, rebuilt, reflashed, verified.</a:t>
            </a:r>
          </a:p>
        </p:txBody>
      </p:sp>
      <p:pic>
        <p:nvPicPr>
          <p:cNvPr id="5" name="Picture 4" descr="scratch_final_sine_S_comparison.png"/>
          <p:cNvPicPr>
            <a:picLocks noChangeAspect="1"/>
          </p:cNvPicPr>
          <p:nvPr/>
        </p:nvPicPr>
        <p:blipFill>
          <a:blip r:embed="rId2"/>
          <a:stretch>
            <a:fillRect/>
          </a:stretch>
        </p:blipFill>
        <p:spPr>
          <a:xfrm>
            <a:off x="6050000" y="1500000"/>
            <a:ext cx="5842000" cy="4016375"/>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000" b="1">
                <a:solidFill>
                  <a:srgbClr val="1A1A2E"/>
                </a:solidFill>
                <a:latin typeface="Calibri"/>
              </a:rPr>
              <a:t>Thermal/current-limit oscillation is cumulative heating, not a fixed DAC threshold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5300000" cy="5700000"/>
          </a:xfrm>
          <a:prstGeom prst="rect">
            <a:avLst/>
          </a:prstGeom>
          <a:noFill/>
        </p:spPr>
        <p:txBody>
          <a:bodyPr wrap="square">
            <a:spAutoFit/>
          </a:bodyPr>
          <a:lstStyle/>
          <a:p>
            <a:pPr>
              <a:spcAft>
                <a:spcPts val="700"/>
              </a:spcAft>
            </a:pPr>
            <a:r>
              <a:rPr sz="1100">
                <a:solidFill>
                  <a:srgbClr val="333333"/>
                </a:solidFill>
                <a:latin typeface="Calibri"/>
              </a:rPr>
              <a:t>• </a:t>
            </a:r>
            <a:r>
              <a:rPr sz="1100">
                <a:solidFill>
                  <a:srgbClr val="333333"/>
                </a:solidFill>
                <a:latin typeface="Calibri"/>
              </a:rPr>
              <a:t>Goal: characterize how far off-center (in DAC counts / microns / watts) the new stiffer flexure can be driven before current-limiting oscillation kicks in, before moving to the old flexure + new low-resistance coil board.</a:t>
            </a:r>
          </a:p>
          <a:p>
            <a:pPr>
              <a:spcAft>
                <a:spcPts val="700"/>
              </a:spcAft>
            </a:pPr>
            <a:r>
              <a:rPr sz="1100">
                <a:solidFill>
                  <a:srgbClr val="333333"/>
                </a:solidFill>
                <a:latin typeface="Calibri"/>
              </a:rPr>
              <a:t>• </a:t>
            </a:r>
            <a:r>
              <a:rPr sz="1100">
                <a:solidFill>
                  <a:srgbClr val="333333"/>
                </a:solidFill>
                <a:latin typeface="Calibri"/>
              </a:rPr>
              <a:t>Confirmed the actuator is genuinely quiet near DAC=2048 (center) -- re-verified with an FFT-based test (60s hold, spectral check) specifically to rule out a small-amplitude version of the effect hiding below a simple range threshold. It's real quiet, not just under-detected.</a:t>
            </a:r>
          </a:p>
          <a:p>
            <a:pPr>
              <a:spcAft>
                <a:spcPts val="700"/>
              </a:spcAft>
            </a:pPr>
            <a:r>
              <a:rPr sz="1100">
                <a:solidFill>
                  <a:srgbClr val="333333"/>
                </a:solidFill>
                <a:latin typeface="Calibri"/>
              </a:rPr>
              <a:t>• </a:t>
            </a:r>
            <a:r>
              <a:rPr sz="1100">
                <a:solidFill>
                  <a:srgbClr val="333333"/>
                </a:solidFill>
                <a:latin typeface="Calibri"/>
              </a:rPr>
              <a:t>An initial bisection suggested a fixed, asymmetric safe range (~DAC 1200-3900, ~316um of the ~457um full range) -- but a controlled recheck DISPROVED this: the same DAC value flipped between clean and oscillating depending only on what was tested immediately before it (90s cooldown wasn't enough to reset state). See plot -- DAC=1200 and DAC=3900 each gave opposite verdicts across repeated trials.</a:t>
            </a:r>
          </a:p>
          <a:p>
            <a:pPr>
              <a:spcAft>
                <a:spcPts val="700"/>
              </a:spcAft>
            </a:pPr>
            <a:r>
              <a:rPr sz="1100">
                <a:solidFill>
                  <a:srgbClr val="333333"/>
                </a:solidFill>
                <a:latin typeface="Calibri"/>
              </a:rPr>
              <a:t>• </a:t>
            </a:r>
            <a:r>
              <a:rPr sz="1100">
                <a:solidFill>
                  <a:srgbClr val="333333"/>
                </a:solidFill>
                <a:latin typeface="Calibri"/>
              </a:rPr>
              <a:t>Real conclusion: this is cumulative heat buildup from sustained/repeated driving, not an instantaneous power threshold tied to a specific DAC value. A cold actuator tolerates a setting the same actuator, warmed up, will not.</a:t>
            </a:r>
          </a:p>
          <a:p>
            <a:pPr>
              <a:spcAft>
                <a:spcPts val="700"/>
              </a:spcAft>
            </a:pPr>
            <a:r>
              <a:rPr sz="1100">
                <a:solidFill>
                  <a:srgbClr val="333333"/>
                </a:solidFill>
                <a:latin typeface="Calibri"/>
              </a:rPr>
              <a:t>• </a:t>
            </a:r>
            <a:r>
              <a:rPr sz="1100">
                <a:solidFill>
                  <a:srgbClr val="333333"/>
                </a:solidFill>
                <a:latin typeface="Calibri"/>
              </a:rPr>
              <a:t>Still solid: parking an inactive axis at the open-loop floor (DAC=95) draws ~1.7W continuously -- the single highest-power state in the whole range, and the direct explanation for the amp heat seen mid-session. Confirmed via direct voltage measurement, R=1.6ohm (measured, not assumed).</a:t>
            </a:r>
          </a:p>
          <a:p>
            <a:pPr>
              <a:spcAft>
                <a:spcPts val="700"/>
              </a:spcAft>
            </a:pPr>
            <a:r>
              <a:rPr sz="1100">
                <a:solidFill>
                  <a:srgbClr val="333333"/>
                </a:solidFill>
                <a:latin typeface="Calibri"/>
              </a:rPr>
              <a:t>• </a:t>
            </a:r>
            <a:r>
              <a:rPr sz="1100">
                <a:solidFill>
                  <a:srgbClr val="333333"/>
                </a:solidFill>
                <a:latin typeface="Calibri"/>
              </a:rPr>
              <a:t>Next step (not done today): a real thermal time-constant characterization -- how long at a given power to trip, how long to cool down -- before any safe-operating-range number can be trusted.</a:t>
            </a:r>
          </a:p>
        </p:txBody>
      </p:sp>
      <p:pic>
        <p:nvPicPr>
          <p:cNvPr id="5" name="Picture 4" descr="scratch_thermal_order_recheck.png"/>
          <p:cNvPicPr>
            <a:picLocks noChangeAspect="1"/>
          </p:cNvPicPr>
          <p:nvPr/>
        </p:nvPicPr>
        <p:blipFill>
          <a:blip r:embed="rId2"/>
          <a:stretch>
            <a:fillRect/>
          </a:stretch>
        </p:blipFill>
        <p:spPr>
          <a:xfrm>
            <a:off x="6050000" y="1500000"/>
            <a:ext cx="5842000" cy="34364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