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Closed-loop Hz (best of runs)</c:v>
                </c:pt>
              </c:strCache>
            </c:strRef>
          </c:tx>
          <c:spPr>
            <a:solidFill>
              <a:srgbClr val="C2631F"/>
            </a:solidFill>
          </c:spPr>
          <c:cat>
            <c:strRef>
              <c:f>Sheet1!$A$2:$A$5</c:f>
              <c:strCache>
                <c:ptCount val="4"/>
                <c:pt idx="0">
                  <c:v>640×400 stock</c:v>
                </c:pt>
                <c:pt idx="1">
                  <c:v>640×200 ROI</c:v>
                </c:pt>
                <c:pt idx="2">
                  <c:v>1280×200 ROI  — today</c:v>
                </c:pt>
                <c:pt idx="3">
                  <c:v>640×100 ROI  — today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122.0</c:v>
                </c:pt>
                <c:pt idx="1">
                  <c:v>207.9</c:v>
                </c:pt>
                <c:pt idx="2">
                  <c:v>234.4</c:v>
                </c:pt>
                <c:pt idx="3">
                  <c:v>238.8</c:v>
                </c:pt>
              </c:numCache>
            </c:numRef>
          </c:val>
        </c:ser>
        <c:dLbls>
          <c:numFmt formatCode="0.0&quot; Hz&quot;" sourceLinked="0"/>
          <c:txPr>
            <a:bodyPr/>
            <a:lstStyle/>
            <a:p>
              <a:pPr>
                <a:defRPr sz="1300" b="1">
                  <a:solidFill>
                    <a:srgbClr val="1419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2E0"/>
            </a:solidFill>
          </a:ln>
        </c:spPr>
        <c:txPr>
          <a:bodyPr/>
          <a:lstStyle/>
          <a:p>
            <a:pPr>
              <a:defRPr sz="1400">
                <a:solidFill>
                  <a:srgbClr val="1419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DDE2E0"/>
            </a:solidFill>
          </a:ln>
        </c:spPr>
        <c:txPr>
          <a:bodyPr/>
          <a:lstStyle/>
          <a:p>
            <a:pPr>
              <a:defRPr sz="1100">
                <a:solidFill>
                  <a:srgbClr val="7C86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latency (ms)</c:v>
                </c:pt>
              </c:strCache>
            </c:strRef>
          </c:tx>
          <c:spPr>
            <a:solidFill>
              <a:srgbClr val="00839C"/>
            </a:solidFill>
          </c:spPr>
          <c:cat>
            <c:strRef>
              <c:f>Sheet1!$A$2:$A$5</c:f>
              <c:strCache>
                <c:ptCount val="4"/>
                <c:pt idx="0">
                  <c:v>640×400 stock</c:v>
                </c:pt>
                <c:pt idx="1">
                  <c:v>640×200 ROI</c:v>
                </c:pt>
                <c:pt idx="2">
                  <c:v>1280×200 ROI  — today</c:v>
                </c:pt>
                <c:pt idx="3">
                  <c:v>640×100 ROI  — today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</c:v>
                </c:pt>
                <c:pt idx="1">
                  <c:v>4.35</c:v>
                </c:pt>
                <c:pt idx="2">
                  <c:v>3.34</c:v>
                </c:pt>
                <c:pt idx="3">
                  <c:v>3.6</c:v>
                </c:pt>
              </c:numCache>
            </c:numRef>
          </c:val>
        </c:ser>
        <c:dLbls>
          <c:numFmt formatCode="0.00&quot; ms&quot;" sourceLinked="0"/>
          <c:txPr>
            <a:bodyPr/>
            <a:lstStyle/>
            <a:p>
              <a:pPr>
                <a:defRPr sz="1300" b="1">
                  <a:solidFill>
                    <a:srgbClr val="14191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2E0"/>
            </a:solidFill>
          </a:ln>
        </c:spPr>
        <c:txPr>
          <a:bodyPr/>
          <a:lstStyle/>
          <a:p>
            <a:pPr>
              <a:defRPr sz="1400">
                <a:solidFill>
                  <a:srgbClr val="1419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2E0"/>
            </a:solidFill>
          </a:ln>
        </c:spPr>
        <c:txPr>
          <a:bodyPr/>
          <a:lstStyle/>
          <a:p>
            <a:pPr>
              <a:defRPr sz="1100">
                <a:solidFill>
                  <a:srgbClr val="7C86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06440"/>
            <a:ext cx="12191695" cy="54864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631F"/>
                </a:solidFill>
                <a:latin typeface="Calibri"/>
              </a:rPr>
              <a:t>FTA BEAM-TRACKING · CAMERA TIMING CHARACTERIZATION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Dual-Camera ROI Timing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Session Results — 2026-07-14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7CED1"/>
                </a:solidFill>
                <a:latin typeface="Calibri"/>
              </a:rPr>
              <a:t>Two new sensor-level ROI modes, characterized end-to-end: frame content, throughput floors, closed-loop LED latency, and the live dual-camera demo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868B"/>
                </a:solidFill>
                <a:latin typeface="Calibri"/>
              </a:rPr>
              <a:t>Raspberry Pi 5 + 2× OV9281  ·  target: 10 ms loop latency, 10–20 Hz disturbance band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What we did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Added two new “quarter-tier” ROI modes to the patched driver — MODE_1280_200_ROI and MODE_640_100_ROI — pushing the vertical crop window from 400 real rows down to 200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Validated frame content on both new modes, both cameras (headless capture, pixel stats, visual check)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Ran throughput sweeps to find each new mode’s clean frame-duration floor — including one hang, recovered cleanly per the established procedure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Ran closed-loop LED round-trip tests at each floor — the real control-relevant number, not just raw capture rate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Found and fixed a latent bug in the ROI-move range, then extended the live dual-camera demo app to support the new, faster modes — validated live on the actual display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14191D"/>
                </a:solidFill>
                <a:latin typeface="Calibri"/>
              </a:rPr>
              <a:t>•  Committed all of it (3 commits) and published a results-summary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Where this fits — the full mode progression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965960"/>
                <a:gridCol w="2331720"/>
                <a:gridCol w="1965960"/>
                <a:gridCol w="1600200"/>
              </a:tblGrid>
              <a:tr h="5943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Rated ceiling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Achieved (dual)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Closed-loop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Mean latency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01  Stock 640×400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309.8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281.8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122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~7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02  1280×400 ROI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296.5 fps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283.6 fps  (no win)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03  640×200 ROI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588.9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~527–530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206.6–207.9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4.1–4.4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04  1280×200 ROI  — today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542.6 fps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~511–514 fps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227.2–234.4 Hz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3.3–3.4 ms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05  640×100 ROI  — today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1071.8 fps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854–880 fps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232.1–238.8 Hz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2631F"/>
                          </a:solidFill>
                          <a:latin typeface="Calibri"/>
                        </a:rPr>
                        <a:t>3.5–3.7 ms</a:t>
                      </a:r>
                    </a:p>
                  </a:txBody>
                  <a:tcPr marT="63500" marB="63500" marL="101600" marR="101600" anchor="ctr">
                    <a:solidFill>
                      <a:srgbClr val="FBECD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66067"/>
                </a:solidFill>
                <a:latin typeface="Calibri"/>
              </a:rPr>
              <a:t>MODE_640_100_ROI is now the fastest and best closed-loop mode found in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TODAY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The two new “quarter-tier”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66067"/>
                </a:solidFill>
                <a:latin typeface="Calibri"/>
              </a:rPr>
              <a:t>Same y_end = height + 15 windowing trick as the existing ROI modes, pushed one step further — 200 real sensor rows instead of 400. Both cloned register-for-register from their 400-row sibling, changing only y_end and y_output_size.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4191D"/>
                </a:solidFill>
                <a:latin typeface="Calibri"/>
              </a:rPr>
              <a:t>MODE_1280_200_ROI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839C"/>
                </a:solidFill>
                <a:latin typeface="Calibri"/>
              </a:rPr>
              <a:t>unbinned · 200 real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46177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Rated ceiling: 542.59 fps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No hang found down to 1600µs — throughput plateaus at ~511–514 fps instead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Lowest mean closed-loop latency of any mode (3.3–3.4 ms), but the widest tail (up to ~30 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600"/>
            <a:ext cx="5257800" cy="338328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4191D"/>
                </a:solidFill>
                <a:latin typeface="Calibri"/>
              </a:rPr>
              <a:t>MODE_640_100_ROI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9184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631F"/>
                </a:solidFill>
                <a:latin typeface="Calibri"/>
              </a:rPr>
              <a:t>binned · 200 real rows → 100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46177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Rated ceiling: 1071.81 fps — highest in the project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Clean floor at 1050µs (~854–880 fps); hangs at 1000µs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91D"/>
                </a:solidFill>
                <a:latin typeface="Calibri"/>
              </a:rPr>
              <a:t>•  Best overall combination of closed-loop rate and latency tail-tightness of any mode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TODAY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Frame content — validated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66067"/>
                </a:solidFill>
                <a:latin typeface="Calibri"/>
              </a:rPr>
              <a:t>Headless capture (no live display needed): all 4 combinations negotiated the correct raw size, non-degenerate pixel stats, and visually coherent gradient/noise texture — no tearing, banding, or garbage.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963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868B"/>
                </a:solidFill>
                <a:latin typeface="Calibri"/>
              </a:rPr>
              <a:t>1280×200 — cam 0</a:t>
            </a:r>
          </a:p>
        </p:txBody>
      </p:sp>
      <p:pic>
        <p:nvPicPr>
          <p:cNvPr id="7" name="Picture 6" descr="roi_1280x200_ca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585216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868B"/>
                </a:solidFill>
                <a:latin typeface="Calibri"/>
              </a:rPr>
              <a:t>640×100 — cam 0</a:t>
            </a:r>
          </a:p>
        </p:txBody>
      </p:sp>
      <p:pic>
        <p:nvPicPr>
          <p:cNvPr id="9" name="Picture 8" descr="roi_640x100_ca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70248"/>
            <a:ext cx="5852160" cy="9144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278892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60120"/>
                <a:gridCol w="960120"/>
                <a:gridCol w="1005840"/>
              </a:tblGrid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 / camera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1280×200 – cam0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2560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6912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4790.7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1280×200 – cam1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2816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11264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5084.9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640×100 – cam0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3328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7936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5412.5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640×100 – cam1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3840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16384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6111.1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5166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C868B"/>
                </a:solidFill>
                <a:latin typeface="Calibri"/>
              </a:rPr>
              <a:t>16-bit raw values (R16 delivery quirk) — all four non-degenerate, no saturation/clipping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TODAY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Throughput sweep — floors found for both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737360"/>
                <a:gridCol w="2194560"/>
                <a:gridCol w="338328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Rated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Clean floor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Achieved @ floor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Behavior at the edge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1280×200 ROI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542.6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1600–1825µs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~511–514 fps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Plateaus — no hang found in tested range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640×100 ROI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1071.8 fps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1050µs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854–880 fps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Hangs at 1000µs (~5% below floor)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566160"/>
            <a:ext cx="11064240" cy="2377440"/>
          </a:xfrm>
          <a:prstGeom prst="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91D"/>
                </a:solidFill>
                <a:latin typeface="Calibri"/>
              </a:rPr>
              <a:t>One hang hit, recovered cleanly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24128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4191D"/>
                </a:solidFill>
                <a:latin typeface="Calibri"/>
              </a:rPr>
              <a:t>•  640×100 @ 1000µs timed out (20s) and was killed by the sweep orchestrator, orphaning two worker processes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4191D"/>
                </a:solidFill>
                <a:latin typeface="Calibri"/>
              </a:rPr>
              <a:t>•  Checked state before acting: Sl / futex_do_wait (userspace lock wait, not kernel D-state) — confirmed safe to kill -9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4191D"/>
                </a:solidFill>
                <a:latin typeface="Calibri"/>
              </a:rPr>
              <a:t>•  Verified via lsof that all /dev/video*/media* fds were released, then ran a known-good sanity check: 281.95/281.19 fps, matching baseline exactly — no reboot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TODAY · 04 — 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Closed-loop LED round-trip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528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03120"/>
                <a:gridCol w="1920240"/>
                <a:gridCol w="2194560"/>
                <a:gridCol w="2011680"/>
              </a:tblGrid>
              <a:tr h="594360">
                <a:tc>
                  <a:txBody>
                    <a:bodyPr/>
                    <a:lstStyle/>
                    <a:p/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1280×200 @ 1775µs</a:t>
                      </a:r>
                    </a:p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run 1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run 2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640×100 @ 1050µs</a:t>
                      </a:r>
                    </a:p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run 1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run 2</a:t>
                      </a:r>
                    </a:p>
                  </a:txBody>
                  <a:tcPr marT="76200" marB="76200" marL="101600" marR="101600" anchor="ctr">
                    <a:solidFill>
                      <a:srgbClr val="14191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Confirmed transitions (5s)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1172 (0 timeouts)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1136 (0 timeouts)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1194 (0 timeouts)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1160 (0 timeouts)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Achieved capture fps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496.3 / 495.7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491.8 / 492.6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860.6 / 860.8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858.3 / 861.9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Mean latency (cam0/cam1)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3.38 / 3.30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3.39 / 3.29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3.50 / 3.54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3.72 / 3.65 ms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Max latency (cam0/cam1)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29.57 / 9.18 ms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27.33 / 13.58 ms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12.70 / 7.71 ms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4191D"/>
                          </a:solidFill>
                          <a:latin typeface="Calibri"/>
                        </a:rPr>
                        <a:t>15.59 / 21.90 ms</a:t>
                      </a:r>
                    </a:p>
                  </a:txBody>
                  <a:tcPr marT="63500" marB="63500" marL="101600" marR="101600" anchor="ctr">
                    <a:solidFill>
                      <a:srgbClr val="EEF1F0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631F"/>
                          </a:solidFill>
                          <a:latin typeface="Calibri"/>
                        </a:rPr>
                        <a:t>Effective closed-loop freq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631F"/>
                          </a:solidFill>
                          <a:latin typeface="Calibri"/>
                        </a:rPr>
                        <a:t>234.4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631F"/>
                          </a:solidFill>
                          <a:latin typeface="Calibri"/>
                        </a:rPr>
                        <a:t>227.2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631F"/>
                          </a:solidFill>
                          <a:latin typeface="Calibri"/>
                        </a:rPr>
                        <a:t>238.8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631F"/>
                          </a:solidFill>
                          <a:latin typeface="Calibri"/>
                        </a:rPr>
                        <a:t>232.1 Hz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66067"/>
                </a:solidFill>
                <a:latin typeface="Calibri"/>
              </a:rPr>
              <a:t>MODE_640_100_ROI: 0 timeouts across 2 runs, mean latency comfortably under Phil’s 10 ms target, and the best effective closed-loop rate found in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ACROSS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Effective closed-loop toggle rate, by mode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3736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C868B"/>
                </a:solidFill>
                <a:latin typeface="Calibri"/>
              </a:rPr>
              <a:t>1280×400 ROI omitted — no throughput win over stock, so closed-loop was never characterized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ACROSS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Mean per-camera latency vs. the 10 ms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3736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C868B"/>
                </a:solidFill>
                <a:latin typeface="Calibri"/>
              </a:rPr>
              <a:t>Every ROI mode clears Phil’s 10 ms mean-latency target (chart scale fixed at 0–12 ms for comparison).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TODAY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191D"/>
                </a:solidFill>
                <a:latin typeface="Calibri Light"/>
              </a:rPr>
              <a:t>Live demo app — validated on the fastest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Found a latent bug: the ROI-move range was hardcoded to the original modes’ 400-row window (max y_start=400) — would’ve silently misbehaved on the new 200-row modes (real range is 0–600)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Fixed by querying the driver’s live crop height on every call instead of assuming it; regression-checked against the original 640×200 mode first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Extended roi_live_demo.py so ‘b’ toggles binned↔unbinned within whichever “tier” a camera is in — the app now reaches all four ROI modes, including the fastest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C868B"/>
                </a:solidFill>
                <a:latin typeface="Calibri"/>
              </a:rPr>
              <a:t>Live on the actual display, 640×100 mode:</a:t>
            </a:r>
          </a:p>
        </p:txBody>
      </p:sp>
      <p:pic>
        <p:nvPicPr>
          <p:cNvPr id="7" name="Picture 6" descr="live_dem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26280"/>
            <a:ext cx="9144000" cy="15275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191D"/>
                </a:solidFill>
                <a:latin typeface="Calibri Light"/>
              </a:rPr>
              <a:t>Open question for Phil,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737360"/>
          </a:xfrm>
          <a:prstGeom prst="rect">
            <a:avLst/>
          </a:prstGeom>
          <a:solidFill>
            <a:srgbClr val="FB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631F"/>
                </a:solidFill>
                <a:latin typeface="Calibri"/>
              </a:rPr>
              <a:t>BLOCKS FURTHER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91D"/>
                </a:solidFill>
                <a:latin typeface="Calibri"/>
              </a:rPr>
              <a:t>Does the real FTA control algorithm need discrete step-and-confirm (~120–240 Hz, mode-dependent) or continuous latest-frame tracking (~280–880 fps, no confirmation step)? These are genuinely different ceilings — which one is relevant determines where further tuning is worth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91D"/>
                </a:solidFill>
                <a:latin typeface="Calibri"/>
              </a:rPr>
              <a:t>Not yet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9728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Mid-stream set_selection write validation (background-capture + external-write correlation check) hasn’t been repeated on the two new modes specifically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Hardware and driver remain stable: tainted stayed at 4096 (no D/W) through every test today, i2c@80000 continues to enumerate cleanly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4191D"/>
                </a:solidFill>
                <a:latin typeface="Calibri"/>
              </a:rPr>
              <a:t>•  All work committed today: 3 commits (new modes + validation, closed-loop results, live-demo fix)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68B"/>
                </a:solidFill>
                <a:latin typeface="Calibri"/>
              </a:rPr>
              <a:t>FTA Dual-Camera Timing — Session Results · 2026-07-14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C86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