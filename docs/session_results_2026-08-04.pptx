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2377440"/>
            <a:ext cx="10515600" cy="2011680"/>
          </a:xfrm>
          <a:prstGeom prst="rect">
            <a:avLst/>
          </a:prstGeom>
          <a:noFill/>
        </p:spPr>
        <p:txBody>
          <a:bodyPr wrap="square">
            <a:spAutoFit/>
          </a:bodyPr>
          <a:lstStyle/>
          <a:p>
            <a:pPr>
              <a:defRPr sz="3800" b="1">
                <a:solidFill>
                  <a:srgbClr val="0B0B0B"/>
                </a:solidFill>
              </a:defRPr>
            </a:pPr>
            <a:r>
              <a:t>FTA Actuator Step-Response Bench Test</a:t>
            </a:r>
          </a:p>
          <a:p>
            <a:pPr>
              <a:spcBef>
                <a:spcPts val="1000"/>
              </a:spcBef>
              <a:defRPr sz="1800">
                <a:solidFill>
                  <a:srgbClr val="52514E"/>
                </a:solidFill>
              </a:defRPr>
            </a:pPr>
            <a:r>
              <a:t>camera_centroid_receiver firmware, post NVIC-priority fix</a:t>
            </a:r>
          </a:p>
          <a:p>
            <a:pPr>
              <a:spcBef>
                <a:spcPts val="600"/>
              </a:spcBef>
              <a:defRPr sz="1400">
                <a:solidFill>
                  <a:srgbClr val="898781"/>
                </a:solidFill>
              </a:defRPr>
            </a:pPr>
            <a:r>
              <a:t>2026-08-04 – 2026-08-06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64240" cy="640080"/>
          </a:xfrm>
          <a:prstGeom prst="rect">
            <a:avLst/>
          </a:prstGeom>
          <a:noFill/>
        </p:spPr>
        <p:txBody>
          <a:bodyPr wrap="square">
            <a:spAutoFit/>
          </a:bodyPr>
          <a:lstStyle/>
          <a:p>
            <a:pPr>
              <a:defRPr sz="2800" b="1">
                <a:solidFill>
                  <a:srgbClr val="0B0B0B"/>
                </a:solidFill>
              </a:defRPr>
            </a:pPr>
            <a:r>
              <a:t>Methodology</a:t>
            </a:r>
          </a:p>
        </p:txBody>
      </p:sp>
      <p:sp>
        <p:nvSpPr>
          <p:cNvPr id="3" name="TextBox 2"/>
          <p:cNvSpPr txBox="1"/>
          <p:nvPr/>
        </p:nvSpPr>
        <p:spPr>
          <a:xfrm>
            <a:off x="731520" y="1554480"/>
            <a:ext cx="10698480" cy="4572000"/>
          </a:xfrm>
          <a:prstGeom prst="rect">
            <a:avLst/>
          </a:prstGeom>
          <a:noFill/>
        </p:spPr>
        <p:txBody>
          <a:bodyPr wrap="square">
            <a:spAutoFit/>
          </a:bodyPr>
          <a:lstStyle/>
          <a:p>
            <a:pPr>
              <a:spcAft>
                <a:spcPts val="1000"/>
              </a:spcAft>
              <a:defRPr sz="1600">
                <a:solidFill>
                  <a:srgbClr val="0B0B0B"/>
                </a:solidFill>
              </a:defRPr>
            </a:pPr>
            <a:r>
              <a:t>•  Measured entirely from the laptop over the Nucleo's VCP (COM4, 115200 baud) — no camera/Pi access needed for this test.</a:t>
            </a:r>
          </a:p>
          <a:p>
            <a:pPr>
              <a:spcAft>
                <a:spcPts val="1000"/>
              </a:spcAft>
              <a:defRPr sz="1600">
                <a:solidFill>
                  <a:srgbClr val="0B0B0B"/>
                </a:solidFill>
              </a:defRPr>
            </a:pPr>
            <a:r>
              <a:t>•  Position data sourced from camera_centroid_receiver's per-packet I2C-relay print line (≈170–190 samples/sec), not a direct camera capture.</a:t>
            </a:r>
          </a:p>
          <a:p>
            <a:pPr>
              <a:spcAft>
                <a:spcPts val="1000"/>
              </a:spcAft>
              <a:defRPr sz="1600">
                <a:solidFill>
                  <a:srgbClr val="0B0B0B"/>
                </a:solidFill>
              </a:defRPr>
            </a:pPr>
            <a:r>
              <a:t>•  Protocol replicates the pre-fix 2026-07-23 baseline exactly: 95→2000 (large step), then 2000↔2100 ×3 (small steps, both directions + repeat), on each axis.</a:t>
            </a:r>
          </a:p>
          <a:p>
            <a:pPr>
              <a:spcAft>
                <a:spcPts val="1000"/>
              </a:spcAft>
              <a:defRPr sz="1600">
                <a:solidFill>
                  <a:srgbClr val="0B0B0B"/>
                </a:solidFill>
              </a:defRPr>
            </a:pPr>
            <a:r>
              <a:t>•  Amp enabled once for the whole batch; board returned to idle (dac=95/95, amp off) between axis groups and at the end.</a:t>
            </a:r>
          </a:p>
          <a:p>
            <a:pPr>
              <a:spcAft>
                <a:spcPts val="1000"/>
              </a:spcAft>
              <a:defRPr sz="1600">
                <a:solidFill>
                  <a:srgbClr val="0B0B0B"/>
                </a:solidFill>
              </a:defRPr>
            </a:pPr>
            <a:r>
              <a:t>•  Prerequisite fixes this session: NVIC priority swap (USART2 now preempts I2C1) eliminated VCP command byte-loss under live telemetry load — verified 30/30 clean commands before this data was collected.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64240" cy="640080"/>
          </a:xfrm>
          <a:prstGeom prst="rect">
            <a:avLst/>
          </a:prstGeom>
          <a:noFill/>
        </p:spPr>
        <p:txBody>
          <a:bodyPr wrap="square">
            <a:spAutoFit/>
          </a:bodyPr>
          <a:lstStyle/>
          <a:p>
            <a:pPr>
              <a:defRPr sz="2800" b="1">
                <a:solidFill>
                  <a:srgbClr val="0B0B0B"/>
                </a:solidFill>
              </a:defRPr>
            </a:pPr>
            <a:r>
              <a:t>Axis X results</a:t>
            </a:r>
          </a:p>
        </p:txBody>
      </p:sp>
      <p:pic>
        <p:nvPicPr>
          <p:cNvPr id="3" name="Picture 2" descr="axis_x_steps.png"/>
          <p:cNvPicPr>
            <a:picLocks noChangeAspect="1"/>
          </p:cNvPicPr>
          <p:nvPr/>
        </p:nvPicPr>
        <p:blipFill>
          <a:blip r:embed="rId2"/>
          <a:stretch>
            <a:fillRect/>
          </a:stretch>
        </p:blipFill>
        <p:spPr>
          <a:xfrm>
            <a:off x="320040" y="1051560"/>
            <a:ext cx="11521440" cy="6316556"/>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64240" cy="640080"/>
          </a:xfrm>
          <a:prstGeom prst="rect">
            <a:avLst/>
          </a:prstGeom>
          <a:noFill/>
        </p:spPr>
        <p:txBody>
          <a:bodyPr wrap="square">
            <a:spAutoFit/>
          </a:bodyPr>
          <a:lstStyle/>
          <a:p>
            <a:pPr>
              <a:defRPr sz="2800" b="1">
                <a:solidFill>
                  <a:srgbClr val="0B0B0B"/>
                </a:solidFill>
              </a:defRPr>
            </a:pPr>
            <a:r>
              <a:t>Axis Y results</a:t>
            </a:r>
          </a:p>
        </p:txBody>
      </p:sp>
      <p:pic>
        <p:nvPicPr>
          <p:cNvPr id="3" name="Picture 2" descr="axis_y_steps.png"/>
          <p:cNvPicPr>
            <a:picLocks noChangeAspect="1"/>
          </p:cNvPicPr>
          <p:nvPr/>
        </p:nvPicPr>
        <p:blipFill>
          <a:blip r:embed="rId2"/>
          <a:stretch>
            <a:fillRect/>
          </a:stretch>
        </p:blipFill>
        <p:spPr>
          <a:xfrm>
            <a:off x="320040" y="1051560"/>
            <a:ext cx="11521440" cy="6316556"/>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64240" cy="640080"/>
          </a:xfrm>
          <a:prstGeom prst="rect">
            <a:avLst/>
          </a:prstGeom>
          <a:noFill/>
        </p:spPr>
        <p:txBody>
          <a:bodyPr wrap="square">
            <a:spAutoFit/>
          </a:bodyPr>
          <a:lstStyle/>
          <a:p>
            <a:pPr>
              <a:defRPr sz="2800" b="1">
                <a:solidFill>
                  <a:srgbClr val="0B0B0B"/>
                </a:solidFill>
              </a:defRPr>
            </a:pPr>
            <a:r>
              <a:t>Summary metrics</a:t>
            </a:r>
          </a:p>
        </p:txBody>
      </p:sp>
      <p:graphicFrame>
        <p:nvGraphicFramePr>
          <p:cNvPr id="3" name="Table 2"/>
          <p:cNvGraphicFramePr>
            <a:graphicFrameLocks noGrp="1"/>
          </p:cNvGraphicFramePr>
          <p:nvPr/>
        </p:nvGraphicFramePr>
        <p:xfrm>
          <a:off x="548640" y="1371600"/>
          <a:ext cx="11064240" cy="3291840"/>
        </p:xfrm>
        <a:graphic>
          <a:graphicData uri="http://schemas.openxmlformats.org/drawingml/2006/table">
            <a:tbl>
              <a:tblPr firstRow="1" bandRow="1">
                <a:tableStyleId>{5C22544A-7EE6-4342-B048-85BDC9FD1C3A}</a:tableStyleId>
              </a:tblPr>
              <a:tblGrid>
                <a:gridCol w="1844040"/>
                <a:gridCol w="1844040"/>
                <a:gridCol w="1844040"/>
                <a:gridCol w="1844040"/>
                <a:gridCol w="1844040"/>
                <a:gridCol w="1844040"/>
              </a:tblGrid>
              <a:tr h="365760">
                <a:tc>
                  <a:txBody>
                    <a:bodyPr/>
                    <a:lstStyle/>
                    <a:p>
                      <a:pPr>
                        <a:defRPr b="1" sz="1300">
                          <a:solidFill>
                            <a:srgbClr val="FFFFFF"/>
                          </a:solidFill>
                        </a:defRPr>
                      </a:pPr>
                      <a:r>
                        <a:t>Axis</a:t>
                      </a:r>
                    </a:p>
                  </a:txBody>
                  <a:tcPr>
                    <a:solidFill>
                      <a:srgbClr val="2A78D6"/>
                    </a:solidFill>
                  </a:tcPr>
                </a:tc>
                <a:tc>
                  <a:txBody>
                    <a:bodyPr/>
                    <a:lstStyle/>
                    <a:p>
                      <a:pPr>
                        <a:defRPr b="1" sz="1300">
                          <a:solidFill>
                            <a:srgbClr val="FFFFFF"/>
                          </a:solidFill>
                        </a:defRPr>
                      </a:pPr>
                      <a:r>
                        <a:t>Step</a:t>
                      </a:r>
                    </a:p>
                  </a:txBody>
                  <a:tcPr>
                    <a:solidFill>
                      <a:srgbClr val="2A78D6"/>
                    </a:solidFill>
                  </a:tcPr>
                </a:tc>
                <a:tc>
                  <a:txBody>
                    <a:bodyPr/>
                    <a:lstStyle/>
                    <a:p>
                      <a:pPr>
                        <a:defRPr b="1" sz="1300">
                          <a:solidFill>
                            <a:srgbClr val="FFFFFF"/>
                          </a:solidFill>
                        </a:defRPr>
                      </a:pPr>
                      <a:r>
                        <a:t>Dominant</a:t>
                      </a:r>
                    </a:p>
                  </a:txBody>
                  <a:tcPr>
                    <a:solidFill>
                      <a:srgbClr val="2A78D6"/>
                    </a:solidFill>
                  </a:tcPr>
                </a:tc>
                <a:tc>
                  <a:txBody>
                    <a:bodyPr/>
                    <a:lstStyle/>
                    <a:p>
                      <a:pPr>
                        <a:defRPr b="1" sz="1300">
                          <a:solidFill>
                            <a:srgbClr val="FFFFFF"/>
                          </a:solidFill>
                        </a:defRPr>
                      </a:pPr>
                      <a:r>
                        <a:t>Delta (px)</a:t>
                      </a:r>
                    </a:p>
                  </a:txBody>
                  <a:tcPr>
                    <a:solidFill>
                      <a:srgbClr val="2A78D6"/>
                    </a:solidFill>
                  </a:tcPr>
                </a:tc>
                <a:tc>
                  <a:txBody>
                    <a:bodyPr/>
                    <a:lstStyle/>
                    <a:p>
                      <a:pPr>
                        <a:defRPr b="1" sz="1300">
                          <a:solidFill>
                            <a:srgbClr val="FFFFFF"/>
                          </a:solidFill>
                        </a:defRPr>
                      </a:pPr>
                      <a:r>
                        <a:t>Overshoot</a:t>
                      </a:r>
                    </a:p>
                  </a:txBody>
                  <a:tcPr>
                    <a:solidFill>
                      <a:srgbClr val="2A78D6"/>
                    </a:solidFill>
                  </a:tcPr>
                </a:tc>
                <a:tc>
                  <a:txBody>
                    <a:bodyPr/>
                    <a:lstStyle/>
                    <a:p>
                      <a:pPr>
                        <a:defRPr b="1" sz="1300">
                          <a:solidFill>
                            <a:srgbClr val="FFFFFF"/>
                          </a:solidFill>
                        </a:defRPr>
                      </a:pPr>
                      <a:r>
                        <a:t>Settling</a:t>
                      </a:r>
                    </a:p>
                  </a:txBody>
                  <a:tcPr>
                    <a:solidFill>
                      <a:srgbClr val="2A78D6"/>
                    </a:solidFill>
                  </a:tcPr>
                </a:tc>
              </a:tr>
              <a:tr h="365760">
                <a:tc>
                  <a:txBody>
                    <a:bodyPr/>
                    <a:lstStyle/>
                    <a:p>
                      <a:pPr>
                        <a:defRPr sz="1200">
                          <a:solidFill>
                            <a:srgbClr val="0B0B0B"/>
                          </a:solidFill>
                        </a:defRPr>
                      </a:pPr>
                      <a:r>
                        <a:t>X</a:t>
                      </a:r>
                    </a:p>
                  </a:txBody>
                  <a:tcPr/>
                </a:tc>
                <a:tc>
                  <a:txBody>
                    <a:bodyPr/>
                    <a:lstStyle/>
                    <a:p>
                      <a:pPr>
                        <a:defRPr sz="1200">
                          <a:solidFill>
                            <a:srgbClr val="0B0B0B"/>
                          </a:solidFill>
                        </a:defRPr>
                      </a:pPr>
                      <a:r>
                        <a:t>95 → 2000</a:t>
                      </a:r>
                    </a:p>
                  </a:txBody>
                  <a:tcPr/>
                </a:tc>
                <a:tc>
                  <a:txBody>
                    <a:bodyPr/>
                    <a:lstStyle/>
                    <a:p>
                      <a:pPr>
                        <a:defRPr sz="1200">
                          <a:solidFill>
                            <a:srgbClr val="0B0B0B"/>
                          </a:solidFill>
                        </a:defRPr>
                      </a:pPr>
                      <a:r>
                        <a:t>x</a:t>
                      </a:r>
                    </a:p>
                  </a:txBody>
                  <a:tcPr/>
                </a:tc>
                <a:tc>
                  <a:txBody>
                    <a:bodyPr/>
                    <a:lstStyle/>
                    <a:p>
                      <a:pPr>
                        <a:defRPr sz="1200">
                          <a:solidFill>
                            <a:srgbClr val="0B0B0B"/>
                          </a:solidFill>
                        </a:defRPr>
                      </a:pPr>
                      <a:r>
                        <a:t>-148.6</a:t>
                      </a:r>
                    </a:p>
                  </a:txBody>
                  <a:tcPr/>
                </a:tc>
                <a:tc>
                  <a:txBody>
                    <a:bodyPr/>
                    <a:lstStyle/>
                    <a:p>
                      <a:pPr>
                        <a:defRPr sz="1200">
                          <a:solidFill>
                            <a:srgbClr val="0B0B0B"/>
                          </a:solidFill>
                        </a:defRPr>
                      </a:pPr>
                      <a:r>
                        <a:t>0.0%</a:t>
                      </a:r>
                    </a:p>
                  </a:txBody>
                  <a:tcPr/>
                </a:tc>
                <a:tc>
                  <a:txBody>
                    <a:bodyPr/>
                    <a:lstStyle/>
                    <a:p>
                      <a:pPr>
                        <a:defRPr sz="1200">
                          <a:solidFill>
                            <a:srgbClr val="0B0B0B"/>
                          </a:solidFill>
                        </a:defRPr>
                      </a:pPr>
                      <a:r>
                        <a:t>922ms</a:t>
                      </a:r>
                    </a:p>
                  </a:txBody>
                  <a:tcPr/>
                </a:tc>
              </a:tr>
              <a:tr h="365760">
                <a:tc>
                  <a:txBody>
                    <a:bodyPr/>
                    <a:lstStyle/>
                    <a:p>
                      <a:pPr>
                        <a:defRPr sz="1200">
                          <a:solidFill>
                            <a:srgbClr val="0B0B0B"/>
                          </a:solidFill>
                        </a:defRPr>
                      </a:pPr>
                      <a:r>
                        <a:t>X</a:t>
                      </a:r>
                    </a:p>
                  </a:txBody>
                  <a:tcPr/>
                </a:tc>
                <a:tc>
                  <a:txBody>
                    <a:bodyPr/>
                    <a:lstStyle/>
                    <a:p>
                      <a:pPr>
                        <a:defRPr sz="1200">
                          <a:solidFill>
                            <a:srgbClr val="0B0B0B"/>
                          </a:solidFill>
                        </a:defRPr>
                      </a:pPr>
                      <a:r>
                        <a:t>2000 → 2100</a:t>
                      </a:r>
                    </a:p>
                  </a:txBody>
                  <a:tcPr/>
                </a:tc>
                <a:tc>
                  <a:txBody>
                    <a:bodyPr/>
                    <a:lstStyle/>
                    <a:p>
                      <a:pPr>
                        <a:defRPr sz="1200">
                          <a:solidFill>
                            <a:srgbClr val="0B0B0B"/>
                          </a:solidFill>
                        </a:defRPr>
                      </a:pPr>
                      <a:r>
                        <a:t>x</a:t>
                      </a:r>
                    </a:p>
                  </a:txBody>
                  <a:tcPr/>
                </a:tc>
                <a:tc>
                  <a:txBody>
                    <a:bodyPr/>
                    <a:lstStyle/>
                    <a:p>
                      <a:pPr>
                        <a:defRPr sz="1200">
                          <a:solidFill>
                            <a:srgbClr val="0B0B0B"/>
                          </a:solidFill>
                        </a:defRPr>
                      </a:pPr>
                      <a:r>
                        <a:t>-19.8</a:t>
                      </a:r>
                    </a:p>
                  </a:txBody>
                  <a:tcPr/>
                </a:tc>
                <a:tc>
                  <a:txBody>
                    <a:bodyPr/>
                    <a:lstStyle/>
                    <a:p>
                      <a:pPr>
                        <a:defRPr sz="1200">
                          <a:solidFill>
                            <a:srgbClr val="0B0B0B"/>
                          </a:solidFill>
                        </a:defRPr>
                      </a:pPr>
                      <a:r>
                        <a:t>0.0%</a:t>
                      </a:r>
                    </a:p>
                  </a:txBody>
                  <a:tcPr/>
                </a:tc>
                <a:tc>
                  <a:txBody>
                    <a:bodyPr/>
                    <a:lstStyle/>
                    <a:p>
                      <a:pPr>
                        <a:defRPr sz="1200">
                          <a:solidFill>
                            <a:srgbClr val="0B0B0B"/>
                          </a:solidFill>
                        </a:defRPr>
                      </a:pPr>
                      <a:r>
                        <a:t>469ms</a:t>
                      </a:r>
                    </a:p>
                  </a:txBody>
                  <a:tcPr/>
                </a:tc>
              </a:tr>
              <a:tr h="365760">
                <a:tc>
                  <a:txBody>
                    <a:bodyPr/>
                    <a:lstStyle/>
                    <a:p>
                      <a:pPr>
                        <a:defRPr sz="1200">
                          <a:solidFill>
                            <a:srgbClr val="0B0B0B"/>
                          </a:solidFill>
                        </a:defRPr>
                      </a:pPr>
                      <a:r>
                        <a:t>X</a:t>
                      </a:r>
                    </a:p>
                  </a:txBody>
                  <a:tcPr/>
                </a:tc>
                <a:tc>
                  <a:txBody>
                    <a:bodyPr/>
                    <a:lstStyle/>
                    <a:p>
                      <a:pPr>
                        <a:defRPr sz="1200">
                          <a:solidFill>
                            <a:srgbClr val="0B0B0B"/>
                          </a:solidFill>
                        </a:defRPr>
                      </a:pPr>
                      <a:r>
                        <a:t>2100 → 2000</a:t>
                      </a:r>
                    </a:p>
                  </a:txBody>
                  <a:tcPr/>
                </a:tc>
                <a:tc>
                  <a:txBody>
                    <a:bodyPr/>
                    <a:lstStyle/>
                    <a:p>
                      <a:pPr>
                        <a:defRPr sz="1200">
                          <a:solidFill>
                            <a:srgbClr val="0B0B0B"/>
                          </a:solidFill>
                        </a:defRPr>
                      </a:pPr>
                      <a:r>
                        <a:t>x</a:t>
                      </a:r>
                    </a:p>
                  </a:txBody>
                  <a:tcPr/>
                </a:tc>
                <a:tc>
                  <a:txBody>
                    <a:bodyPr/>
                    <a:lstStyle/>
                    <a:p>
                      <a:pPr>
                        <a:defRPr sz="1200">
                          <a:solidFill>
                            <a:srgbClr val="0B0B0B"/>
                          </a:solidFill>
                        </a:defRPr>
                      </a:pPr>
                      <a:r>
                        <a:t>5.2</a:t>
                      </a:r>
                    </a:p>
                  </a:txBody>
                  <a:tcPr/>
                </a:tc>
                <a:tc>
                  <a:txBody>
                    <a:bodyPr/>
                    <a:lstStyle/>
                    <a:p>
                      <a:pPr>
                        <a:defRPr sz="1200">
                          <a:solidFill>
                            <a:srgbClr val="0B0B0B"/>
                          </a:solidFill>
                        </a:defRPr>
                      </a:pPr>
                      <a:r>
                        <a:t>79.1%</a:t>
                      </a:r>
                    </a:p>
                  </a:txBody>
                  <a:tcPr/>
                </a:tc>
                <a:tc>
                  <a:txBody>
                    <a:bodyPr/>
                    <a:lstStyle/>
                    <a:p>
                      <a:pPr>
                        <a:defRPr sz="1200">
                          <a:solidFill>
                            <a:srgbClr val="0B0B0B"/>
                          </a:solidFill>
                        </a:defRPr>
                      </a:pPr>
                      <a:r>
                        <a:t>31ms</a:t>
                      </a:r>
                    </a:p>
                  </a:txBody>
                  <a:tcPr/>
                </a:tc>
              </a:tr>
              <a:tr h="365760">
                <a:tc>
                  <a:txBody>
                    <a:bodyPr/>
                    <a:lstStyle/>
                    <a:p>
                      <a:pPr>
                        <a:defRPr sz="1200">
                          <a:solidFill>
                            <a:srgbClr val="0B0B0B"/>
                          </a:solidFill>
                        </a:defRPr>
                      </a:pPr>
                      <a:r>
                        <a:t>X</a:t>
                      </a:r>
                    </a:p>
                  </a:txBody>
                  <a:tcPr/>
                </a:tc>
                <a:tc>
                  <a:txBody>
                    <a:bodyPr/>
                    <a:lstStyle/>
                    <a:p>
                      <a:pPr>
                        <a:defRPr sz="1200">
                          <a:solidFill>
                            <a:srgbClr val="0B0B0B"/>
                          </a:solidFill>
                        </a:defRPr>
                      </a:pPr>
                      <a:r>
                        <a:t>2000 → 2100</a:t>
                      </a:r>
                    </a:p>
                  </a:txBody>
                  <a:tcPr/>
                </a:tc>
                <a:tc>
                  <a:txBody>
                    <a:bodyPr/>
                    <a:lstStyle/>
                    <a:p>
                      <a:pPr>
                        <a:defRPr sz="1200">
                          <a:solidFill>
                            <a:srgbClr val="0B0B0B"/>
                          </a:solidFill>
                        </a:defRPr>
                      </a:pPr>
                      <a:r>
                        <a:t>x</a:t>
                      </a:r>
                    </a:p>
                  </a:txBody>
                  <a:tcPr/>
                </a:tc>
                <a:tc>
                  <a:txBody>
                    <a:bodyPr/>
                    <a:lstStyle/>
                    <a:p>
                      <a:pPr>
                        <a:defRPr sz="1200">
                          <a:solidFill>
                            <a:srgbClr val="0B0B0B"/>
                          </a:solidFill>
                        </a:defRPr>
                      </a:pPr>
                      <a:r>
                        <a:t>-7.1</a:t>
                      </a:r>
                    </a:p>
                  </a:txBody>
                  <a:tcPr/>
                </a:tc>
                <a:tc>
                  <a:txBody>
                    <a:bodyPr/>
                    <a:lstStyle/>
                    <a:p>
                      <a:pPr>
                        <a:defRPr sz="1200">
                          <a:solidFill>
                            <a:srgbClr val="0B0B0B"/>
                          </a:solidFill>
                        </a:defRPr>
                      </a:pPr>
                      <a:r>
                        <a:t>0.0%</a:t>
                      </a:r>
                    </a:p>
                  </a:txBody>
                  <a:tcPr/>
                </a:tc>
                <a:tc>
                  <a:txBody>
                    <a:bodyPr/>
                    <a:lstStyle/>
                    <a:p>
                      <a:pPr>
                        <a:defRPr sz="1200">
                          <a:solidFill>
                            <a:srgbClr val="0B0B0B"/>
                          </a:solidFill>
                        </a:defRPr>
                      </a:pPr>
                      <a:r>
                        <a:t>125ms</a:t>
                      </a:r>
                    </a:p>
                  </a:txBody>
                  <a:tcPr/>
                </a:tc>
              </a:tr>
              <a:tr h="365760">
                <a:tc>
                  <a:txBody>
                    <a:bodyPr/>
                    <a:lstStyle/>
                    <a:p>
                      <a:pPr>
                        <a:defRPr sz="1200">
                          <a:solidFill>
                            <a:srgbClr val="0B0B0B"/>
                          </a:solidFill>
                        </a:defRPr>
                      </a:pPr>
                      <a:r>
                        <a:t>Y</a:t>
                      </a:r>
                    </a:p>
                  </a:txBody>
                  <a:tcPr/>
                </a:tc>
                <a:tc>
                  <a:txBody>
                    <a:bodyPr/>
                    <a:lstStyle/>
                    <a:p>
                      <a:pPr>
                        <a:defRPr sz="1200">
                          <a:solidFill>
                            <a:srgbClr val="0B0B0B"/>
                          </a:solidFill>
                        </a:defRPr>
                      </a:pPr>
                      <a:r>
                        <a:t>95 → 2000</a:t>
                      </a:r>
                    </a:p>
                  </a:txBody>
                  <a:tcPr/>
                </a:tc>
                <a:tc>
                  <a:txBody>
                    <a:bodyPr/>
                    <a:lstStyle/>
                    <a:p>
                      <a:pPr>
                        <a:defRPr sz="1200">
                          <a:solidFill>
                            <a:srgbClr val="0B0B0B"/>
                          </a:solidFill>
                        </a:defRPr>
                      </a:pPr>
                      <a:r>
                        <a:t>y</a:t>
                      </a:r>
                    </a:p>
                  </a:txBody>
                  <a:tcPr/>
                </a:tc>
                <a:tc>
                  <a:txBody>
                    <a:bodyPr/>
                    <a:lstStyle/>
                    <a:p>
                      <a:pPr>
                        <a:defRPr sz="1200">
                          <a:solidFill>
                            <a:srgbClr val="0B0B0B"/>
                          </a:solidFill>
                        </a:defRPr>
                      </a:pPr>
                      <a:r>
                        <a:t>-124.2</a:t>
                      </a:r>
                    </a:p>
                  </a:txBody>
                  <a:tcPr/>
                </a:tc>
                <a:tc>
                  <a:txBody>
                    <a:bodyPr/>
                    <a:lstStyle/>
                    <a:p>
                      <a:pPr>
                        <a:defRPr sz="1200">
                          <a:solidFill>
                            <a:srgbClr val="0B0B0B"/>
                          </a:solidFill>
                        </a:defRPr>
                      </a:pPr>
                      <a:r>
                        <a:t>0.0%</a:t>
                      </a:r>
                    </a:p>
                  </a:txBody>
                  <a:tcPr/>
                </a:tc>
                <a:tc>
                  <a:txBody>
                    <a:bodyPr/>
                    <a:lstStyle/>
                    <a:p>
                      <a:pPr>
                        <a:defRPr sz="1200">
                          <a:solidFill>
                            <a:srgbClr val="0B0B0B"/>
                          </a:solidFill>
                        </a:defRPr>
                      </a:pPr>
                      <a:r>
                        <a:t>765ms</a:t>
                      </a:r>
                    </a:p>
                  </a:txBody>
                  <a:tcPr/>
                </a:tc>
              </a:tr>
              <a:tr h="365760">
                <a:tc>
                  <a:txBody>
                    <a:bodyPr/>
                    <a:lstStyle/>
                    <a:p>
                      <a:pPr>
                        <a:defRPr sz="1200">
                          <a:solidFill>
                            <a:srgbClr val="0B0B0B"/>
                          </a:solidFill>
                        </a:defRPr>
                      </a:pPr>
                      <a:r>
                        <a:t>Y</a:t>
                      </a:r>
                    </a:p>
                  </a:txBody>
                  <a:tcPr/>
                </a:tc>
                <a:tc>
                  <a:txBody>
                    <a:bodyPr/>
                    <a:lstStyle/>
                    <a:p>
                      <a:pPr>
                        <a:defRPr sz="1200">
                          <a:solidFill>
                            <a:srgbClr val="0B0B0B"/>
                          </a:solidFill>
                        </a:defRPr>
                      </a:pPr>
                      <a:r>
                        <a:t>2000 → 2100</a:t>
                      </a:r>
                    </a:p>
                  </a:txBody>
                  <a:tcPr/>
                </a:tc>
                <a:tc>
                  <a:txBody>
                    <a:bodyPr/>
                    <a:lstStyle/>
                    <a:p>
                      <a:pPr>
                        <a:defRPr sz="1200">
                          <a:solidFill>
                            <a:srgbClr val="0B0B0B"/>
                          </a:solidFill>
                        </a:defRPr>
                      </a:pPr>
                      <a:r>
                        <a:t>y</a:t>
                      </a:r>
                    </a:p>
                  </a:txBody>
                  <a:tcPr/>
                </a:tc>
                <a:tc>
                  <a:txBody>
                    <a:bodyPr/>
                    <a:lstStyle/>
                    <a:p>
                      <a:pPr>
                        <a:defRPr sz="1200">
                          <a:solidFill>
                            <a:srgbClr val="0B0B0B"/>
                          </a:solidFill>
                        </a:defRPr>
                      </a:pPr>
                      <a:r>
                        <a:t>-11.5</a:t>
                      </a:r>
                    </a:p>
                  </a:txBody>
                  <a:tcPr/>
                </a:tc>
                <a:tc>
                  <a:txBody>
                    <a:bodyPr/>
                    <a:lstStyle/>
                    <a:p>
                      <a:pPr>
                        <a:defRPr sz="1200">
                          <a:solidFill>
                            <a:srgbClr val="0B0B0B"/>
                          </a:solidFill>
                        </a:defRPr>
                      </a:pPr>
                      <a:r>
                        <a:t>0.0%</a:t>
                      </a:r>
                    </a:p>
                  </a:txBody>
                  <a:tcPr/>
                </a:tc>
                <a:tc>
                  <a:txBody>
                    <a:bodyPr/>
                    <a:lstStyle/>
                    <a:p>
                      <a:pPr>
                        <a:defRPr sz="1200">
                          <a:solidFill>
                            <a:srgbClr val="0B0B0B"/>
                          </a:solidFill>
                        </a:defRPr>
                      </a:pPr>
                      <a:r>
                        <a:t>250ms</a:t>
                      </a:r>
                    </a:p>
                  </a:txBody>
                  <a:tcPr/>
                </a:tc>
              </a:tr>
              <a:tr h="365760">
                <a:tc>
                  <a:txBody>
                    <a:bodyPr/>
                    <a:lstStyle/>
                    <a:p>
                      <a:pPr>
                        <a:defRPr sz="1200">
                          <a:solidFill>
                            <a:srgbClr val="0B0B0B"/>
                          </a:solidFill>
                        </a:defRPr>
                      </a:pPr>
                      <a:r>
                        <a:t>Y</a:t>
                      </a:r>
                    </a:p>
                  </a:txBody>
                  <a:tcPr/>
                </a:tc>
                <a:tc>
                  <a:txBody>
                    <a:bodyPr/>
                    <a:lstStyle/>
                    <a:p>
                      <a:pPr>
                        <a:defRPr sz="1200">
                          <a:solidFill>
                            <a:srgbClr val="0B0B0B"/>
                          </a:solidFill>
                        </a:defRPr>
                      </a:pPr>
                      <a:r>
                        <a:t>2100 → 2000</a:t>
                      </a:r>
                    </a:p>
                  </a:txBody>
                  <a:tcPr/>
                </a:tc>
                <a:tc>
                  <a:txBody>
                    <a:bodyPr/>
                    <a:lstStyle/>
                    <a:p>
                      <a:pPr>
                        <a:defRPr sz="1200">
                          <a:solidFill>
                            <a:srgbClr val="0B0B0B"/>
                          </a:solidFill>
                        </a:defRPr>
                      </a:pPr>
                      <a:r>
                        <a:t>y</a:t>
                      </a:r>
                    </a:p>
                  </a:txBody>
                  <a:tcPr/>
                </a:tc>
                <a:tc>
                  <a:txBody>
                    <a:bodyPr/>
                    <a:lstStyle/>
                    <a:p>
                      <a:pPr>
                        <a:defRPr sz="1200">
                          <a:solidFill>
                            <a:srgbClr val="0B0B0B"/>
                          </a:solidFill>
                        </a:defRPr>
                      </a:pPr>
                      <a:r>
                        <a:t>3.4</a:t>
                      </a:r>
                    </a:p>
                  </a:txBody>
                  <a:tcPr/>
                </a:tc>
                <a:tc>
                  <a:txBody>
                    <a:bodyPr/>
                    <a:lstStyle/>
                    <a:p>
                      <a:pPr>
                        <a:defRPr sz="1200">
                          <a:solidFill>
                            <a:srgbClr val="0B0B0B"/>
                          </a:solidFill>
                        </a:defRPr>
                      </a:pPr>
                      <a:r>
                        <a:t>94.1%</a:t>
                      </a:r>
                    </a:p>
                  </a:txBody>
                  <a:tcPr/>
                </a:tc>
                <a:tc>
                  <a:txBody>
                    <a:bodyPr/>
                    <a:lstStyle/>
                    <a:p>
                      <a:pPr>
                        <a:defRPr sz="1200">
                          <a:solidFill>
                            <a:srgbClr val="0B0B0B"/>
                          </a:solidFill>
                        </a:defRPr>
                      </a:pPr>
                      <a:r>
                        <a:t>156ms</a:t>
                      </a:r>
                    </a:p>
                  </a:txBody>
                  <a:tcPr/>
                </a:tc>
              </a:tr>
              <a:tr h="365760">
                <a:tc>
                  <a:txBody>
                    <a:bodyPr/>
                    <a:lstStyle/>
                    <a:p>
                      <a:pPr>
                        <a:defRPr sz="1200">
                          <a:solidFill>
                            <a:srgbClr val="0B0B0B"/>
                          </a:solidFill>
                        </a:defRPr>
                      </a:pPr>
                      <a:r>
                        <a:t>Y</a:t>
                      </a:r>
                    </a:p>
                  </a:txBody>
                  <a:tcPr/>
                </a:tc>
                <a:tc>
                  <a:txBody>
                    <a:bodyPr/>
                    <a:lstStyle/>
                    <a:p>
                      <a:pPr>
                        <a:defRPr sz="1200">
                          <a:solidFill>
                            <a:srgbClr val="0B0B0B"/>
                          </a:solidFill>
                        </a:defRPr>
                      </a:pPr>
                      <a:r>
                        <a:t>2000 → 2100</a:t>
                      </a:r>
                    </a:p>
                  </a:txBody>
                  <a:tcPr/>
                </a:tc>
                <a:tc>
                  <a:txBody>
                    <a:bodyPr/>
                    <a:lstStyle/>
                    <a:p>
                      <a:pPr>
                        <a:defRPr sz="1200">
                          <a:solidFill>
                            <a:srgbClr val="0B0B0B"/>
                          </a:solidFill>
                        </a:defRPr>
                      </a:pPr>
                      <a:r>
                        <a:t>y</a:t>
                      </a:r>
                    </a:p>
                  </a:txBody>
                  <a:tcPr/>
                </a:tc>
                <a:tc>
                  <a:txBody>
                    <a:bodyPr/>
                    <a:lstStyle/>
                    <a:p>
                      <a:pPr>
                        <a:defRPr sz="1200">
                          <a:solidFill>
                            <a:srgbClr val="0B0B0B"/>
                          </a:solidFill>
                        </a:defRPr>
                      </a:pPr>
                      <a:r>
                        <a:t>-5.7</a:t>
                      </a:r>
                    </a:p>
                  </a:txBody>
                  <a:tcPr/>
                </a:tc>
                <a:tc>
                  <a:txBody>
                    <a:bodyPr/>
                    <a:lstStyle/>
                    <a:p>
                      <a:pPr>
                        <a:defRPr sz="1200">
                          <a:solidFill>
                            <a:srgbClr val="0B0B0B"/>
                          </a:solidFill>
                        </a:defRPr>
                      </a:pPr>
                      <a:r>
                        <a:t>0.0%</a:t>
                      </a:r>
                    </a:p>
                  </a:txBody>
                  <a:tcPr/>
                </a:tc>
                <a:tc>
                  <a:txBody>
                    <a:bodyPr/>
                    <a:lstStyle/>
                    <a:p>
                      <a:pPr>
                        <a:defRPr sz="1200">
                          <a:solidFill>
                            <a:srgbClr val="0B0B0B"/>
                          </a:solidFill>
                        </a:defRPr>
                      </a:pPr>
                      <a:r>
                        <a:t>234ms</a:t>
                      </a:r>
                    </a:p>
                  </a:txBody>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64240" cy="640080"/>
          </a:xfrm>
          <a:prstGeom prst="rect">
            <a:avLst/>
          </a:prstGeom>
          <a:noFill/>
        </p:spPr>
        <p:txBody>
          <a:bodyPr wrap="square">
            <a:spAutoFit/>
          </a:bodyPr>
          <a:lstStyle/>
          <a:p>
            <a:pPr>
              <a:defRPr sz="2800" b="1">
                <a:solidFill>
                  <a:srgbClr val="0B0B0B"/>
                </a:solidFill>
              </a:defRPr>
            </a:pPr>
            <a:r>
              <a:t>Findings vs. pre-fix baseline (2026-07-23)</a:t>
            </a:r>
          </a:p>
        </p:txBody>
      </p:sp>
      <p:sp>
        <p:nvSpPr>
          <p:cNvPr id="3" name="TextBox 2"/>
          <p:cNvSpPr txBox="1"/>
          <p:nvPr/>
        </p:nvSpPr>
        <p:spPr>
          <a:xfrm>
            <a:off x="731520" y="1554480"/>
            <a:ext cx="10698480" cy="4572000"/>
          </a:xfrm>
          <a:prstGeom prst="rect">
            <a:avLst/>
          </a:prstGeom>
          <a:noFill/>
        </p:spPr>
        <p:txBody>
          <a:bodyPr wrap="square">
            <a:spAutoFit/>
          </a:bodyPr>
          <a:lstStyle/>
          <a:p>
            <a:pPr>
              <a:spcAft>
                <a:spcPts val="1000"/>
              </a:spcAft>
              <a:defRPr sz="1500">
                <a:solidFill>
                  <a:srgbClr val="0B0B0B"/>
                </a:solidFill>
              </a:defRPr>
            </a:pPr>
            <a:r>
              <a:t>•  Actuator confirmed physically moving on every run — the pre-fix "no movement" scare doesn't reproduce; amp_enable was always reaching the board.</a:t>
            </a:r>
          </a:p>
          <a:p>
            <a:pPr>
              <a:spcAft>
                <a:spcPts val="1000"/>
              </a:spcAft>
              <a:defRPr sz="1500">
                <a:solidFill>
                  <a:srgbClr val="0B0B0B"/>
                </a:solidFill>
              </a:defRPr>
            </a:pPr>
            <a:r>
              <a:t>•  Axis coupling flipped, consistently across all 8 runs: DAC-x now drives pixel-x directly (was pixel-y pre-fix), DAC-y now drives pixel-y (was pixel-x). Not measurement noise — the direction is consistent. Cause not identified (likely camera/actuator reorientation during the SB16/SB18 rework or bench reconfiguration).</a:t>
            </a:r>
          </a:p>
          <a:p>
            <a:pPr>
              <a:spcAft>
                <a:spcPts val="1000"/>
              </a:spcAft>
              <a:defRPr sz="1500">
                <a:solidFill>
                  <a:srgbClr val="0B0B0B"/>
                </a:solidFill>
              </a:defRPr>
            </a:pPr>
            <a:r>
              <a:t>•  → Any old fta_calibration.py fit matrix is now invalid — a fresh calibration sweep is required.</a:t>
            </a:r>
          </a:p>
          <a:p>
            <a:pPr>
              <a:spcAft>
                <a:spcPts val="1000"/>
              </a:spcAft>
              <a:defRPr sz="1500">
                <a:solidFill>
                  <a:srgbClr val="0B0B0B"/>
                </a:solidFill>
              </a:defRPr>
            </a:pPr>
            <a:r>
              <a:t>•  Small-step settling times are larger and noisier than pre-fix (125–469ms vs. 22–144ms); large-step settling is comparable (765–922ms vs. 793–1183ms).</a:t>
            </a:r>
          </a:p>
          <a:p>
            <a:pPr>
              <a:spcAft>
                <a:spcPts val="1000"/>
              </a:spcAft>
              <a:defRPr sz="1500">
                <a:solidFill>
                  <a:srgbClr val="0B0B0B"/>
                </a:solidFill>
              </a:defRPr>
            </a:pPr>
            <a:r>
              <a:t>•  → Not yet distinguished: a real dynamics change from the rework, vs. this method's lower sample rate (≈180Hz VCP relay vs. the original's camera-direct rate) making the settling-time criterion more sensitive to a single noisy tail sample.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64240" cy="640080"/>
          </a:xfrm>
          <a:prstGeom prst="rect">
            <a:avLst/>
          </a:prstGeom>
          <a:noFill/>
        </p:spPr>
        <p:txBody>
          <a:bodyPr wrap="square">
            <a:spAutoFit/>
          </a:bodyPr>
          <a:lstStyle/>
          <a:p>
            <a:pPr>
              <a:defRPr sz="2800" b="1">
                <a:solidFill>
                  <a:srgbClr val="0B0B0B"/>
                </a:solidFill>
              </a:defRPr>
            </a:pPr>
            <a:r>
              <a:t>Sine tracking — methodology</a:t>
            </a:r>
          </a:p>
        </p:txBody>
      </p:sp>
      <p:sp>
        <p:nvSpPr>
          <p:cNvPr id="3" name="TextBox 2"/>
          <p:cNvSpPr txBox="1"/>
          <p:nvPr/>
        </p:nvSpPr>
        <p:spPr>
          <a:xfrm>
            <a:off x="731520" y="1554480"/>
            <a:ext cx="10698480" cy="4572000"/>
          </a:xfrm>
          <a:prstGeom prst="rect">
            <a:avLst/>
          </a:prstGeom>
          <a:noFill/>
        </p:spPr>
        <p:txBody>
          <a:bodyPr wrap="square">
            <a:spAutoFit/>
          </a:bodyPr>
          <a:lstStyle/>
          <a:p>
            <a:pPr>
              <a:spcAft>
                <a:spcPts val="1000"/>
              </a:spcAft>
              <a:defRPr sz="1500">
                <a:solidFill>
                  <a:srgbClr val="0B0B0B"/>
                </a:solidFill>
              </a:defRPr>
            </a:pPr>
            <a:r>
              <a:t>•  Complements the step-response tests: commands a continuous sine on axis X (±200 DAC counts around 2000) and measures how well the pixel position follows it — directly relevant to rejecting the project's actual 10-20Hz disturbance band.</a:t>
            </a:r>
          </a:p>
          <a:p>
            <a:pPr>
              <a:spcAft>
                <a:spcPts val="1000"/>
              </a:spcAft>
              <a:defRPr sz="1500">
                <a:solidFill>
                  <a:srgbClr val="0B0B0B"/>
                </a:solidFill>
              </a:defRPr>
            </a:pPr>
            <a:r>
              <a:t>•  Same laptop-only VCP approach as the step tests: set_x commands paced at 200Hz, measured position sourced from the Nucleo's per-packet I2C-relay print. Amp state is now explicitly verified (not fire-and-forget) after a real false result on 2026-08-06: a silently-failed amp_enable produced a near-zero response briefly mistaken for a genuine actuator finding.</a:t>
            </a:r>
          </a:p>
          <a:p>
            <a:pPr>
              <a:spcAft>
                <a:spcPts val="1000"/>
              </a:spcAft>
              <a:defRPr sz="1500">
                <a:solidFill>
                  <a:srgbClr val="0B0B0B"/>
                </a:solidFill>
              </a:defRPr>
            </a:pPr>
            <a:r>
              <a:t>•  Frequency is known exactly, so fitting the measured trace to A·sin(ωt)+B·cos(ωt)+C is linear least-squares, no iterative fit needed.</a:t>
            </a:r>
          </a:p>
          <a:p>
            <a:pPr>
              <a:spcAft>
                <a:spcPts val="1000"/>
              </a:spcAft>
              <a:defRPr sz="1500">
                <a:solidFill>
                  <a:srgbClr val="0B0B0B"/>
                </a:solidFill>
              </a:defRPr>
            </a:pPr>
            <a:r>
              <a:t>•  IMPORTANT CORRECTION: the step-response data already showed DAC increases move the pixel value DOWN on this axis (a real, normal sign convention, not a bug). A negative gain shows up in a raw amplitude/phase fit as ≈180° phase at EVERY frequency, regardless of real dynamics — initially misread as a huge lag. Fixed by reporting a signed gain plus the residual lag relative to whichever reference (0° or 180°) the fit actually landed near.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64240" cy="640080"/>
          </a:xfrm>
          <a:prstGeom prst="rect">
            <a:avLst/>
          </a:prstGeom>
          <a:noFill/>
        </p:spPr>
        <p:txBody>
          <a:bodyPr wrap="square">
            <a:spAutoFit/>
          </a:bodyPr>
          <a:lstStyle/>
          <a:p>
            <a:pPr>
              <a:defRPr sz="2800" b="1">
                <a:solidFill>
                  <a:srgbClr val="0B0B0B"/>
                </a:solidFill>
              </a:defRPr>
            </a:pPr>
            <a:r>
              <a:t>Sine tracking results (corrected)</a:t>
            </a:r>
          </a:p>
        </p:txBody>
      </p:sp>
      <p:pic>
        <p:nvPicPr>
          <p:cNvPr id="3" name="Picture 2" descr="sine_response_corrected.png"/>
          <p:cNvPicPr>
            <a:picLocks noChangeAspect="1"/>
          </p:cNvPicPr>
          <p:nvPr/>
        </p:nvPicPr>
        <p:blipFill>
          <a:blip r:embed="rId2"/>
          <a:stretch>
            <a:fillRect/>
          </a:stretch>
        </p:blipFill>
        <p:spPr>
          <a:xfrm>
            <a:off x="320040" y="1051560"/>
            <a:ext cx="11521440" cy="6559465"/>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64240" cy="640080"/>
          </a:xfrm>
          <a:prstGeom prst="rect">
            <a:avLst/>
          </a:prstGeom>
          <a:noFill/>
        </p:spPr>
        <p:txBody>
          <a:bodyPr wrap="square">
            <a:spAutoFit/>
          </a:bodyPr>
          <a:lstStyle/>
          <a:p>
            <a:pPr>
              <a:defRPr sz="2800" b="1">
                <a:solidFill>
                  <a:srgbClr val="0B0B0B"/>
                </a:solidFill>
              </a:defRPr>
            </a:pPr>
            <a:r>
              <a:t>Sine tracking — lag analysis &amp; findings</a:t>
            </a:r>
          </a:p>
        </p:txBody>
      </p:sp>
      <p:pic>
        <p:nvPicPr>
          <p:cNvPr id="3" name="Picture 2" descr="sine_lag_vs_freq.png"/>
          <p:cNvPicPr>
            <a:picLocks noChangeAspect="1"/>
          </p:cNvPicPr>
          <p:nvPr/>
        </p:nvPicPr>
        <p:blipFill>
          <a:blip r:embed="rId2"/>
          <a:stretch>
            <a:fillRect/>
          </a:stretch>
        </p:blipFill>
        <p:spPr>
          <a:xfrm>
            <a:off x="457200" y="1143000"/>
            <a:ext cx="5486400" cy="3291840"/>
          </a:xfrm>
          <a:prstGeom prst="rect">
            <a:avLst/>
          </a:prstGeom>
        </p:spPr>
      </p:pic>
      <p:graphicFrame>
        <p:nvGraphicFramePr>
          <p:cNvPr id="4" name="Table 3"/>
          <p:cNvGraphicFramePr>
            <a:graphicFrameLocks noGrp="1"/>
          </p:cNvGraphicFramePr>
          <p:nvPr/>
        </p:nvGraphicFramePr>
        <p:xfrm>
          <a:off x="6675120" y="1143000"/>
          <a:ext cx="4937760" cy="1828800"/>
        </p:xfrm>
        <a:graphic>
          <a:graphicData uri="http://schemas.openxmlformats.org/drawingml/2006/table">
            <a:tbl>
              <a:tblPr firstRow="1" bandRow="1">
                <a:tableStyleId>{5C22544A-7EE6-4342-B048-85BDC9FD1C3A}</a:tableStyleId>
              </a:tblPr>
              <a:tblGrid>
                <a:gridCol w="1645920"/>
                <a:gridCol w="1645920"/>
                <a:gridCol w="1645920"/>
              </a:tblGrid>
              <a:tr h="365760">
                <a:tc>
                  <a:txBody>
                    <a:bodyPr/>
                    <a:lstStyle/>
                    <a:p>
                      <a:pPr>
                        <a:defRPr b="1" sz="1300">
                          <a:solidFill>
                            <a:srgbClr val="FFFFFF"/>
                          </a:solidFill>
                        </a:defRPr>
                      </a:pPr>
                      <a:r>
                        <a:t>Freq</a:t>
                      </a:r>
                    </a:p>
                  </a:txBody>
                  <a:tcPr>
                    <a:solidFill>
                      <a:srgbClr val="2A78D6"/>
                    </a:solidFill>
                  </a:tcPr>
                </a:tc>
                <a:tc>
                  <a:txBody>
                    <a:bodyPr/>
                    <a:lstStyle/>
                    <a:p>
                      <a:pPr>
                        <a:defRPr b="1" sz="1300">
                          <a:solidFill>
                            <a:srgbClr val="FFFFFF"/>
                          </a:solidFill>
                        </a:defRPr>
                      </a:pPr>
                      <a:r>
                        <a:t>Gain (px)</a:t>
                      </a:r>
                    </a:p>
                  </a:txBody>
                  <a:tcPr>
                    <a:solidFill>
                      <a:srgbClr val="2A78D6"/>
                    </a:solidFill>
                  </a:tcPr>
                </a:tc>
                <a:tc>
                  <a:txBody>
                    <a:bodyPr/>
                    <a:lstStyle/>
                    <a:p>
                      <a:pPr>
                        <a:defRPr b="1" sz="1300">
                          <a:solidFill>
                            <a:srgbClr val="FFFFFF"/>
                          </a:solidFill>
                        </a:defRPr>
                      </a:pPr>
                      <a:r>
                        <a:t>Lag (ms)</a:t>
                      </a:r>
                    </a:p>
                  </a:txBody>
                  <a:tcPr>
                    <a:solidFill>
                      <a:srgbClr val="2A78D6"/>
                    </a:solidFill>
                  </a:tcPr>
                </a:tc>
              </a:tr>
              <a:tr h="365760">
                <a:tc>
                  <a:txBody>
                    <a:bodyPr/>
                    <a:lstStyle/>
                    <a:p>
                      <a:pPr>
                        <a:defRPr sz="1200">
                          <a:solidFill>
                            <a:srgbClr val="0B0B0B"/>
                          </a:solidFill>
                        </a:defRPr>
                      </a:pPr>
                      <a:r>
                        <a:t>0.1 Hz</a:t>
                      </a:r>
                    </a:p>
                  </a:txBody>
                  <a:tcPr/>
                </a:tc>
                <a:tc>
                  <a:txBody>
                    <a:bodyPr/>
                    <a:lstStyle/>
                    <a:p>
                      <a:pPr>
                        <a:defRPr sz="1200">
                          <a:solidFill>
                            <a:srgbClr val="0B0B0B"/>
                          </a:solidFill>
                        </a:defRPr>
                      </a:pPr>
                      <a:r>
                        <a:t>-19.2</a:t>
                      </a:r>
                    </a:p>
                  </a:txBody>
                  <a:tcPr/>
                </a:tc>
                <a:tc>
                  <a:txBody>
                    <a:bodyPr/>
                    <a:lstStyle/>
                    <a:p>
                      <a:pPr>
                        <a:defRPr sz="1200">
                          <a:solidFill>
                            <a:srgbClr val="0B0B0B"/>
                          </a:solidFill>
                        </a:defRPr>
                      </a:pPr>
                      <a:r>
                        <a:t>161</a:t>
                      </a:r>
                    </a:p>
                  </a:txBody>
                  <a:tcPr/>
                </a:tc>
              </a:tr>
              <a:tr h="365760">
                <a:tc>
                  <a:txBody>
                    <a:bodyPr/>
                    <a:lstStyle/>
                    <a:p>
                      <a:pPr>
                        <a:defRPr sz="1200">
                          <a:solidFill>
                            <a:srgbClr val="0B0B0B"/>
                          </a:solidFill>
                        </a:defRPr>
                      </a:pPr>
                      <a:r>
                        <a:t>0.5 Hz</a:t>
                      </a:r>
                    </a:p>
                  </a:txBody>
                  <a:tcPr/>
                </a:tc>
                <a:tc>
                  <a:txBody>
                    <a:bodyPr/>
                    <a:lstStyle/>
                    <a:p>
                      <a:pPr>
                        <a:defRPr sz="1200">
                          <a:solidFill>
                            <a:srgbClr val="0B0B0B"/>
                          </a:solidFill>
                        </a:defRPr>
                      </a:pPr>
                      <a:r>
                        <a:t>-17.8</a:t>
                      </a:r>
                    </a:p>
                  </a:txBody>
                  <a:tcPr/>
                </a:tc>
                <a:tc>
                  <a:txBody>
                    <a:bodyPr/>
                    <a:lstStyle/>
                    <a:p>
                      <a:pPr>
                        <a:defRPr sz="1200">
                          <a:solidFill>
                            <a:srgbClr val="0B0B0B"/>
                          </a:solidFill>
                        </a:defRPr>
                      </a:pPr>
                      <a:r>
                        <a:t>68</a:t>
                      </a:r>
                    </a:p>
                  </a:txBody>
                  <a:tcPr/>
                </a:tc>
              </a:tr>
              <a:tr h="365760">
                <a:tc>
                  <a:txBody>
                    <a:bodyPr/>
                    <a:lstStyle/>
                    <a:p>
                      <a:pPr>
                        <a:defRPr sz="1200">
                          <a:solidFill>
                            <a:srgbClr val="0B0B0B"/>
                          </a:solidFill>
                        </a:defRPr>
                      </a:pPr>
                      <a:r>
                        <a:t>1 Hz</a:t>
                      </a:r>
                    </a:p>
                  </a:txBody>
                  <a:tcPr/>
                </a:tc>
                <a:tc>
                  <a:txBody>
                    <a:bodyPr/>
                    <a:lstStyle/>
                    <a:p>
                      <a:pPr>
                        <a:defRPr sz="1200">
                          <a:solidFill>
                            <a:srgbClr val="0B0B0B"/>
                          </a:solidFill>
                        </a:defRPr>
                      </a:pPr>
                      <a:r>
                        <a:t>-16.6</a:t>
                      </a:r>
                    </a:p>
                  </a:txBody>
                  <a:tcPr/>
                </a:tc>
                <a:tc>
                  <a:txBody>
                    <a:bodyPr/>
                    <a:lstStyle/>
                    <a:p>
                      <a:pPr>
                        <a:defRPr sz="1200">
                          <a:solidFill>
                            <a:srgbClr val="0B0B0B"/>
                          </a:solidFill>
                        </a:defRPr>
                      </a:pPr>
                      <a:r>
                        <a:t>59</a:t>
                      </a:r>
                    </a:p>
                  </a:txBody>
                  <a:tcPr/>
                </a:tc>
              </a:tr>
              <a:tr h="365760">
                <a:tc>
                  <a:txBody>
                    <a:bodyPr/>
                    <a:lstStyle/>
                    <a:p>
                      <a:pPr>
                        <a:defRPr sz="1200">
                          <a:solidFill>
                            <a:srgbClr val="0B0B0B"/>
                          </a:solidFill>
                        </a:defRPr>
                      </a:pPr>
                      <a:r>
                        <a:t>2 Hz</a:t>
                      </a:r>
                    </a:p>
                  </a:txBody>
                  <a:tcPr/>
                </a:tc>
                <a:tc>
                  <a:txBody>
                    <a:bodyPr/>
                    <a:lstStyle/>
                    <a:p>
                      <a:pPr>
                        <a:defRPr sz="1200">
                          <a:solidFill>
                            <a:srgbClr val="0B0B0B"/>
                          </a:solidFill>
                        </a:defRPr>
                      </a:pPr>
                      <a:r>
                        <a:t>-15.2</a:t>
                      </a:r>
                    </a:p>
                  </a:txBody>
                  <a:tcPr/>
                </a:tc>
                <a:tc>
                  <a:txBody>
                    <a:bodyPr/>
                    <a:lstStyle/>
                    <a:p>
                      <a:pPr>
                        <a:defRPr sz="1200">
                          <a:solidFill>
                            <a:srgbClr val="0B0B0B"/>
                          </a:solidFill>
                        </a:defRPr>
                      </a:pPr>
                      <a:r>
                        <a:t>47</a:t>
                      </a:r>
                    </a:p>
                  </a:txBody>
                  <a:tcPr/>
                </a:tc>
              </a:tr>
            </a:tbl>
          </a:graphicData>
        </a:graphic>
      </p:graphicFrame>
      <p:sp>
        <p:nvSpPr>
          <p:cNvPr id="5" name="TextBox 4"/>
          <p:cNvSpPr txBox="1"/>
          <p:nvPr/>
        </p:nvSpPr>
        <p:spPr>
          <a:xfrm>
            <a:off x="418063680000" y="4264249536000"/>
            <a:ext cx="10284366528000" cy="1839480192000"/>
          </a:xfrm>
          <a:prstGeom prst="rect">
            <a:avLst/>
          </a:prstGeom>
          <a:noFill/>
        </p:spPr>
        <p:txBody>
          <a:bodyPr wrap="square">
            <a:spAutoFit/>
          </a:bodyPr>
          <a:lstStyle/>
          <a:p>
            <a:pPr>
              <a:spcAft>
                <a:spcPts val="1000"/>
              </a:spcAft>
              <a:defRPr sz="1300">
                <a:solidFill>
                  <a:srgbClr val="0B0B0B"/>
                </a:solidFill>
              </a:defRPr>
            </a:pPr>
            <a:r>
              <a:t>•  Lag-vs-frequency is close to a straight line through near-zero (residuals under 1.5° across 0.1-2Hz) — the signature of a roughly CONSTANT time delay (~41ms), not frequency-dependent actuator dynamics (which would curve/plateau, not stay linear).</a:t>
            </a:r>
          </a:p>
          <a:p>
            <a:pPr>
              <a:spcAft>
                <a:spcPts val="1000"/>
              </a:spcAft>
              <a:defRPr sz="1300">
                <a:solidFill>
                  <a:srgbClr val="0B0B0B"/>
                </a:solidFill>
              </a:defRPr>
            </a:pPr>
            <a:r>
              <a:t>•  ~41ms is a plausible total for this test's own measurement pipeline (camera capture → I2C → Nucleo print → USB VCP → Python read) — a real closed-loop PID running on the Nucleo reads telemetry directly at ISR level and would not pay most of this cost.</a:t>
            </a:r>
          </a:p>
          <a:p>
            <a:pPr>
              <a:spcAft>
                <a:spcPts val="1000"/>
              </a:spcAft>
              <a:defRPr sz="1300">
                <a:solidFill>
                  <a:srgbClr val="0B0B0B"/>
                </a:solidFill>
              </a:defRPr>
            </a:pPr>
            <a:r>
              <a:t>•  Gain is consistent across all 4 frequencies (-15 to -19px per 200 DAC counts, mildly declining with frequency) — no sign of the actuator failing to track or distorting at any rate tested so far, up to 2Hz.</a:t>
            </a:r>
          </a:p>
          <a:p>
            <a:pPr>
              <a:spcAft>
                <a:spcPts val="1000"/>
              </a:spcAft>
              <a:defRPr sz="1300">
                <a:solidFill>
                  <a:srgbClr val="0B0B0B"/>
                </a:solidFill>
              </a:defRPr>
            </a:pPr>
            <a:r>
              <a:t>•  Net effect: the actuator's own dynamics look faster/cleaner than initially feared. Doesn't yet answer the real question (10-20Hz) — next step is pushing frequency into that band, now that the analysis is trustworthy.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64240" cy="914400"/>
          </a:xfrm>
          <a:prstGeom prst="rect">
            <a:avLst/>
          </a:prstGeom>
          <a:noFill/>
        </p:spPr>
        <p:txBody>
          <a:bodyPr wrap="square">
            <a:spAutoFit/>
          </a:bodyPr>
          <a:lstStyle/>
          <a:p>
            <a:pPr>
              <a:defRPr sz="2800" b="1">
                <a:solidFill>
                  <a:srgbClr val="0B0B0B"/>
                </a:solidFill>
              </a:defRPr>
            </a:pPr>
            <a:r>
              <a:t>Pushing toward the 10-20Hz disturbance band</a:t>
            </a:r>
          </a:p>
          <a:p>
            <a:pPr>
              <a:defRPr sz="1400">
                <a:solidFill>
                  <a:srgbClr val="52514E"/>
                </a:solidFill>
              </a:defRPr>
            </a:pPr>
            <a:r>
              <a:t>Projected onto the actuator's fitted motion axis, not the camera's x/y axes</a:t>
            </a:r>
          </a:p>
        </p:txBody>
      </p:sp>
      <p:pic>
        <p:nvPicPr>
          <p:cNvPr id="3" name="Picture 2" descr="sine_highfreq_rotated.png"/>
          <p:cNvPicPr>
            <a:picLocks noChangeAspect="1"/>
          </p:cNvPicPr>
          <p:nvPr/>
        </p:nvPicPr>
        <p:blipFill>
          <a:blip r:embed="rId2"/>
          <a:stretch>
            <a:fillRect/>
          </a:stretch>
        </p:blipFill>
        <p:spPr>
          <a:xfrm>
            <a:off x="320040" y="1234440"/>
            <a:ext cx="11521440" cy="6606377"/>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64240" cy="640080"/>
          </a:xfrm>
          <a:prstGeom prst="rect">
            <a:avLst/>
          </a:prstGeom>
          <a:noFill/>
        </p:spPr>
        <p:txBody>
          <a:bodyPr wrap="square">
            <a:spAutoFit/>
          </a:bodyPr>
          <a:lstStyle/>
          <a:p>
            <a:pPr>
              <a:defRPr sz="2800" b="1">
                <a:solidFill>
                  <a:srgbClr val="0B0B0B"/>
                </a:solidFill>
              </a:defRPr>
            </a:pPr>
            <a:r>
              <a:t>Gain rolls off well before 10-20Hz</a:t>
            </a:r>
          </a:p>
        </p:txBody>
      </p:sp>
      <p:pic>
        <p:nvPicPr>
          <p:cNvPr id="3" name="Picture 2" descr="sine_gain_vs_freq.png"/>
          <p:cNvPicPr>
            <a:picLocks noChangeAspect="1"/>
          </p:cNvPicPr>
          <p:nvPr/>
        </p:nvPicPr>
        <p:blipFill>
          <a:blip r:embed="rId2"/>
          <a:stretch>
            <a:fillRect/>
          </a:stretch>
        </p:blipFill>
        <p:spPr>
          <a:xfrm>
            <a:off x="365760" y="1097280"/>
            <a:ext cx="6089367" cy="3291840"/>
          </a:xfrm>
          <a:prstGeom prst="rect">
            <a:avLst/>
          </a:prstGeom>
        </p:spPr>
      </p:pic>
      <p:graphicFrame>
        <p:nvGraphicFramePr>
          <p:cNvPr id="4" name="Table 3"/>
          <p:cNvGraphicFramePr>
            <a:graphicFrameLocks noGrp="1"/>
          </p:cNvGraphicFramePr>
          <p:nvPr/>
        </p:nvGraphicFramePr>
        <p:xfrm>
          <a:off x="7863840" y="1097280"/>
          <a:ext cx="3931920" cy="2880360"/>
        </p:xfrm>
        <a:graphic>
          <a:graphicData uri="http://schemas.openxmlformats.org/drawingml/2006/table">
            <a:tbl>
              <a:tblPr firstRow="1" bandRow="1">
                <a:tableStyleId>{5C22544A-7EE6-4342-B048-85BDC9FD1C3A}</a:tableStyleId>
              </a:tblPr>
              <a:tblGrid>
                <a:gridCol w="1310640"/>
                <a:gridCol w="1310640"/>
                <a:gridCol w="1310640"/>
              </a:tblGrid>
              <a:tr h="320040">
                <a:tc>
                  <a:txBody>
                    <a:bodyPr/>
                    <a:lstStyle/>
                    <a:p>
                      <a:pPr>
                        <a:defRPr b="1" sz="1100">
                          <a:solidFill>
                            <a:srgbClr val="FFFFFF"/>
                          </a:solidFill>
                        </a:defRPr>
                      </a:pPr>
                      <a:r>
                        <a:t>Freq</a:t>
                      </a:r>
                    </a:p>
                  </a:txBody>
                  <a:tcPr>
                    <a:solidFill>
                      <a:srgbClr val="2A78D6"/>
                    </a:solidFill>
                  </a:tcPr>
                </a:tc>
                <a:tc>
                  <a:txBody>
                    <a:bodyPr/>
                    <a:lstStyle/>
                    <a:p>
                      <a:pPr>
                        <a:defRPr b="1" sz="1100">
                          <a:solidFill>
                            <a:srgbClr val="FFFFFF"/>
                          </a:solidFill>
                        </a:defRPr>
                      </a:pPr>
                      <a:r>
                        <a:t>Gain (px)</a:t>
                      </a:r>
                    </a:p>
                  </a:txBody>
                  <a:tcPr>
                    <a:solidFill>
                      <a:srgbClr val="2A78D6"/>
                    </a:solidFill>
                  </a:tcPr>
                </a:tc>
                <a:tc>
                  <a:txBody>
                    <a:bodyPr/>
                    <a:lstStyle/>
                    <a:p>
                      <a:pPr>
                        <a:defRPr b="1" sz="1100">
                          <a:solidFill>
                            <a:srgbClr val="FFFFFF"/>
                          </a:solidFill>
                        </a:defRPr>
                      </a:pPr>
                      <a:r>
                        <a:t>Lag</a:t>
                      </a:r>
                    </a:p>
                  </a:txBody>
                  <a:tcPr>
                    <a:solidFill>
                      <a:srgbClr val="2A78D6"/>
                    </a:solidFill>
                  </a:tcPr>
                </a:tc>
              </a:tr>
              <a:tr h="320040">
                <a:tc>
                  <a:txBody>
                    <a:bodyPr/>
                    <a:lstStyle/>
                    <a:p>
                      <a:pPr>
                        <a:defRPr sz="1100">
                          <a:solidFill>
                            <a:srgbClr val="0B0B0B"/>
                          </a:solidFill>
                        </a:defRPr>
                      </a:pPr>
                      <a:r>
                        <a:t>0.1 Hz</a:t>
                      </a:r>
                    </a:p>
                  </a:txBody>
                  <a:tcPr/>
                </a:tc>
                <a:tc>
                  <a:txBody>
                    <a:bodyPr/>
                    <a:lstStyle/>
                    <a:p>
                      <a:pPr>
                        <a:defRPr sz="1100">
                          <a:solidFill>
                            <a:srgbClr val="0B0B0B"/>
                          </a:solidFill>
                        </a:defRPr>
                      </a:pPr>
                      <a:r>
                        <a:t>-19.2</a:t>
                      </a:r>
                    </a:p>
                  </a:txBody>
                  <a:tcPr/>
                </a:tc>
                <a:tc>
                  <a:txBody>
                    <a:bodyPr/>
                    <a:lstStyle/>
                    <a:p>
                      <a:pPr>
                        <a:defRPr sz="1100">
                          <a:solidFill>
                            <a:srgbClr val="0B0B0B"/>
                          </a:solidFill>
                        </a:defRPr>
                      </a:pPr>
                      <a:r>
                        <a:t>161ms</a:t>
                      </a:r>
                    </a:p>
                  </a:txBody>
                  <a:tcPr/>
                </a:tc>
              </a:tr>
              <a:tr h="320040">
                <a:tc>
                  <a:txBody>
                    <a:bodyPr/>
                    <a:lstStyle/>
                    <a:p>
                      <a:pPr>
                        <a:defRPr sz="1100">
                          <a:solidFill>
                            <a:srgbClr val="0B0B0B"/>
                          </a:solidFill>
                        </a:defRPr>
                      </a:pPr>
                      <a:r>
                        <a:t>0.5 Hz</a:t>
                      </a:r>
                    </a:p>
                  </a:txBody>
                  <a:tcPr/>
                </a:tc>
                <a:tc>
                  <a:txBody>
                    <a:bodyPr/>
                    <a:lstStyle/>
                    <a:p>
                      <a:pPr>
                        <a:defRPr sz="1100">
                          <a:solidFill>
                            <a:srgbClr val="0B0B0B"/>
                          </a:solidFill>
                        </a:defRPr>
                      </a:pPr>
                      <a:r>
                        <a:t>-17.8</a:t>
                      </a:r>
                    </a:p>
                  </a:txBody>
                  <a:tcPr/>
                </a:tc>
                <a:tc>
                  <a:txBody>
                    <a:bodyPr/>
                    <a:lstStyle/>
                    <a:p>
                      <a:pPr>
                        <a:defRPr sz="1100">
                          <a:solidFill>
                            <a:srgbClr val="0B0B0B"/>
                          </a:solidFill>
                        </a:defRPr>
                      </a:pPr>
                      <a:r>
                        <a:t>68ms</a:t>
                      </a:r>
                    </a:p>
                  </a:txBody>
                  <a:tcPr/>
                </a:tc>
              </a:tr>
              <a:tr h="320040">
                <a:tc>
                  <a:txBody>
                    <a:bodyPr/>
                    <a:lstStyle/>
                    <a:p>
                      <a:pPr>
                        <a:defRPr sz="1100">
                          <a:solidFill>
                            <a:srgbClr val="0B0B0B"/>
                          </a:solidFill>
                        </a:defRPr>
                      </a:pPr>
                      <a:r>
                        <a:t>1 Hz</a:t>
                      </a:r>
                    </a:p>
                  </a:txBody>
                  <a:tcPr/>
                </a:tc>
                <a:tc>
                  <a:txBody>
                    <a:bodyPr/>
                    <a:lstStyle/>
                    <a:p>
                      <a:pPr>
                        <a:defRPr sz="1100">
                          <a:solidFill>
                            <a:srgbClr val="0B0B0B"/>
                          </a:solidFill>
                        </a:defRPr>
                      </a:pPr>
                      <a:r>
                        <a:t>-16.6</a:t>
                      </a:r>
                    </a:p>
                  </a:txBody>
                  <a:tcPr/>
                </a:tc>
                <a:tc>
                  <a:txBody>
                    <a:bodyPr/>
                    <a:lstStyle/>
                    <a:p>
                      <a:pPr>
                        <a:defRPr sz="1100">
                          <a:solidFill>
                            <a:srgbClr val="0B0B0B"/>
                          </a:solidFill>
                        </a:defRPr>
                      </a:pPr>
                      <a:r>
                        <a:t>59ms</a:t>
                      </a:r>
                    </a:p>
                  </a:txBody>
                  <a:tcPr/>
                </a:tc>
              </a:tr>
              <a:tr h="320040">
                <a:tc>
                  <a:txBody>
                    <a:bodyPr/>
                    <a:lstStyle/>
                    <a:p>
                      <a:pPr>
                        <a:defRPr sz="1100">
                          <a:solidFill>
                            <a:srgbClr val="0B0B0B"/>
                          </a:solidFill>
                        </a:defRPr>
                      </a:pPr>
                      <a:r>
                        <a:t>2 Hz</a:t>
                      </a:r>
                    </a:p>
                  </a:txBody>
                  <a:tcPr/>
                </a:tc>
                <a:tc>
                  <a:txBody>
                    <a:bodyPr/>
                    <a:lstStyle/>
                    <a:p>
                      <a:pPr>
                        <a:defRPr sz="1100">
                          <a:solidFill>
                            <a:srgbClr val="0B0B0B"/>
                          </a:solidFill>
                        </a:defRPr>
                      </a:pPr>
                      <a:r>
                        <a:t>-15.2</a:t>
                      </a:r>
                    </a:p>
                  </a:txBody>
                  <a:tcPr/>
                </a:tc>
                <a:tc>
                  <a:txBody>
                    <a:bodyPr/>
                    <a:lstStyle/>
                    <a:p>
                      <a:pPr>
                        <a:defRPr sz="1100">
                          <a:solidFill>
                            <a:srgbClr val="0B0B0B"/>
                          </a:solidFill>
                        </a:defRPr>
                      </a:pPr>
                      <a:r>
                        <a:t>47ms</a:t>
                      </a:r>
                    </a:p>
                  </a:txBody>
                  <a:tcPr/>
                </a:tc>
              </a:tr>
              <a:tr h="320040">
                <a:tc>
                  <a:txBody>
                    <a:bodyPr/>
                    <a:lstStyle/>
                    <a:p>
                      <a:pPr>
                        <a:defRPr sz="1100">
                          <a:solidFill>
                            <a:srgbClr val="0B0B0B"/>
                          </a:solidFill>
                        </a:defRPr>
                      </a:pPr>
                      <a:r>
                        <a:t>5 Hz</a:t>
                      </a:r>
                    </a:p>
                  </a:txBody>
                  <a:tcPr/>
                </a:tc>
                <a:tc>
                  <a:txBody>
                    <a:bodyPr/>
                    <a:lstStyle/>
                    <a:p>
                      <a:pPr>
                        <a:defRPr sz="1100">
                          <a:solidFill>
                            <a:srgbClr val="0B0B0B"/>
                          </a:solidFill>
                        </a:defRPr>
                      </a:pPr>
                      <a:r>
                        <a:t>+10.3</a:t>
                      </a:r>
                    </a:p>
                  </a:txBody>
                  <a:tcPr/>
                </a:tc>
                <a:tc>
                  <a:txBody>
                    <a:bodyPr/>
                    <a:lstStyle/>
                    <a:p>
                      <a:pPr>
                        <a:defRPr sz="1100">
                          <a:solidFill>
                            <a:srgbClr val="0B0B0B"/>
                          </a:solidFill>
                        </a:defRPr>
                      </a:pPr>
                      <a:r>
                        <a:t>-50ms</a:t>
                      </a:r>
                    </a:p>
                  </a:txBody>
                  <a:tcPr/>
                </a:tc>
              </a:tr>
              <a:tr h="320040">
                <a:tc>
                  <a:txBody>
                    <a:bodyPr/>
                    <a:lstStyle/>
                    <a:p>
                      <a:pPr>
                        <a:defRPr sz="1100">
                          <a:solidFill>
                            <a:srgbClr val="0B0B0B"/>
                          </a:solidFill>
                        </a:defRPr>
                      </a:pPr>
                      <a:r>
                        <a:t>10 Hz</a:t>
                      </a:r>
                    </a:p>
                  </a:txBody>
                  <a:tcPr/>
                </a:tc>
                <a:tc>
                  <a:txBody>
                    <a:bodyPr/>
                    <a:lstStyle/>
                    <a:p>
                      <a:pPr>
                        <a:defRPr sz="1100">
                          <a:solidFill>
                            <a:srgbClr val="0B0B0B"/>
                          </a:solidFill>
                        </a:defRPr>
                      </a:pPr>
                      <a:r>
                        <a:t>+9.2</a:t>
                      </a:r>
                    </a:p>
                  </a:txBody>
                  <a:tcPr/>
                </a:tc>
                <a:tc>
                  <a:txBody>
                    <a:bodyPr/>
                    <a:lstStyle/>
                    <a:p>
                      <a:pPr>
                        <a:defRPr sz="1100">
                          <a:solidFill>
                            <a:srgbClr val="0B0B0B"/>
                          </a:solidFill>
                        </a:defRPr>
                      </a:pPr>
                      <a:r>
                        <a:t>unreliable*</a:t>
                      </a:r>
                    </a:p>
                  </a:txBody>
                  <a:tcPr/>
                </a:tc>
              </a:tr>
              <a:tr h="320040">
                <a:tc>
                  <a:txBody>
                    <a:bodyPr/>
                    <a:lstStyle/>
                    <a:p>
                      <a:pPr>
                        <a:defRPr sz="1100">
                          <a:solidFill>
                            <a:srgbClr val="0B0B0B"/>
                          </a:solidFill>
                        </a:defRPr>
                      </a:pPr>
                      <a:r>
                        <a:t>15 Hz</a:t>
                      </a:r>
                    </a:p>
                  </a:txBody>
                  <a:tcPr/>
                </a:tc>
                <a:tc>
                  <a:txBody>
                    <a:bodyPr/>
                    <a:lstStyle/>
                    <a:p>
                      <a:pPr>
                        <a:defRPr sz="1100">
                          <a:solidFill>
                            <a:srgbClr val="0B0B0B"/>
                          </a:solidFill>
                        </a:defRPr>
                      </a:pPr>
                      <a:r>
                        <a:t>+2.6</a:t>
                      </a:r>
                    </a:p>
                  </a:txBody>
                  <a:tcPr/>
                </a:tc>
                <a:tc>
                  <a:txBody>
                    <a:bodyPr/>
                    <a:lstStyle/>
                    <a:p>
                      <a:pPr>
                        <a:defRPr sz="1100">
                          <a:solidFill>
                            <a:srgbClr val="0B0B0B"/>
                          </a:solidFill>
                        </a:defRPr>
                      </a:pPr>
                      <a:r>
                        <a:t>unreliable*</a:t>
                      </a:r>
                    </a:p>
                  </a:txBody>
                  <a:tcPr/>
                </a:tc>
              </a:tr>
              <a:tr h="320040">
                <a:tc>
                  <a:txBody>
                    <a:bodyPr/>
                    <a:lstStyle/>
                    <a:p>
                      <a:pPr>
                        <a:defRPr sz="1100">
                          <a:solidFill>
                            <a:srgbClr val="0B0B0B"/>
                          </a:solidFill>
                        </a:defRPr>
                      </a:pPr>
                      <a:r>
                        <a:t>20 Hz</a:t>
                      </a:r>
                    </a:p>
                  </a:txBody>
                  <a:tcPr/>
                </a:tc>
                <a:tc>
                  <a:txBody>
                    <a:bodyPr/>
                    <a:lstStyle/>
                    <a:p>
                      <a:pPr>
                        <a:defRPr sz="1100">
                          <a:solidFill>
                            <a:srgbClr val="0B0B0B"/>
                          </a:solidFill>
                        </a:defRPr>
                      </a:pPr>
                      <a:r>
                        <a:t>-4.1</a:t>
                      </a:r>
                    </a:p>
                  </a:txBody>
                  <a:tcPr/>
                </a:tc>
                <a:tc>
                  <a:txBody>
                    <a:bodyPr/>
                    <a:lstStyle/>
                    <a:p>
                      <a:pPr>
                        <a:defRPr sz="1100">
                          <a:solidFill>
                            <a:srgbClr val="0B0B0B"/>
                          </a:solidFill>
                        </a:defRPr>
                      </a:pPr>
                      <a:r>
                        <a:t>unreliable*</a:t>
                      </a:r>
                    </a:p>
                  </a:txBody>
                  <a:tcPr/>
                </a:tc>
              </a:tr>
            </a:tbl>
          </a:graphicData>
        </a:graphic>
      </p:graphicFrame>
      <p:sp>
        <p:nvSpPr>
          <p:cNvPr id="5" name="TextBox 4"/>
          <p:cNvSpPr txBox="1"/>
          <p:nvPr/>
        </p:nvSpPr>
        <p:spPr>
          <a:xfrm>
            <a:off x="334450944000" y="4180636800000"/>
            <a:ext cx="10451592000000" cy="1923092928000"/>
          </a:xfrm>
          <a:prstGeom prst="rect">
            <a:avLst/>
          </a:prstGeom>
          <a:noFill/>
        </p:spPr>
        <p:txBody>
          <a:bodyPr wrap="square">
            <a:spAutoFit/>
          </a:bodyPr>
          <a:lstStyle/>
          <a:p>
            <a:pPr>
              <a:spcAft>
                <a:spcPts val="1000"/>
              </a:spcAft>
              <a:defRPr sz="1350">
                <a:solidFill>
                  <a:srgbClr val="0B0B0B"/>
                </a:solidFill>
              </a:defRPr>
            </a:pPr>
            <a:r>
              <a:t>•  Gain drops from ~19px (0.1Hz) to ~2.6-4px (15-20Hz) — down to roughly 15-20% of the low-frequency value, right at the frequencies this project actually needs to reject.</a:t>
            </a:r>
          </a:p>
          <a:p>
            <a:pPr>
              <a:spcAft>
                <a:spcPts val="1000"/>
              </a:spcAft>
              <a:defRPr sz="1350">
                <a:solidFill>
                  <a:srgbClr val="0B0B0B"/>
                </a:solidFill>
              </a:defRPr>
            </a:pPr>
            <a:r>
              <a:t>•  *Lag not reported above ~5-10Hz: at 10Hz the phase already reaches the fundamental single-frequency wraparound boundary (~180°) — a real mathematical ambiguity, not a bug — and by 15-20Hz the signal is small enough that noise likely dominates the fit anyway (visible directly in the previous slide's traces).</a:t>
            </a:r>
          </a:p>
          <a:p>
            <a:pPr>
              <a:spcAft>
                <a:spcPts val="1000"/>
              </a:spcAft>
              <a:defRPr sz="1350">
                <a:solidFill>
                  <a:srgbClr val="0B0B0B"/>
                </a:solidFill>
              </a:defRPr>
            </a:pPr>
            <a:r>
              <a:t>•  This is a plant-bandwidth finding, not a controller-tuning one: if the actuator itself can only produce ~15-20% of its response at 10-20Hz, no amount of PID gain fixes that — worth resolving before investing further in gain selection.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64240" cy="640080"/>
          </a:xfrm>
          <a:prstGeom prst="rect">
            <a:avLst/>
          </a:prstGeom>
          <a:noFill/>
        </p:spPr>
        <p:txBody>
          <a:bodyPr wrap="square">
            <a:spAutoFit/>
          </a:bodyPr>
          <a:lstStyle/>
          <a:p>
            <a:pPr>
              <a:defRPr sz="2800" b="1">
                <a:solidFill>
                  <a:srgbClr val="0B0B0B"/>
                </a:solidFill>
              </a:defRPr>
            </a:pPr>
            <a:r>
              <a:t>Correcting for cross-axis coupling: true displacement, not just x</a:t>
            </a:r>
          </a:p>
        </p:txBody>
      </p:sp>
      <p:sp>
        <p:nvSpPr>
          <p:cNvPr id="3" name="TextBox 2"/>
          <p:cNvSpPr txBox="1"/>
          <p:nvPr/>
        </p:nvSpPr>
        <p:spPr>
          <a:xfrm>
            <a:off x="731520" y="1554480"/>
            <a:ext cx="10698480" cy="4572000"/>
          </a:xfrm>
          <a:prstGeom prst="rect">
            <a:avLst/>
          </a:prstGeom>
          <a:noFill/>
        </p:spPr>
        <p:txBody>
          <a:bodyPr wrap="square">
            <a:spAutoFit/>
          </a:bodyPr>
          <a:lstStyle/>
          <a:p>
            <a:pPr>
              <a:spcAft>
                <a:spcPts val="1000"/>
              </a:spcAft>
              <a:defRPr sz="1600">
                <a:solidFill>
                  <a:srgbClr val="0B0B0B"/>
                </a:solidFill>
              </a:defRPr>
            </a:pPr>
            <a:r>
              <a:t>•  Every gain number on the previous slides was the x-pixel projection only — it ignored the real cross-axis (y) component confirmed in every test so far. True displacement is |vector| = sqrt(gain_x² + gain_y²), not gain_x alone.</a:t>
            </a:r>
          </a:p>
          <a:p>
            <a:pPr>
              <a:spcAft>
                <a:spcPts val="1000"/>
              </a:spcAft>
              <a:defRPr sz="1600">
                <a:solidFill>
                  <a:srgbClr val="0B0B0B"/>
                </a:solidFill>
              </a:defRPr>
            </a:pPr>
            <a:r>
              <a:t>•  At 0.1-2Hz the correction is small (~1%) — the cross-coupling fraction is modest there. At 5-20Hz it's 6-14% larger than the x-only number — meaningful, though it does not change the headline conclusion (severe rolloff by 15-20Hz still holds).</a:t>
            </a:r>
          </a:p>
          <a:p>
            <a:pPr>
              <a:spcAft>
                <a:spcPts val="1000"/>
              </a:spcAft>
              <a:defRPr sz="1600">
                <a:solidFill>
                  <a:srgbClr val="0B0B0B"/>
                </a:solidFill>
              </a:defRPr>
            </a:pPr>
            <a:r>
              <a:t>•  More interesting: the motion vector's ANGLE rotates sharply between 2-3Hz (from a steady ~-171.5° to ~-150 to -160°), then holds roughly steady through 20Hz — not a gradual drift, closer to a step change. Evidence the two mechanical axes (x-ish and y-ish) have different dynamics, not identical ones.</a:t>
            </a:r>
          </a:p>
          <a:p>
            <a:pPr>
              <a:spcAft>
                <a:spcPts val="1000"/>
              </a:spcAft>
              <a:defRPr sz="1600">
                <a:solidFill>
                  <a:srgbClr val="0B0B0B"/>
                </a:solidFill>
              </a:defRPr>
            </a:pPr>
            <a:r>
              <a:t>•  Ran a finer 3-12Hz sweep (1Hz steps) specifically to locate whatever's causing this, instead of inferring it from 4 widely-spaced points.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64240" cy="640080"/>
          </a:xfrm>
          <a:prstGeom prst="rect">
            <a:avLst/>
          </a:prstGeom>
          <a:noFill/>
        </p:spPr>
        <p:txBody>
          <a:bodyPr wrap="square">
            <a:spAutoFit/>
          </a:bodyPr>
          <a:lstStyle/>
          <a:p>
            <a:pPr>
              <a:defRPr sz="2800" b="1">
                <a:solidFill>
                  <a:srgbClr val="0B0B0B"/>
                </a:solidFill>
              </a:defRPr>
            </a:pPr>
            <a:r>
              <a:t>Fine sweep: not simple rolloff — plateau, dip, and a sharp axis rotation</a:t>
            </a:r>
          </a:p>
        </p:txBody>
      </p:sp>
      <p:pic>
        <p:nvPicPr>
          <p:cNvPr id="3" name="Picture 2" descr="vector_mag_vs_freq.png"/>
          <p:cNvPicPr>
            <a:picLocks noChangeAspect="1"/>
          </p:cNvPicPr>
          <p:nvPr/>
        </p:nvPicPr>
        <p:blipFill>
          <a:blip r:embed="rId2"/>
          <a:stretch>
            <a:fillRect/>
          </a:stretch>
        </p:blipFill>
        <p:spPr>
          <a:xfrm>
            <a:off x="365760" y="1005840"/>
            <a:ext cx="5577840" cy="2974848"/>
          </a:xfrm>
          <a:prstGeom prst="rect">
            <a:avLst/>
          </a:prstGeom>
        </p:spPr>
      </p:pic>
      <p:pic>
        <p:nvPicPr>
          <p:cNvPr id="4" name="Picture 3" descr="vector_angle_vs_freq.png"/>
          <p:cNvPicPr>
            <a:picLocks noChangeAspect="1"/>
          </p:cNvPicPr>
          <p:nvPr/>
        </p:nvPicPr>
        <p:blipFill>
          <a:blip r:embed="rId3"/>
          <a:stretch>
            <a:fillRect/>
          </a:stretch>
        </p:blipFill>
        <p:spPr>
          <a:xfrm>
            <a:off x="6172200" y="1005840"/>
            <a:ext cx="5577840" cy="2602992"/>
          </a:xfrm>
          <a:prstGeom prst="rect">
            <a:avLst/>
          </a:prstGeom>
        </p:spPr>
      </p:pic>
      <p:sp>
        <p:nvSpPr>
          <p:cNvPr id="5" name="TextBox 4"/>
          <p:cNvSpPr txBox="1"/>
          <p:nvPr/>
        </p:nvSpPr>
        <p:spPr>
          <a:xfrm>
            <a:off x="334450944000" y="4306055904000"/>
            <a:ext cx="10451592000000" cy="1755867456000"/>
          </a:xfrm>
          <a:prstGeom prst="rect">
            <a:avLst/>
          </a:prstGeom>
          <a:noFill/>
        </p:spPr>
        <p:txBody>
          <a:bodyPr wrap="square">
            <a:spAutoFit/>
          </a:bodyPr>
          <a:lstStyle/>
          <a:p>
            <a:pPr>
              <a:spcAft>
                <a:spcPts val="1000"/>
              </a:spcAft>
              <a:defRPr sz="1300">
                <a:solidFill>
                  <a:srgbClr val="0B0B0B"/>
                </a:solidFill>
              </a:defRPr>
            </a:pPr>
            <a:r>
              <a:t>•  Magnitude plateaus 6-10Hz (~11-12px, barely declining from the 5Hz value) rather than continuing a smooth rolloff, dips sharply at 11Hz (~8.4px), then partially recovers at 12Hz (~11.4px) before collapsing by 15Hz.</a:t>
            </a:r>
          </a:p>
          <a:p>
            <a:pPr>
              <a:spcAft>
                <a:spcPts val="1000"/>
              </a:spcAft>
              <a:defRPr sz="1300">
                <a:solidFill>
                  <a:srgbClr val="0B0B0B"/>
                </a:solidFill>
              </a:defRPr>
            </a:pPr>
            <a:r>
              <a:t>•  That shape — plateau + dip + partial recovery — is not what a simple single-pole (first-order) actuator would produce; it's more consistent with resonance/anti-resonance behavior from a higher-order or two-mode mechanical system (e.g. the x and y flexure axes having close but distinct resonant frequencies that interact).</a:t>
            </a:r>
          </a:p>
          <a:p>
            <a:pPr>
              <a:spcAft>
                <a:spcPts val="1000"/>
              </a:spcAft>
              <a:defRPr sz="1300">
                <a:solidFill>
                  <a:srgbClr val="0B0B0B"/>
                </a:solidFill>
              </a:defRPr>
            </a:pPr>
            <a:r>
              <a:t>•  Practical read: this actuator's dynamics are more complex than "one bandwidth number" — a stiffer flexure (raising the resonant frequency, see prior discussion) is still the right general lever, but which axis to stiffen, and whether damping needs addressing too, isn't answerable from this data alone. Would need per-axis excitation (drive x and y separately, not just x) to fully separate the two modes.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