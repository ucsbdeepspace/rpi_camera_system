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Dropped commands (of 300)</c:v>
                </c:pt>
              </c:strCache>
            </c:strRef>
          </c:tx>
          <c:spPr>
            <a:solidFill>
              <a:srgbClr val="C2631F"/>
            </a:solidFill>
          </c:spPr>
          <c:cat>
            <c:strRef>
              <c:f>Sheet1!$A$2:$A$8</c:f>
              <c:strCache>
                <c:ptCount val="7"/>
                <c:pt idx="0">
                  <c:v>100</c:v>
                </c:pt>
                <c:pt idx="1">
                  <c:v>800</c:v>
                </c:pt>
                <c:pt idx="2">
                  <c:v>1400</c:v>
                </c:pt>
                <c:pt idx="3">
                  <c:v>1600</c:v>
                </c:pt>
                <c:pt idx="4">
                  <c:v>1800</c:v>
                </c:pt>
                <c:pt idx="5">
                  <c:v>2000</c:v>
                </c:pt>
                <c:pt idx="6">
                  <c:v>2500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36</c:v>
                </c:pt>
                <c:pt idx="5">
                  <c:v>72</c:v>
                </c:pt>
                <c:pt idx="6">
                  <c:v>116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14191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Settling time (ms)</c:v>
                </c:pt>
              </c:strCache>
            </c:strRef>
          </c:tx>
          <c:spPr>
            <a:solidFill>
              <a:srgbClr val="C2631F"/>
            </a:solidFill>
          </c:spPr>
          <c:cat>
            <c:strRef>
              <c:f>Sheet1!$A$2:$A$5</c:f>
              <c:strCache>
                <c:ptCount val="4"/>
                <c:pt idx="0">
                  <c:v>x: large step</c:v>
                </c:pt>
                <c:pt idx="1">
                  <c:v>x: small step</c:v>
                </c:pt>
                <c:pt idx="2">
                  <c:v>y: large step</c:v>
                </c:pt>
                <c:pt idx="3">
                  <c:v>y: small step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793</c:v>
                </c:pt>
                <c:pt idx="1">
                  <c:v>63</c:v>
                </c:pt>
                <c:pt idx="2">
                  <c:v>1183</c:v>
                </c:pt>
                <c:pt idx="3">
                  <c:v>83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14191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06440"/>
            <a:ext cx="12191695" cy="54864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C2631F"/>
                </a:solidFill>
                <a:latin typeface="Calibri"/>
              </a:rPr>
              <a:t>FTA BEAM-TRACKING · CLOSED-LOOP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1556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 Light"/>
              </a:rPr>
              <a:t>FTA Position Calibration &amp; Control Law</a:t>
            </a:r>
          </a:p>
          <a:p>
            <a:r>
              <a:rPr sz="4000" b="1">
                <a:solidFill>
                  <a:srgbClr val="FFFFFF"/>
                </a:solidFill>
                <a:latin typeface="Calibri Light"/>
              </a:rPr>
              <a:t>Session Results — 2026-07-23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C7CED1"/>
                </a:solidFill>
                <a:latin typeface="Calibri"/>
              </a:rPr>
              <a:t>Found the real FTA-driving firmware, measured real serial latency and safe throughput, </a:t>
            </a:r>
          </a:p>
          <a:p>
            <a:r>
              <a:rPr sz="1500" b="0">
                <a:solidFill>
                  <a:srgbClr val="C7CED1"/>
                </a:solidFill>
                <a:latin typeface="Calibri"/>
              </a:rPr>
              <a:t>designed the PI control law, and characterized actual step response on both axes.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7C868B"/>
                </a:solidFill>
                <a:latin typeface="Calibri"/>
              </a:rPr>
              <a:t>Raspberry Pi 5 + OV9281  ·  NUCLEO-L432KC "FTA Controller"  ·  target: 10 ms loop latency, 10–20 Hz disturbance rejection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2631F"/>
                </a:solidFill>
                <a:latin typeface="Calibri"/>
              </a:rPr>
              <a:t>SESSION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4191D"/>
                </a:solidFill>
                <a:latin typeface="Calibri Light"/>
              </a:rPr>
              <a:t>What we did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789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50" b="0">
                <a:solidFill>
                  <a:srgbClr val="14191D"/>
                </a:solidFill>
                <a:latin typeface="Calibri"/>
              </a:rPr>
              <a:t>•  Started from the idea: sweep the FTA over a grid, fit a matrix from actuator command to camera centroid, invert it to command a position</a:t>
            </a:r>
          </a:p>
          <a:p>
            <a:pPr>
              <a:spcAft>
                <a:spcPts val="1400"/>
              </a:spcAft>
            </a:pPr>
            <a:r>
              <a:rPr sz="1550" b="0">
                <a:solidFill>
                  <a:srgbClr val="14191D"/>
                </a:solidFill>
                <a:latin typeface="Calibri"/>
              </a:rPr>
              <a:t>•  Went down a wrong-repo path first (ucsbdeepspace/fta_calibration, an old pyboard rig) — corrected once the real firmware was found</a:t>
            </a:r>
          </a:p>
          <a:p>
            <a:pPr>
              <a:spcAft>
                <a:spcPts val="1400"/>
              </a:spcAft>
            </a:pPr>
            <a:r>
              <a:rPr sz="1550" b="0">
                <a:solidFill>
                  <a:srgbClr val="14191D"/>
                </a:solidFill>
                <a:latin typeface="Calibri"/>
              </a:rPr>
              <a:t>•  Found the actual “FTA Controller” Nucleo firmware (ucsbdeepspace/7-element-array, lock_in_2): serial, not I2C — already has grid_scan, PID, DAC drive</a:t>
            </a:r>
          </a:p>
          <a:p>
            <a:pPr>
              <a:spcAft>
                <a:spcPts val="1400"/>
              </a:spcAft>
            </a:pPr>
            <a:r>
              <a:rPr sz="1550" b="0">
                <a:solidFill>
                  <a:srgbClr val="14191D"/>
                </a:solidFill>
                <a:latin typeface="Calibri"/>
              </a:rPr>
              <a:t>•  Built fta_calibration.py (grid_scan reuse) and estimated, then measured, the real serial-vs-I2C performance gap</a:t>
            </a:r>
          </a:p>
          <a:p>
            <a:pPr>
              <a:spcAft>
                <a:spcPts val="1400"/>
              </a:spcAft>
            </a:pPr>
            <a:r>
              <a:rPr sz="1550" b="0">
                <a:solidFill>
                  <a:srgbClr val="14191D"/>
                </a:solidFill>
                <a:latin typeface="Calibri"/>
              </a:rPr>
              <a:t>•  Designed the PI control law; built fta_step_response_test.py to get the actuator dynamics data gain tuning actually needs</a:t>
            </a:r>
          </a:p>
          <a:p>
            <a:pPr>
              <a:spcAft>
                <a:spcPts val="1400"/>
              </a:spcAft>
            </a:pPr>
            <a:r>
              <a:rPr sz="1550" b="0">
                <a:solidFill>
                  <a:srgbClr val="14191D"/>
                </a:solidFill>
                <a:latin typeface="Calibri"/>
              </a:rPr>
              <a:t>•  Found the amp was unplugged, fixed it, and characterized real step response — both axes, converted px → microns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C868B"/>
                </a:solidFill>
                <a:latin typeface="Calibri"/>
              </a:rPr>
              <a:t>FTA Position Calibration · Session Results · 2026-07-23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C86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2631F"/>
                </a:solidFill>
                <a:latin typeface="Calibri"/>
              </a:rPr>
              <a:t>TODAY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4191D"/>
                </a:solidFill>
                <a:latin typeface="Calibri Light"/>
              </a:rPr>
              <a:t>The idea: calibrate, then close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66067"/>
                </a:solidFill>
                <a:latin typeface="Calibri"/>
              </a:rPr>
              <a:t>Sweep the FTA over a grid of actuator setpoints, record where each one puts the beam centroid, fit a matrix, invert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5257800" cy="3383280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191D"/>
                </a:solidFill>
                <a:latin typeface="Calibri"/>
              </a:rPr>
              <a:t>3×3 homogeneous affine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5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0839C"/>
                </a:solidFill>
                <a:latin typeface="Calibri"/>
              </a:rPr>
              <a:t>DAC setpoint → centroid pixel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40"/>
            <a:ext cx="4617720" cy="18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2×2 gain block + offset, fit via least squares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Fits DAC→pixel: DAC is commanded exactly, centroid is the noisy side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Inverting it gives centroid→DAC to command a target position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514600"/>
            <a:ext cx="5257800" cy="3383280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788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191D"/>
                </a:solidFill>
                <a:latin typeface="Calibri"/>
              </a:rPr>
              <a:t>PI control law (designed)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915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C2631F"/>
                </a:solidFill>
                <a:latin typeface="Calibri"/>
              </a:rPr>
              <a:t>feedforward + continuous trim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49040"/>
            <a:ext cx="4617720" cy="18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One-time feedforward via the fitted M_inv, then continuous per-frame PI — a regulator problem, not tracking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Pixel error decoupled into DAC-space via the calibration's own gain-block inverse first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Anti-windup, measured dt, freeze-on-lost-beam — all required, not optional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C868B"/>
                </a:solidFill>
                <a:latin typeface="Calibri"/>
              </a:rPr>
              <a:t>FTA Position Calibration · Session Results · 2026-07-23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C86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2631F"/>
                </a:solidFill>
                <a:latin typeface="Calibri"/>
              </a:rPr>
              <a:t>TODAY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4191D"/>
                </a:solidFill>
                <a:latin typeface="Calibri Light"/>
              </a:rPr>
              <a:t>A wrong assumption, corrected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66067"/>
                </a:solidFill>
                <a:latin typeface="Calibri"/>
              </a:rPr>
              <a:t>Started extending the existing I2C link for actuator commands, before finding the actual FTA-driving Nucleo firmware.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5257800" cy="3383280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191D"/>
                </a:solidFill>
                <a:latin typeface="Calibri"/>
              </a:rPr>
              <a:t>Assumed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5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0839C"/>
                </a:solidFill>
                <a:latin typeface="Calibri"/>
              </a:rPr>
              <a:t>new I2C actuator packet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40"/>
            <a:ext cx="4617720" cy="18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Extend nucleo_i2c_sender.py with a second packet type for DAC setpoints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Based on the wrong reference repo (fta_calibration, an old pyboard rig)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Fully reverted once the real repo was found — nucleo_i2c_sender.py unchanged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514600"/>
            <a:ext cx="5257800" cy="3383280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788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191D"/>
                </a:solidFill>
                <a:latin typeface="Calibri"/>
              </a:rPr>
              <a:t>Actual: 7-element-array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915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C2631F"/>
                </a:solidFill>
                <a:latin typeface="Calibri"/>
              </a:rPr>
              <a:t>USB-serial, 460800 baud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49040"/>
            <a:ext cx="4617720" cy="18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“FTA Controller” STM32L432 firmware already exists — matches this project's NUCLEO-L432KC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set_x / set_y, a full PID framework, and a working grid_scan that microsteps a grid, streams position + ADC per point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grid_scan's smooth travel reused as-is for fta_calibration.py — no firmware changes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C868B"/>
                </a:solidFill>
                <a:latin typeface="Calibri"/>
              </a:rPr>
              <a:t>FTA Position Calibration · Session Results · 2026-07-23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C86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2631F"/>
                </a:solidFill>
                <a:latin typeface="Calibri"/>
              </a:rPr>
              <a:t>TODAY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4191D"/>
                </a:solidFill>
                <a:latin typeface="Calibri Light"/>
              </a:rPr>
              <a:t>fta_calibration.py: reuses grid_scan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00000"/>
            <a:ext cx="1078992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600" b="0">
                <a:solidFill>
                  <a:srgbClr val="14191D"/>
                </a:solidFill>
                <a:latin typeface="Calibri"/>
              </a:rPr>
              <a:t>•  Sends grid_scan x1 y1 x2 y2 as-is; listens for the firmware's “SD &lt;adc&gt; &lt;x&gt; &lt;y&gt;” lines purely as a per-point capture trigger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14191D"/>
                </a:solidFill>
                <a:latin typeface="Calibri"/>
              </a:rPr>
              <a:t>•  On each trigger, captures and averages --frames-per-point camera centroids via find_beam_blob (duplicated per this project's convention, not imported)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14191D"/>
                </a:solidFill>
                <a:latin typeface="Calibri"/>
              </a:rPr>
              <a:t>•  Fits the 3×3 affine via least squares, inverts it, warns on a near-singular gain block or large RMS residual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14191D"/>
                </a:solidFill>
                <a:latin typeface="Calibri"/>
              </a:rPr>
              <a:t>•  Saves the raw sweep + both matrices to results/fta_calibration_&lt;timestamp&gt;.npz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14191D"/>
                </a:solidFill>
                <a:latin typeface="Calibri"/>
              </a:rPr>
              <a:t>•  Sends the firmware's ISR-level “!” emergency-stop byte on Ctrl-C so an interrupted run doesn't leave the FTA mid-scan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14191D"/>
                </a:solidFill>
                <a:latin typeface="Calibri"/>
              </a:rPr>
              <a:t>•  Fit math validated against synthetic data (recovers a known matrix, inverse round-trips exactly) — not yet run as a real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C868B"/>
                </a:solidFill>
                <a:latin typeface="Calibri"/>
              </a:rPr>
              <a:t>FTA Position Calibration · Session Results · 2026-07-23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C86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2631F"/>
                </a:solidFill>
                <a:latin typeface="Calibri"/>
              </a:rPr>
              <a:t>TODAY · 04 — HEADLINE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4191D"/>
                </a:solidFill>
                <a:latin typeface="Calibri Light"/>
              </a:rPr>
              <a:t>Real serial latency, safe ceiling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66067"/>
                </a:solidFill>
                <a:latin typeface="Calibri"/>
              </a:rPr>
              <a:t>Fire-and-forget rate-sweep: safe up to ~1600Hz, then a sharp cliff.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00000"/>
          <a:ext cx="1106424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333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anchor="ctr">
                    <a:solidFill>
                      <a:srgbClr val="14191D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get_status (read-only)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2.14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3.00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5.53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33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setpos</a:t>
                      </a:r>
                    </a:p>
                  </a:txBody>
                  <a:tcPr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set_x (wait-for-ack)</a:t>
                      </a:r>
                    </a:p>
                  </a:txBody>
                  <a:tcPr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1.26 ms</a:t>
                      </a:r>
                    </a:p>
                  </a:txBody>
                  <a:tcPr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2.03 ms</a:t>
                      </a:r>
                    </a:p>
                  </a:txBody>
                  <a:tcPr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2.14 ms</a:t>
                      </a:r>
                    </a:p>
                  </a:txBody>
                  <a:tcPr anchor="ctr">
                    <a:solidFill>
                      <a:srgbClr val="EEF1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2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91D"/>
                </a:solidFill>
                <a:latin typeface="Calibri"/>
              </a:rPr>
              <a:t>Dropped commands, out of 300 sent per rate (Hz)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4350000"/>
          <a:ext cx="11064240" cy="20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C868B"/>
                </a:solidFill>
                <a:latin typeface="Calibri"/>
              </a:rPr>
              <a:t>FTA Position Calibration · Session Results · 2026-07-23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C86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2631F"/>
                </a:solidFill>
                <a:latin typeface="Calibri"/>
              </a:rPr>
              <a:t>TODAY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4191D"/>
                </a:solidFill>
                <a:latin typeface="Calibri Light"/>
              </a:rPr>
              <a:t>PI control law, worked through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00000"/>
            <a:ext cx="10789920" cy="3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4191D"/>
                </a:solidFill>
                <a:latin typeface="Calibri"/>
              </a:rPr>
              <a:t>•  e_pixel = target − measured;  e_dac = A_inv · e_pixel  (decouples via the calibration's own gain block)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4191D"/>
                </a:solidFill>
                <a:latin typeface="Calibri"/>
              </a:rPr>
              <a:t>•  integral += e_dac · dt  (measured dt, not assumed-constant)  →  u = current_dac + Kp·e_dac + Ki·integral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4191D"/>
                </a:solidFill>
                <a:latin typeface="Calibri"/>
              </a:rPr>
              <a:t>•  Anti-windup: stop accumulating the integral once u would saturate the DAC clamp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4191D"/>
                </a:solidFill>
                <a:latin typeface="Calibri"/>
              </a:rPr>
              <a:t>•  Start with PI, not PID — a derivative term would amplify the centroid's own detection noise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4191D"/>
                </a:solidFill>
                <a:latin typeface="Calibri"/>
              </a:rPr>
              <a:t>•  Rough bandwidth sanity check: total loop delay (~5–6ms) implies a usable ceiling around ~29Hz — rejecting 10–20Hz is plausible but not with huge margin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4191D"/>
                </a:solidFill>
                <a:latin typeface="Calibri"/>
              </a:rPr>
              <a:t>•  Gains can't be derived from the calibration matrix alone — it's a static map; dynamic (speed/overshoot) data has to come from a real step-response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C868B"/>
                </a:solidFill>
                <a:latin typeface="Calibri"/>
              </a:rPr>
              <a:t>FTA Position Calibration · Session Results · 2026-07-23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C86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2631F"/>
                </a:solidFill>
                <a:latin typeface="Calibri"/>
              </a:rPr>
              <a:t>TODAY · 06 — HEADLINE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4191D"/>
                </a:solidFill>
                <a:latin typeface="Calibri Light"/>
              </a:rPr>
              <a:t>Hardware gap found and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66067"/>
                </a:solidFill>
                <a:latin typeface="Calibri"/>
              </a:rPr>
              <a:t>The voice-coil amplifier was unplugged — sweeping the full DAC range moved nothing until it was reconnected.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5257800" cy="3383280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191D"/>
                </a:solidFill>
                <a:latin typeface="Calibri"/>
              </a:rPr>
              <a:t>Diagnosed methodically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5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0839C"/>
                </a:solidFill>
                <a:latin typeface="Calibri"/>
              </a:rPr>
              <a:t>not assumed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40"/>
            <a:ext cx="4617720" cy="18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Confirmed a real beam was visible and stably detected first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Swept the full DAC range on both axes — zero movement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Checked amp_enable/drv_enable explicitly before concluding it was a deeper wiring gap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User found it: the amplifier was simply unplugged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514600"/>
            <a:ext cx="5257800" cy="3383280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788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191D"/>
                </a:solidFill>
                <a:latin typeface="Calibri"/>
              </a:rPr>
              <a:t>Real finding: ~90° axis rotation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915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C2631F"/>
                </a:solidFill>
                <a:latin typeface="Calibri"/>
              </a:rPr>
              <a:t>confirmed on both axes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49040"/>
            <a:ext cx="4617720" cy="18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DAC-x mostly drives pixel-y, DAC-y mostly drives pixel-x — a real mounting fact, not a bug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Exactly why the control law decouples via the full 2×2 matrix inverse instead of assuming x↔x, y↔y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91D"/>
                </a:solidFill>
                <a:latin typeface="Calibri"/>
              </a:rPr>
              <a:t>•  Also caught and fixed a real bug in the test script itself: it was analyzing the wrong (weak) pixel axis by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C868B"/>
                </a:solidFill>
                <a:latin typeface="Calibri"/>
              </a:rPr>
              <a:t>FTA Position Calibration · Session Results · 2026-07-23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C86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2631F"/>
                </a:solidFill>
                <a:latin typeface="Calibri"/>
              </a:rPr>
              <a:t>TODAY · 07 — HEADLINE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4191D"/>
                </a:solidFill>
                <a:latin typeface="Calibri Light"/>
              </a:rPr>
              <a:t>Small steps settle far faster than big ones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00000"/>
          <a:ext cx="1106424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(µm)</a:t>
                      </a:r>
                    </a:p>
                  </a:txBody>
                  <a:tcPr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Settling</a:t>
                      </a:r>
                    </a:p>
                  </a:txBody>
                  <a:tcPr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Overshoot</a:t>
                      </a:r>
                    </a:p>
                  </a:txBody>
                  <a:tcPr anchor="ctr">
                    <a:solidFill>
                      <a:srgbClr val="14191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95→2000 (large)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483µm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793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22.4%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631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631F"/>
                          </a:solidFill>
                          <a:latin typeface="Calibri"/>
                        </a:rPr>
                        <a:t>2000→2100 (small)</a:t>
                      </a:r>
                    </a:p>
                  </a:txBody>
                  <a:tcPr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631F"/>
                          </a:solidFill>
                          <a:latin typeface="Calibri"/>
                        </a:rPr>
                        <a:t>28µm</a:t>
                      </a:r>
                    </a:p>
                  </a:txBody>
                  <a:tcPr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631F"/>
                          </a:solidFill>
                          <a:latin typeface="Calibri"/>
                        </a:rPr>
                        <a:t>45 ms</a:t>
                      </a:r>
                    </a:p>
                  </a:txBody>
                  <a:tcPr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631F"/>
                          </a:solidFill>
                          <a:latin typeface="Calibri"/>
                        </a:rPr>
                        <a:t>42.3%</a:t>
                      </a:r>
                    </a:p>
                  </a:txBody>
                  <a:tcPr anchor="ctr">
                    <a:solidFill>
                      <a:srgbClr val="FBECD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95→2000 (large)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−364µm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1183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91D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631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631F"/>
                          </a:solidFill>
                          <a:latin typeface="Calibri"/>
                        </a:rPr>
                        <a:t>2000→2100 (small)</a:t>
                      </a:r>
                    </a:p>
                  </a:txBody>
                  <a:tcPr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631F"/>
                          </a:solidFill>
                          <a:latin typeface="Calibri"/>
                        </a:rPr>
                        <a:t>−20µm</a:t>
                      </a:r>
                    </a:p>
                  </a:txBody>
                  <a:tcPr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631F"/>
                          </a:solidFill>
                          <a:latin typeface="Calibri"/>
                        </a:rPr>
                        <a:t>83 ms</a:t>
                      </a:r>
                    </a:p>
                  </a:txBody>
                  <a:tcPr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631F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>
                    <a:solidFill>
                      <a:srgbClr val="FBECD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0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91D"/>
                </a:solidFill>
                <a:latin typeface="Calibri"/>
              </a:rPr>
              <a:t>Settling time by step size (ms)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4350000"/>
          <a:ext cx="11064240" cy="20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C868B"/>
                </a:solidFill>
                <a:latin typeface="Calibri"/>
              </a:rPr>
              <a:t>FTA Position Calibration · Session Results · 2026-07-23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C86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2631F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4191D"/>
                </a:solidFill>
                <a:latin typeface="Calibri Light"/>
              </a:rPr>
              <a:t>Open questions and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00000"/>
            <a:ext cx="11064240" cy="1150000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8000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C2631F"/>
                </a:solidFill>
                <a:latin typeface="Calibri"/>
              </a:rPr>
              <a:t>BLOCKS GAIN 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30000"/>
            <a:ext cx="1042416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0">
                <a:solidFill>
                  <a:srgbClr val="14191D"/>
                </a:solidFill>
                <a:latin typeface="Calibri"/>
              </a:rPr>
              <a:t>Rise time is still unmeasured — detection drops out during the fastest part of a transition (motion blur); needs a faster camera mode or a different sensor approach.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0000"/>
            <a:ext cx="10789920" cy="3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50" b="0">
                <a:solidFill>
                  <a:srgbClr val="14191D"/>
                </a:solidFill>
                <a:latin typeface="Calibri"/>
              </a:rPr>
              <a:t>•  Per-axis gains may be needed — y's small-step settling spread (22–144ms) is wider than x's tighter 45–80ms cluster</a:t>
            </a:r>
          </a:p>
          <a:p>
            <a:pPr>
              <a:spcAft>
                <a:spcPts val="1200"/>
              </a:spcAft>
            </a:pPr>
            <a:r>
              <a:rPr sz="1550" b="0">
                <a:solidFill>
                  <a:srgbClr val="14191D"/>
                </a:solidFill>
                <a:latin typeface="Calibri"/>
              </a:rPr>
              <a:t>•  Board consolidation question still open: I2C centroid-receiving and serial FTA-driving are two separate, incompatible firmware images on the same physical Nucleo</a:t>
            </a:r>
          </a:p>
          <a:p>
            <a:pPr>
              <a:spcAft>
                <a:spcPts val="1200"/>
              </a:spcAft>
            </a:pPr>
            <a:r>
              <a:rPr sz="1550" b="0">
                <a:solidFill>
                  <a:srgbClr val="14191D"/>
                </a:solidFill>
                <a:latin typeface="Calibri"/>
              </a:rPr>
              <a:t>•  Real fta_calibration.py sweep against real hardware — not yet run for real, only validated against synthetic data</a:t>
            </a:r>
          </a:p>
          <a:p>
            <a:pPr>
              <a:spcAft>
                <a:spcPts val="1200"/>
              </a:spcAft>
            </a:pPr>
            <a:r>
              <a:rPr sz="1550" b="0">
                <a:solidFill>
                  <a:srgbClr val="14191D"/>
                </a:solidFill>
                <a:latin typeface="Calibri"/>
              </a:rPr>
              <a:t>•  PI control law itself — designed, not yet implemented as a script; needs the rise-time gap closed first for confident gain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7C868B"/>
                </a:solidFill>
                <a:latin typeface="Calibri"/>
              </a:rPr>
              <a:t>FTA Position Calibration · Session Results · 2026-07-23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C86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