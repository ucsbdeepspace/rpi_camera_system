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Dropped commands (of 300)</c:v>
                </c:pt>
              </c:strCache>
            </c:strRef>
          </c:tx>
          <c:spPr>
            <a:solidFill>
              <a:srgbClr val="C2631F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100</c:v>
                </c:pt>
                <c:pt idx="1">
                  <c:v>800</c:v>
                </c:pt>
                <c:pt idx="2">
                  <c:v>1400</c:v>
                </c:pt>
                <c:pt idx="3">
                  <c:v>1600</c:v>
                </c:pt>
                <c:pt idx="4">
                  <c:v>1800</c:v>
                </c:pt>
                <c:pt idx="5">
                  <c:v>2000</c:v>
                </c:pt>
                <c:pt idx="6">
                  <c:v>2500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36</c:v>
                </c:pt>
                <c:pt idx="5">
                  <c:v>72</c:v>
                </c:pt>
                <c:pt idx="6">
                  <c:v>116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>
                    <a:solidFill>
                      <a:srgbClr val="C7CED1"/>
                    </a:solidFill>
                  </a:rPr>
                  <a:t>Send rate (Hz)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7C868B"/>
            </a:solidFill>
          </a:ln>
        </c:spPr>
        <c:txPr>
          <a:bodyPr/>
          <a:lstStyle/>
          <a:p>
            <a:pPr>
              <a:defRPr sz="1000">
                <a:solidFill>
                  <a:srgbClr val="C7CED1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2C2C2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>
                    <a:solidFill>
                      <a:srgbClr val="C7CED1"/>
                    </a:solidFill>
                  </a:rPr>
                  <a:t>Dropped commands (of 300 sent)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7C868B"/>
            </a:solidFill>
          </a:ln>
        </c:spPr>
        <c:txPr>
          <a:bodyPr/>
          <a:lstStyle/>
          <a:p>
            <a:pPr>
              <a:defRPr sz="1000">
                <a:solidFill>
                  <a:srgbClr val="C7CED1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06440"/>
            <a:ext cx="12191695" cy="54864"/>
          </a:xfrm>
          <a:prstGeom prst="rect">
            <a:avLst/>
          </a:prstGeom>
          <a:solidFill>
            <a:srgbClr val="C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2631F"/>
                </a:solidFill>
                <a:latin typeface="Calibri"/>
              </a:rPr>
              <a:t>FTA BEAM-TRACKING · CLOSED-LOOP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68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 Light"/>
              </a:rPr>
              <a:t>Serial Timing &amp; Step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7CED1"/>
                </a:solidFill>
                <a:latin typeface="Calibri Light"/>
              </a:rPr>
              <a:t>Session Results — 2026-07-23  (short form)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7CED1"/>
                </a:solidFill>
                <a:latin typeface="Calibri"/>
              </a:rPr>
              <a:t>Real serial round-trip latency and safe throughput rule out needing I2C for FTA control; measured actual step response on both axes.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C868B"/>
                </a:solidFill>
                <a:latin typeface="Calibri"/>
              </a:rPr>
              <a:t>Raspberry Pi 5 + OV9281  ·  NUCLEO-L432KC “FTA Controller”  ·  target: 10 ms loop latency, 10–20 Hz disturbance rejection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502920" cy="73152"/>
          </a:xfrm>
          <a:prstGeom prst="rect">
            <a:avLst/>
          </a:prstGeom>
          <a:solidFill>
            <a:srgbClr val="C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2631F"/>
                </a:solidFill>
                <a:latin typeface="Calibri"/>
              </a:rPr>
              <a:t>HEADLINE RESULT ·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Serial is fast enough — no I2C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7CED1"/>
                </a:solidFill>
                <a:latin typeface="Calibri"/>
              </a:rPr>
              <a:t>Fire-and-forget rate-sweep: safe up to ~1600Hz, then a sharp cliff.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>
                <a:solidFill>
                  <a:srgbClr val="C7CED1"/>
                </a:solidFill>
                <a:latin typeface="Calibri"/>
              </a:rPr>
              <a:t>•  Serial round-trip latency MEASURED: setpos mean 1.26ms / p99 2.03ms — ping mean 2.14ms / p99 3.00ms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>
                <a:solidFill>
                  <a:srgbClr val="C7CED1"/>
                </a:solidFill>
                <a:latin typeface="Calibri"/>
              </a:rPr>
              <a:t>•  I2C was never round-trip or throughput measured in this project — only a rough ~0.2–1ms latency estimate exists, and there's no I2C data to plot against the chart below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>
                <a:solidFill>
                  <a:srgbClr val="C7CED1"/>
                </a:solidFill>
                <a:latin typeface="Calibri"/>
              </a:rPr>
              <a:t>•  Safe fire-and-forget ceiling: 0 of 300 dropped through 1600Hz, drops begin at 1800Hz+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50">
                <a:solidFill>
                  <a:srgbClr val="C7CED1"/>
                </a:solidFill>
                <a:latin typeface="Calibri"/>
              </a:rPr>
              <a:t>•  Combined with ~3.5–4ms camera latency: ~5–6ms total, inside Phil's 10ms budget — no remaining performance case for keeping I2C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60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Dropped commands, out of 300 sent per rate (Hz)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4434840"/>
          <a:ext cx="1106424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C868B"/>
                </a:solidFill>
                <a:latin typeface="Calibri"/>
              </a:rPr>
              <a:t>FTA Position Calibration · Serial Timing &amp; Step Response · 2026-07-23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C86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502920" cy="73152"/>
          </a:xfrm>
          <a:prstGeom prst="rect">
            <a:avLst/>
          </a:prstGeom>
          <a:solidFill>
            <a:srgbClr val="C26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2631F"/>
                </a:solidFill>
                <a:latin typeface="Calibri"/>
              </a:rPr>
              <a:t>HEADLINE RESULT ·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Actual step response, both axes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7CED1"/>
                </a:solidFill>
                <a:latin typeface="Calibri"/>
              </a:rPr>
              <a:t>Fraction of the commanded step completed vs. time — small steps settle in tens of ms; big steps take the better part of a second.</a:t>
            </a:r>
          </a:p>
        </p:txBody>
      </p:sp>
      <p:pic>
        <p:nvPicPr>
          <p:cNvPr id="7" name="Picture 6" descr="step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48840"/>
            <a:ext cx="11905488" cy="4251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C868B"/>
                </a:solidFill>
                <a:latin typeface="Calibri"/>
              </a:rPr>
              <a:t>FTA Position Calibration · Serial Timing &amp; Step Response · 2026-07-23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C86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